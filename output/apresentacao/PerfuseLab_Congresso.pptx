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slides/charts/chart1.xml" ContentType="application/vnd.openxmlformats-officedocument.drawingml.chart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c1ab7902334a8a" /><Relationship Type="http://schemas.openxmlformats.org/officeDocument/2006/relationships/extended-properties" Target="/docProps/app.xml" Id="Raf3624d8f9bc4aff" /><Relationship Type="http://schemas.openxmlformats.org/officeDocument/2006/relationships/officeDocument" Target="/ppt/presentation.xml" Id="R4e078ae9d02044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32f26d82944749"/>
  </p:sldMasterIdLst>
  <p:notesMasterIdLst>
    <p:notesMasterId xmlns:r="http://schemas.openxmlformats.org/officeDocument/2006/relationships" r:id="R6473ead748a74384"/>
  </p:notesMasterIdLst>
  <p:sldIdLst>
    <p:sldId xmlns:r="http://schemas.openxmlformats.org/officeDocument/2006/relationships" id="256" r:id="R420fedf1080946bd"/>
    <p:sldId xmlns:r="http://schemas.openxmlformats.org/officeDocument/2006/relationships" id="257" r:id="Rd162b014490943a1"/>
    <p:sldId xmlns:r="http://schemas.openxmlformats.org/officeDocument/2006/relationships" id="258" r:id="Rd01b4a5387cd41e0"/>
    <p:sldId xmlns:r="http://schemas.openxmlformats.org/officeDocument/2006/relationships" id="259" r:id="Rcff5192d275046ef"/>
    <p:sldId xmlns:r="http://schemas.openxmlformats.org/officeDocument/2006/relationships" id="260" r:id="R9f31018e544f420b"/>
    <p:sldId xmlns:r="http://schemas.openxmlformats.org/officeDocument/2006/relationships" id="261" r:id="R220add31d4494784"/>
    <p:sldId xmlns:r="http://schemas.openxmlformats.org/officeDocument/2006/relationships" id="262" r:id="R5555e9ebb05943a3"/>
    <p:sldId xmlns:r="http://schemas.openxmlformats.org/officeDocument/2006/relationships" id="263" r:id="R4d0c5834f6954fd0"/>
    <p:sldId xmlns:r="http://schemas.openxmlformats.org/officeDocument/2006/relationships" id="264" r:id="R3c4846330fc44927"/>
    <p:sldId xmlns:r="http://schemas.openxmlformats.org/officeDocument/2006/relationships" id="265" r:id="Rc7823d4799bc43c4"/>
    <p:sldId xmlns:r="http://schemas.openxmlformats.org/officeDocument/2006/relationships" id="266" r:id="Re1d60e309824405d"/>
    <p:sldId xmlns:r="http://schemas.openxmlformats.org/officeDocument/2006/relationships" id="267" r:id="R0cb696cd878047c8"/>
    <p:sldId xmlns:r="http://schemas.openxmlformats.org/officeDocument/2006/relationships" id="268" r:id="R81c6ecee2cac4cb6"/>
    <p:sldId xmlns:r="http://schemas.openxmlformats.org/officeDocument/2006/relationships" id="269" r:id="Rb7c130853ff04ff6"/>
    <p:sldId xmlns:r="http://schemas.openxmlformats.org/officeDocument/2006/relationships" id="270" r:id="Rf7323e94b2c447f3"/>
    <p:sldId xmlns:r="http://schemas.openxmlformats.org/officeDocument/2006/relationships" id="271" r:id="Rd99801509633418e"/>
    <p:sldId xmlns:r="http://schemas.openxmlformats.org/officeDocument/2006/relationships" id="272" r:id="R0a21d91b62d04478"/>
    <p:sldId xmlns:r="http://schemas.openxmlformats.org/officeDocument/2006/relationships" id="273" r:id="Rf89269ddcab84059"/>
    <p:sldId xmlns:r="http://schemas.openxmlformats.org/officeDocument/2006/relationships" id="274" r:id="R55cb74216b824e50"/>
    <p:sldId xmlns:r="http://schemas.openxmlformats.org/officeDocument/2006/relationships" id="275" r:id="R37fc6b6d2b6d46e1"/>
    <p:sldId xmlns:r="http://schemas.openxmlformats.org/officeDocument/2006/relationships" id="276" r:id="Rf0acfd7cced64975"/>
    <p:sldId xmlns:r="http://schemas.openxmlformats.org/officeDocument/2006/relationships" id="277" r:id="R71dbd40a84b44a5f"/>
    <p:sldId xmlns:r="http://schemas.openxmlformats.org/officeDocument/2006/relationships" id="278" r:id="R8ec49c49e81b4a76"/>
    <p:sldId xmlns:r="http://schemas.openxmlformats.org/officeDocument/2006/relationships" id="279" r:id="R742cf8e5e1a54373"/>
    <p:sldId xmlns:r="http://schemas.openxmlformats.org/officeDocument/2006/relationships" id="280" r:id="R235d90a628bd46d3"/>
    <p:sldId xmlns:r="http://schemas.openxmlformats.org/officeDocument/2006/relationships" id="281" r:id="Rf7fa6f49cd3d494c"/>
    <p:sldId xmlns:r="http://schemas.openxmlformats.org/officeDocument/2006/relationships" id="282" r:id="R273b41e518f44476"/>
    <p:sldId xmlns:r="http://schemas.openxmlformats.org/officeDocument/2006/relationships" id="283" r:id="R05c39108d96b4998"/>
    <p:sldId xmlns:r="http://schemas.openxmlformats.org/officeDocument/2006/relationships" id="284" r:id="R0df154c0c2fc4823"/>
    <p:sldId xmlns:r="http://schemas.openxmlformats.org/officeDocument/2006/relationships" id="285" r:id="R49f2026a9a014b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b4ef18a9114f79" /><Relationship Type="http://schemas.openxmlformats.org/officeDocument/2006/relationships/slideMaster" Target="/ppt/slideMasters/slideMaster1.xml" Id="R0432f26d82944749" /><Relationship Type="http://schemas.openxmlformats.org/officeDocument/2006/relationships/notesMaster" Target="/ppt/notesMasters/notesMaster1.xml" Id="R6473ead748a74384" /><Relationship Type="http://schemas.openxmlformats.org/officeDocument/2006/relationships/presProps" Target="/ppt/presProps.xml" Id="R10bb8bc39af94ffc" /><Relationship Type="http://schemas.openxmlformats.org/officeDocument/2006/relationships/tableStyles" Target="/ppt/tableStyles.xml" Id="R51eaffb6a56d42a9" /><Relationship Type="http://schemas.openxmlformats.org/officeDocument/2006/relationships/slide" Target="/ppt/slides/slide1.xml" Id="R420fedf1080946bd" /><Relationship Type="http://schemas.openxmlformats.org/officeDocument/2006/relationships/slide" Target="/ppt/slides/slide2.xml" Id="Rd162b014490943a1" /><Relationship Type="http://schemas.openxmlformats.org/officeDocument/2006/relationships/slide" Target="/ppt/slides/slide3.xml" Id="Rd01b4a5387cd41e0" /><Relationship Type="http://schemas.openxmlformats.org/officeDocument/2006/relationships/slide" Target="/ppt/slides/slide4.xml" Id="Rcff5192d275046ef" /><Relationship Type="http://schemas.openxmlformats.org/officeDocument/2006/relationships/slide" Target="/ppt/slides/slide5.xml" Id="R9f31018e544f420b" /><Relationship Type="http://schemas.openxmlformats.org/officeDocument/2006/relationships/slide" Target="/ppt/slides/slide6.xml" Id="R220add31d4494784" /><Relationship Type="http://schemas.openxmlformats.org/officeDocument/2006/relationships/slide" Target="/ppt/slides/slide7.xml" Id="R5555e9ebb05943a3" /><Relationship Type="http://schemas.openxmlformats.org/officeDocument/2006/relationships/slide" Target="/ppt/slides/slide8.xml" Id="R4d0c5834f6954fd0" /><Relationship Type="http://schemas.openxmlformats.org/officeDocument/2006/relationships/slide" Target="/ppt/slides/slide9.xml" Id="R3c4846330fc44927" /><Relationship Type="http://schemas.openxmlformats.org/officeDocument/2006/relationships/slide" Target="/ppt/slides/slide10.xml" Id="Rc7823d4799bc43c4" /><Relationship Type="http://schemas.openxmlformats.org/officeDocument/2006/relationships/slide" Target="/ppt/slides/slide11.xml" Id="Re1d60e309824405d" /><Relationship Type="http://schemas.openxmlformats.org/officeDocument/2006/relationships/slide" Target="/ppt/slides/slide12.xml" Id="R0cb696cd878047c8" /><Relationship Type="http://schemas.openxmlformats.org/officeDocument/2006/relationships/slide" Target="/ppt/slides/slide13.xml" Id="R81c6ecee2cac4cb6" /><Relationship Type="http://schemas.openxmlformats.org/officeDocument/2006/relationships/slide" Target="/ppt/slides/slide14.xml" Id="Rb7c130853ff04ff6" /><Relationship Type="http://schemas.openxmlformats.org/officeDocument/2006/relationships/slide" Target="/ppt/slides/slide15.xml" Id="Rf7323e94b2c447f3" /><Relationship Type="http://schemas.openxmlformats.org/officeDocument/2006/relationships/slide" Target="/ppt/slides/slide16.xml" Id="Rd99801509633418e" /><Relationship Type="http://schemas.openxmlformats.org/officeDocument/2006/relationships/slide" Target="/ppt/slides/slide17.xml" Id="R0a21d91b62d04478" /><Relationship Type="http://schemas.openxmlformats.org/officeDocument/2006/relationships/slide" Target="/ppt/slides/slide18.xml" Id="Rf89269ddcab84059" /><Relationship Type="http://schemas.openxmlformats.org/officeDocument/2006/relationships/slide" Target="/ppt/slides/slide19.xml" Id="R55cb74216b824e50" /><Relationship Type="http://schemas.openxmlformats.org/officeDocument/2006/relationships/slide" Target="/ppt/slides/slide20.xml" Id="R37fc6b6d2b6d46e1" /><Relationship Type="http://schemas.openxmlformats.org/officeDocument/2006/relationships/slide" Target="/ppt/slides/slide21.xml" Id="Rf0acfd7cced64975" /><Relationship Type="http://schemas.openxmlformats.org/officeDocument/2006/relationships/slide" Target="/ppt/slides/slide22.xml" Id="R71dbd40a84b44a5f" /><Relationship Type="http://schemas.openxmlformats.org/officeDocument/2006/relationships/slide" Target="/ppt/slides/slide23.xml" Id="R8ec49c49e81b4a76" /><Relationship Type="http://schemas.openxmlformats.org/officeDocument/2006/relationships/slide" Target="/ppt/slides/slide24.xml" Id="R742cf8e5e1a54373" /><Relationship Type="http://schemas.openxmlformats.org/officeDocument/2006/relationships/slide" Target="/ppt/slides/slide25.xml" Id="R235d90a628bd46d3" /><Relationship Type="http://schemas.openxmlformats.org/officeDocument/2006/relationships/slide" Target="/ppt/slides/slide26.xml" Id="Rf7fa6f49cd3d494c" /><Relationship Type="http://schemas.openxmlformats.org/officeDocument/2006/relationships/slide" Target="/ppt/slides/slide27.xml" Id="R273b41e518f44476" /><Relationship Type="http://schemas.openxmlformats.org/officeDocument/2006/relationships/slide" Target="/ppt/slides/slide28.xml" Id="R05c39108d96b4998" /><Relationship Type="http://schemas.openxmlformats.org/officeDocument/2006/relationships/slide" Target="/ppt/slides/slide29.xml" Id="R0df154c0c2fc4823" /><Relationship Type="http://schemas.openxmlformats.org/officeDocument/2006/relationships/slide" Target="/ppt/slides/slide30.xml" Id="R49f2026a9a014b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4f4a47597141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5db66d545f4800" /><Relationship Type="http://schemas.openxmlformats.org/officeDocument/2006/relationships/notesMaster" Target="/ppt/notesMasters/notesMaster1.xml" Id="R62c3efad935545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b8321b07b4439d" /><Relationship Type="http://schemas.openxmlformats.org/officeDocument/2006/relationships/notesMaster" Target="/ppt/notesMasters/notesMaster1.xml" Id="R27cd973da80948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db38e1d234449f" /><Relationship Type="http://schemas.openxmlformats.org/officeDocument/2006/relationships/notesMaster" Target="/ppt/notesMasters/notesMaster1.xml" Id="R4b4b0009413849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d42534414049d0" /><Relationship Type="http://schemas.openxmlformats.org/officeDocument/2006/relationships/notesMaster" Target="/ppt/notesMasters/notesMaster1.xml" Id="R6547c464795242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42a0e3766e4b2d" /><Relationship Type="http://schemas.openxmlformats.org/officeDocument/2006/relationships/notesMaster" Target="/ppt/notesMasters/notesMaster1.xml" Id="Rdd24f63c5cea415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b15e6f4c904205" /><Relationship Type="http://schemas.openxmlformats.org/officeDocument/2006/relationships/notesMaster" Target="/ppt/notesMasters/notesMaster1.xml" Id="R5e82f14f6ba247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646645429164816" /><Relationship Type="http://schemas.openxmlformats.org/officeDocument/2006/relationships/notesMaster" Target="/ppt/notesMasters/notesMaster1.xml" Id="Rb70903d236d545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d2ce084a814d0c" /><Relationship Type="http://schemas.openxmlformats.org/officeDocument/2006/relationships/notesMaster" Target="/ppt/notesMasters/notesMaster1.xml" Id="Rf80f5caa121245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70d414419f4df5" /><Relationship Type="http://schemas.openxmlformats.org/officeDocument/2006/relationships/notesMaster" Target="/ppt/notesMasters/notesMaster1.xml" Id="R60aeb7cc3f3745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6d67ee332b64cec" /><Relationship Type="http://schemas.openxmlformats.org/officeDocument/2006/relationships/notesMaster" Target="/ppt/notesMasters/notesMaster1.xml" Id="R0e84c76230e44f5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99ca26024484bcd" /><Relationship Type="http://schemas.openxmlformats.org/officeDocument/2006/relationships/notesMaster" Target="/ppt/notesMasters/notesMaster1.xml" Id="Rc78c247e79b046e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3f6d021c6e24732" /><Relationship Type="http://schemas.openxmlformats.org/officeDocument/2006/relationships/notesMaster" Target="/ppt/notesMasters/notesMaster1.xml" Id="R893a5808caf04b5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f51af6da2b04f4f" /><Relationship Type="http://schemas.openxmlformats.org/officeDocument/2006/relationships/notesMaster" Target="/ppt/notesMasters/notesMaster1.xml" Id="R06bc59166065486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c4c227f81414f94" /><Relationship Type="http://schemas.openxmlformats.org/officeDocument/2006/relationships/notesMaster" Target="/ppt/notesMasters/notesMaster1.xml" Id="R667e540b64f846c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66c834dba084d73" /><Relationship Type="http://schemas.openxmlformats.org/officeDocument/2006/relationships/notesMaster" Target="/ppt/notesMasters/notesMaster1.xml" Id="R186e9636fbe74c3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65e81f5a5474a0b" /><Relationship Type="http://schemas.openxmlformats.org/officeDocument/2006/relationships/notesMaster" Target="/ppt/notesMasters/notesMaster1.xml" Id="Rb9d01b3062e14f5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20eb1d0818d4154" /><Relationship Type="http://schemas.openxmlformats.org/officeDocument/2006/relationships/notesMaster" Target="/ppt/notesMasters/notesMaster1.xml" Id="Rab19dc91f4d34e5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8fdccc094ad4c2e" /><Relationship Type="http://schemas.openxmlformats.org/officeDocument/2006/relationships/notesMaster" Target="/ppt/notesMasters/notesMaster1.xml" Id="R4590273016f247a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74183a37af34dc1" /><Relationship Type="http://schemas.openxmlformats.org/officeDocument/2006/relationships/notesMaster" Target="/ppt/notesMasters/notesMaster1.xml" Id="R739b290fb16a4e7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a90a202013646b9" /><Relationship Type="http://schemas.openxmlformats.org/officeDocument/2006/relationships/notesMaster" Target="/ppt/notesMasters/notesMaster1.xml" Id="Rc88385e49fc948d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7ac25e82e724969" /><Relationship Type="http://schemas.openxmlformats.org/officeDocument/2006/relationships/notesMaster" Target="/ppt/notesMasters/notesMaster1.xml" Id="R0c947196c635410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769ff3209d1457e" /><Relationship Type="http://schemas.openxmlformats.org/officeDocument/2006/relationships/notesMaster" Target="/ppt/notesMasters/notesMaster1.xml" Id="R6ac0003f41764b8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14c903fab5a4cb2" /><Relationship Type="http://schemas.openxmlformats.org/officeDocument/2006/relationships/notesMaster" Target="/ppt/notesMasters/notesMaster1.xml" Id="R16dc0abfbd33498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5db4745474a4eff" /><Relationship Type="http://schemas.openxmlformats.org/officeDocument/2006/relationships/notesMaster" Target="/ppt/notesMasters/notesMaster1.xml" Id="Rddc0b03704a24af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6e85ac5e9884529" /><Relationship Type="http://schemas.openxmlformats.org/officeDocument/2006/relationships/notesMaster" Target="/ppt/notesMasters/notesMaster1.xml" Id="R5331115027274b9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b12046470df47b5" /><Relationship Type="http://schemas.openxmlformats.org/officeDocument/2006/relationships/notesMaster" Target="/ppt/notesMasters/notesMaster1.xml" Id="R9df783560e0d4eb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eb43473334a48fc" /><Relationship Type="http://schemas.openxmlformats.org/officeDocument/2006/relationships/notesMaster" Target="/ppt/notesMasters/notesMaster1.xml" Id="R8043ffff4d5947c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af0996ec0be4408" /><Relationship Type="http://schemas.openxmlformats.org/officeDocument/2006/relationships/notesMaster" Target="/ppt/notesMasters/notesMaster1.xml" Id="R0c09eb62fa22437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f2e90716e5c468a" /><Relationship Type="http://schemas.openxmlformats.org/officeDocument/2006/relationships/notesMaster" Target="/ppt/notesMasters/notesMaster1.xml" Id="Reb3fe03af2aa48f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643486ad3744610" /><Relationship Type="http://schemas.openxmlformats.org/officeDocument/2006/relationships/notesMaster" Target="/ppt/notesMasters/notesMaster1.xml" Id="R645f5b6ff98e42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Apresentar o PerfuseLab como projeto em desenvolvimento para organização e estudo de dados de perfusão. Acrescentar nome, instituição e evento nos campos editáveis antes da apresentação. A imagem é uma ilustração gerada com ImageGen, não o registro de uma sala ou equipamento real. Fonte técnica: código do projeto, versão local de 25/10/2026.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Apresentar como motivação de desenvolvimento, sem afirmar que foi demonstrada uma redução de erros ou melhora de desfechos. Explicar que a leitura depende do momento de coleta, da unidade e do contexto cirúrgico.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código do PerfuseLab, versão local de 25/10/2026. Arquivos principais: src/js/pre-cec.js, dashboard.js, dashboard-plan.js, local-case.js, index.js e server/models/PerfusionCase.js.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projeto começou como hobby e passou a integrar módulos clínicos e operacionais. As análises do motor atual são determinísticas: fórmulas e limiares. Não há um modelo de IA realizando inferência clínica em tempo de execução.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código do PerfuseLab, versão local de 25/10/2026. Arquivos principais: src/js/pre-cec.js, dashboard.js, dashboard-plan.js, local-case.js, index.js e server/models/PerfusionCase.js.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Separar objetivo de benefício comprovado. Os casos pediátricos presentes nos arquivos de teste não constituem validação de um motor pediátrico. O planejamento atual é restrito à CEC adulta convencional.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código do PerfuseLab, versão local de 25/10/2026. Arquivos principais: src/js/pre-cec.js, dashboard.js, dashboard-plan.js, local-case.js, index.js e server/models/PerfusionCase.js.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fluxo foi ajustado para preparar o aplicativo antes da CEC. Ao abrir o dashboard, o sistema registra o horário atual como início. O registro zero preserva a origem no planejamento. Atualizar a página não reinicia o horário.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código do PerfuseLab, versão local de 25/10/2026. Arquivos principais: src/js/pre-cec.js, dashboard.js, dashboard-plan.js, local-case.js, index.js e server/models/PerfusionCase.js.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Unidades: peso kg; altura cm; fluxo L/min; PAM e pressões gasosas mmHg; Hb g/dL; Hct e saturações %; temperatura °C; lactato mmol/L ou mg/dL com conversão. O iVO₂ é informado em mL/min/m². Registro contextual não significa que existe regra automática para cada variável.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código do PerfuseLab, versão local de 25/10/2026. Arquivos principais: src/js/pre-cec.js, dashboard.js, dashboard-plan.js, local-case.js, index.js e server/models/PerfusionCase.js.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fórmula de Mosteller indexa fluxo pela superfície corporal. O índice inicial da interface é 2,4 L/min/m² e pode ser editado. A indexação não incorpora automaticamente composição corporal, drenagem, shunts ou limites das cânulas.</a:t>
            </a:r>
          </a:p>
          <a:p xmlns:a="http://schemas.openxmlformats.org/drawingml/2006/main">
            <a:r>
              <a:t>Mosteller RD. Simplified calculation of body-surface area. N Engl J Med. 1987;317:1098. DOI: 10.1056/NEJM198710223171717. https://pubmed.ncbi.nlm.nih.gov/3657876/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código do PerfuseLab, versão local de 25/10/2026. Arquivos principais: src/js/pre-cec.js, dashboard.js, dashboard-plan.js, local-case.js, index.js e server/models/PerfusionCase.js.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Coeficientes preservados do motor do projeto. No planejamento, as três hipóteses são necessárias para a estimativa GDP. No histórico, a ausência de PaO₂ omite a parcela dissolvida. Explicar que SaO₂ alta não compensa, por si só, uma Hb baixa.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código do PerfuseLab, versão local de 25/10/2026. Arquivos principais: src/js/pre-cec.js, dashboard.js, dashboard-plan.js, local-case.js, index.js e server/models/PerfusionCase.js.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fator 10 compatibiliza litros de fluxo e decilitros do conteúdo arterial. A seleção de 300 no plano não altera automaticamente o alvo de 280 do motor do dashboard. O fluxo matemático deve ser contextualizado com o procedimento e condições do circuito.</a:t>
            </a:r>
          </a:p>
          <a:p xmlns:a="http://schemas.openxmlformats.org/drawingml/2006/main">
            <a:r>
              <a:t>Wahba A et al. 2024 EACTS/EACTAIC/EBCP Guidelines on cardiopulmonary bypass in adult cardiac surgery. Publicação 2025. DOI: 10.1093/ejcts/ezae354. https://pubmed.ncbi.nlm.nih.gov/39949326/ e https://pmc.ncbi.nlm.nih.gov/articles/PMC11947607/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código do PerfuseLab, versão local de 25/10/2026. Arquivos principais: src/js/pre-cec.js, dashboard.js, dashboard-plan.js, local-case.js, index.js e server/models/PerfusionCase.js.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aplicativo não reduz automaticamente a meta GDP ao resfriar. A tabela térmica histórica do motor é uma regra local sem validação clínica demonstrada nesta revisão. A diretriz STS recomenda limitar a saída arterial a menos de 37 °C para evitar hipertermia cerebral. Isso não equivale a prescrever a mesma meta para o paciente.</a:t>
            </a:r>
          </a:p>
          <a:p xmlns:a="http://schemas.openxmlformats.org/drawingml/2006/main">
            <a:r>
              <a:t>Engelman R et al. STS/SCA/AmSECT Clinical Practice Guidelines: Temperature Management During Cardiopulmonary Bypass. Ann Thorac Surg. 2015;100:748–757. DOI: 10.1016/j.athoracsur.2015.03.126. https://www.sts.org/sites/default/files/documents/Guidelines_CPB%20Temperature%20Management.pdf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código do PerfuseLab, versão local de 25/10/2026. Arquivos principais: src/js/pre-cec.js, dashboard.js, dashboard-plan.js, local-case.js, index.js e server/models/PerfusionCase.js.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relação Hb/Hct é aproximação e não substitui determinação laboratorial. O card calcula Hct quando a Hb está disponível e o Hct ausente. O lactato aceita duas unidades e é normalizado. Um valor isolado não estabelece causalidade nem identifica sozinho o mecanismo de alteração.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código do PerfuseLab, versão local de 25/10/2026. Arquivos principais: src/js/pre-cec.js, dashboard.js, dashboard-plan.js, local-case.js, index.js e server/models/PerfusionCase.js.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Essas relações dependem de dados simultâneos e unidades compatíveis. No projeto, O₂ER ≥30% gera atenção e &gt;40% alerta alto. As relações são matematicamente dependentes e podem contribuir para contagens de alerta relacionadas, uma limitação do sistema de risco.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código do PerfuseLab, versão local de 25/10/2026. Arquivos principais: src/js/pre-cec.js, dashboard.js, dashboard-plan.js, local-case.js, index.js e server/models/PerfusionCase.js.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gap PCO₂ chega informado. O delta-delta é (AG−12)/(24−HCO₃), quando calculável. A correção exploratória de FiO₂ usa FiO₂ em fração − PaO₂/(Pb−47) + 0,21, com Pb padrão 760 mmHg; a atribuição “Hamilton” no código não foi validada nesta revisão. Não apresentar como prescrição. A unidade de cálcio precisa ser harmonizada. Prime, RAP, cardioplegia, anticoagulação e tempos cirúrgicos podem constar do contexto importado. Há alerta de hipocalemia, mas não uma regra equivalente de hipercalemia.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código do PerfuseLab, versão local de 25/10/2026. Arquivos principais: src/js/pre-cec.js, dashboard.js, dashboard-plan.js, local-case.js, index.js e server/models/PerfusionCase.js.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AUC de déficit = integral de max(0, alvo − iDO₂) no tempo. O código usa interpolação linear entre amostras. A unidade resultante é mL/m² quando iDO₂ está em mL/min/m² e tempo em min. Tempo abaixo do alvo não é monitorização contínua real. Intervalos de coleta influenciam a estimativa.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código do PerfuseLab, versão local de 25/10/2026. Arquivos principais: src/js/pre-cec.js, dashboard.js, dashboard-plan.js, local-case.js, index.js e server/models/PerfusionCase.js.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Regras implementadas, não uma escala prognóstica validada. Alertas dependentes podem contar separadamente. O card de iDO₂ usa limiar visual &lt;260, diferente do alerta alto &lt;252. O histórico de alertas pode manter risco alto mesmo após melhora. Ausência de alerta não prova segurança. Enquanto só há o registro do plano, o indicador informa que a análise usa valores planejados.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código do PerfuseLab, versão local de 25/10/2026. Arquivos principais: src/js/pre-cec.js, dashboard.js, dashboard-plan.js, local-case.js, index.js e server/models/PerfusionCase.js.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código preserva origem=planejamento, SaO₂ não medida e iDO₂ previsto. Valores ausentes não devem virar normalidade. O histórico conserva a origem. Importações aceitam iDO₂ externo, mas auditam a concordância com o calculado e sinalizam divergências. O índice informado pode ter prioridade sobre fluxo/SC.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código do PerfuseLab, versão local de 25/10/2026. Arquivos principais: src/js/pre-cec.js, dashboard.js, dashboard-plan.js, local-case.js, index.js e server/models/PerfusionCase.js.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Inserir o print do planejamento feito pelo apresentador. Demonstrar identificação do caso, peso e altura, fluxo de referência, hipóteses de oxigenação, temperatura da equipe e botão de entrada no dashboard. Não usar dados identificáveis de pacientes.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código do PerfuseLab, versão local de 25/10/2026. Arquivos principais: src/js/pre-cec.js, dashboard.js, dashboard-plan.js, local-case.js, index.js e server/models/PerfusionCase.js.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Inserir o print do dashboard feito pelo apresentador. Mostrar iDO₂ com duas casas, Hct calculado quando ausente, lactato com unidade e temperatura sempre visível. Destacar a diferença entre origem planejada e medição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código do PerfuseLab, versão local de 25/10/2026. Arquivos principais: src/js/pre-cec.js, dashboard.js, dashboard-plan.js, local-case.js, index.js e server/models/PerfusionCase.js.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checklist deve representar verificações realmente realizadas. A impressão não substitui documentação institucional. O relatório simples limita a quantidade de alertas exibidos, assim como o completo, e não contém necessariamente toda a lista do motor. As explicações longas ficam na página Informações.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código do PerfuseLab, versão local de 25/10/2026. Arquivos principais: src/js/pre-cec.js, dashboard.js, dashboard-plan.js, local-case.js, index.js e server/models/PerfusionCase.js.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Salvar o caso no banco é uma ação explícita. O armazenamento local não aplica criptografia pelo aplicativo e exige atenção em computadores compartilhados. CSV e JSON alimentam o mesmo fluxo normalizado de análise. Não há conexão automática comprovada com equipamentos de perfusão nem extração automática de prontuário.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código do PerfuseLab, versão local de 25/10/2026. Arquivos principais: src/js/pre-cec.js, dashboard.js, dashboard-plan.js, local-case.js, index.js e server/models/PerfusionCase.js.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Ensaio multicêntrico: 350 participantes incluídos, 326 analisados. RR de AKIN estágio 1 = 0,45, IC95% 0,25–0,83. Sem diferença demonstrada em AKIN 2–3 ou desfechos secundários. Não atribuir o efeito do ensaio ao PerfuseLab.</a:t>
            </a:r>
          </a:p>
          <a:p xmlns:a="http://schemas.openxmlformats.org/drawingml/2006/main">
            <a:r>
              <a:t>Ranucci M et al. Goal-directed perfusion to reduce acute kidney injury: A randomized trial. J Thorac Cardiovasc Surg. 2018;156:1918–1927.e2. DOI: 10.1016/j.jtcvs.2018.04.045. https://pubmed.ncbi.nlm.nih.gov/29778331/</a:t>
            </a:r>
          </a:p>
          <a:p xmlns:a="http://schemas.openxmlformats.org/drawingml/2006/main">
            <a:r>
              <a:t>Wahba A et al. 2024 EACTS/EACTAIC/EBCP Guidelines on cardiopulmonary bypass in adult cardiac surgery. Publicação 2025. DOI: 10.1093/ejcts/ezae354. https://pubmed.ncbi.nlm.nih.gov/39949326/ e https://pmc.ncbi.nlm.nih.gov/articles/PMC11947607/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código do PerfuseLab, versão local de 25/10/2026. Arquivos principais: src/js/pre-cec.js, dashboard.js, dashboard-plan.js, local-case.js, index.js e server/models/PerfusionCase.js.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Todos os valores deste caso foram construídos para demonstração matemática. Não é relato de paciente real, não há intervenção comprovada nem desfecho clínico observado. A escolha de fluxo nos pontos posteriores é uma hipótese de cenário, não uma recomendação terapêutica.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código do PerfuseLab, versão local de 25/10/2026. Arquivos principais: src/js/pre-cec.js, dashboard.js, dashboard-plan.js, local-case.js, index.js e server/models/PerfusionCase.js.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 exata = sqrt(75×170/3600) = 1,8819316318. Q de referência exato = 4,5166359163. O aplicativo arredonda para cima a 0,01 no botão de seleção. A temperatura é um dado do cenário e não foi calculada a partir do fluxo.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código do PerfuseLab, versão local de 25/10/2026. Arquivos principais: src/js/pre-cec.js, dashboard.js, dashboard-plan.js, local-case.js, index.js e server/models/PerfusionCase.js.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Dados sintéticos. SaO₂ constante de 98%, PaO₂ de 150 mmHg e temperatura de 36 °C nos quatro pontos. Cada iDO₂ foi recalculado por 10×(Q/SC)×(1,36×Hb×0,98+0,003×150), SC=1,8819316318. Hct pode ser aproximado por Hb×3 se ausente. São medições fictícias do cenário, distintas do ponto inicial oriundo do planejamento.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código do PerfuseLab, versão local de 25/10/2026. Arquivos principais: src/js/pre-cec.js, dashboard.js, dashboard-plan.js, local-case.js, index.js e server/models/PerfusionCase.js.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Série sintética de iDO₂: 320,4864565;255,3312734;288,6353525;307,0487738 mL/min/m². Linha de referência 280. O gráfico demonstra a dependência matemática da oferta em relação a Hb e fluxo, com SaO₂/PaO₂ constantes. A linha é interpolação entre pontos, não uma gravação contínua.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código do PerfuseLab, versão local de 25/10/2026. Arquivos principais: src/js/pre-cec.js, dashboard.js, dashboard-plan.js, local-case.js, index.js e server/models/PerfusionCase.js.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Aos 40 min, iDO₂=288,64 e lactato=2,5. Aos 60 min, iDO₂=307,05 e lactato=2,1. Não inferir causa, reversão de hipóxia ou benefício clínico a partir da simulação. Não foi modelada drenagem, limite de cânulas, shunt ou comportamento do circuito.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código do PerfuseLab, versão local de 25/10/2026. Arquivos principais: src/js/pre-cec.js, dashboard.js, dashboard-plan.js, local-case.js, index.js e server/models/PerfusionCase.js.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comando tools/validate-dashboard.js processou 40 arquivos de teste do repositório. Há testes de navegador para o fluxo de planejamento e inclusão de exames. Esse número não representa pacientes nem validação clínica. Testes detectam falhas de implementação, mas não comprovam segurança assistencial, eficácia ou generalização.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código do PerfuseLab, versão local de 25/10/2026. Arquivos principais: src/js/pre-cec.js, dashboard.js, dashboard-plan.js, local-case.js, index.js e server/models/PerfusionCase.js.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Acrescentar padronização dos limiares visuais e clínicos, unidades de cálcio, tratamento de dados ausentes e separação explícita entre estimativas e medições em todos os outputs. Pesquisa com pacientes depende de protocolo, aprovação ética aplicável e proteção de dados. Essas etapas são propostas, não resultados concluídos.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código do PerfuseLab, versão local de 25/10/2026. Arquivos principais: src/js/pre-cec.js, dashboard.js, dashboard-plan.js, local-case.js, index.js e server/models/PerfusionCase.js.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Fechar retomando a contribuição concreta: integração e transparência de cálculos. Evitar prometer prevenção de complicações ou superioridade a sistemas existentes. Abrir discussão sobre usabilidade, validação e adequação dos dados às rotinas da equipe.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código do PerfuseLab, versão local de 25/10/2026. Arquivos principais: src/js/pre-cec.js, dashboard.js, dashboard-plan.js, local-case.js, index.js e server/models/PerfusionCase.js.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Mosteller RD. Simplified calculation of body-surface area. N Engl J Med. 1987;317:1098. DOI: 10.1056/NEJM198710223171717. https://pubmed.ncbi.nlm.nih.gov/3657876/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Ranucci M et al. Goal-directed perfusion to reduce acute kidney injury: A randomized trial. J Thorac Cardiovasc Surg. 2018;156:1918–1927.e2. DOI: 10.1016/j.jtcvs.2018.04.045. https://pubmed.ncbi.nlm.nih.gov/29778331/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Wahba A et al. 2024 EACTS/EACTAIC/EBCP Guidelines on cardiopulmonary bypass in adult cardiac surgery. Publicação 2025. DOI: 10.1093/ejcts/ezae354. https://pubmed.ncbi.nlm.nih.gov/39949326/ e https://pmc.ncbi.nlm.nih.gov/articles/PMC11947607/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Engelman R et al. STS/SCA/AmSECT Clinical Practice Guidelines: Temperature Management During Cardiopulmonary Bypass. Ann Thorac Surg. 2015;100:748–757. DOI: 10.1016/j.athoracsur.2015.03.126. https://www.sts.org/sites/default/files/documents/Guidelines_CPB%20Temperature%20Management.pdf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código do PerfuseLab, versão local de 25/10/2026. Arquivos principais: src/js/pre-cec.js, dashboard.js, dashboard-plan.js, local-case.js, index.js e server/models/PerfusionCase.js.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código do PerfuseLab, versão local de 25/10/2026. Arquivos principais: src/js/pre-cec.js, dashboard.js, dashboard-plan.js, local-case.js, index.js e server/models/PerfusionCase.js.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13ec3b11af4cf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b7aea63a8d413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6d8c09d379499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e2b48e5b68430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69848f87fd4f8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0f7763935647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A42AC5-A296-4E87-A6C0-63C7167717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404AD4E-75F9-4D69-AFC1-5D24A496E1D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0F69B60-8F59-4C2E-B176-F331A5600F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1FFB864-A696-4034-9027-F45E9A9E66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454757F-CA65-4165-BDE0-63412517DE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C46C0DF-6519-4F88-8F31-FCCDAC05AC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F37F322-F9DF-4D6C-A425-3A745DCAB3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E66446-C263-4F89-B0FF-0361EC777AF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A030C9-553D-491F-BA18-8F17EC333F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61E4858-85CC-4913-8AF0-DC03347FBF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c9029a98d84fd9" /><Relationship Type="http://schemas.openxmlformats.org/officeDocument/2006/relationships/slideLayout" Target="/ppt/slideLayouts/slideLayout1.xml" Id="R98508135febe469c" /><Relationship Type="http://schemas.openxmlformats.org/officeDocument/2006/relationships/slideLayout" Target="/ppt/slideLayouts/slideLayout2.xml" Id="R69846cf30dfa4523" /><Relationship Type="http://schemas.openxmlformats.org/officeDocument/2006/relationships/slideLayout" Target="/ppt/slideLayouts/slideLayout3.xml" Id="R7962c24f3bd94de7" /><Relationship Type="http://schemas.openxmlformats.org/officeDocument/2006/relationships/slideLayout" Target="/ppt/slideLayouts/slideLayout4.xml" Id="R9b4f0e0f25bb4dfc" /><Relationship Type="http://schemas.openxmlformats.org/officeDocument/2006/relationships/slideLayout" Target="/ppt/slideLayouts/slideLayout5.xml" Id="R125928c75e294d09" /><Relationship Type="http://schemas.openxmlformats.org/officeDocument/2006/relationships/slideLayout" Target="/ppt/slideLayouts/slideLayout6.xml" Id="Re035b02def4841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508135febe469c"/>
    <p:sldLayoutId xmlns:r="http://schemas.openxmlformats.org/officeDocument/2006/relationships" id="2147483650" r:id="R69846cf30dfa4523"/>
    <p:sldLayoutId xmlns:r="http://schemas.openxmlformats.org/officeDocument/2006/relationships" id="2147483651" r:id="R7962c24f3bd94de7"/>
    <p:sldLayoutId xmlns:r="http://schemas.openxmlformats.org/officeDocument/2006/relationships" id="2147483652" r:id="R9b4f0e0f25bb4dfc"/>
    <p:sldLayoutId xmlns:r="http://schemas.openxmlformats.org/officeDocument/2006/relationships" id="2147483653" r:id="R125928c75e294d09"/>
    <p:sldLayoutId xmlns:r="http://schemas.openxmlformats.org/officeDocument/2006/relationships" id="2147483654" r:id="Re035b02def4841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eed34a4637437a" /><Relationship Type="http://schemas.openxmlformats.org/officeDocument/2006/relationships/image" Target="/ppt/media/image.png" Id="R196cf081689247d5" /><Relationship Type="http://schemas.openxmlformats.org/officeDocument/2006/relationships/notesSlide" Target="/ppt/notesSlides/notesSlide1.xml" Id="R77b7a1e68d9449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1a55d3705d45ca" /><Relationship Type="http://schemas.openxmlformats.org/officeDocument/2006/relationships/notesSlide" Target="/ppt/notesSlides/notesSlide2.xml" Id="R9369316fd4594d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cb1aa4a6f14489" /><Relationship Type="http://schemas.openxmlformats.org/officeDocument/2006/relationships/notesSlide" Target="/ppt/notesSlides/notesSlide3.xml" Id="R8a950c0879054c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0482923e624a71" /><Relationship Type="http://schemas.openxmlformats.org/officeDocument/2006/relationships/notesSlide" Target="/ppt/notesSlides/notesSlide4.xml" Id="Rf3af5d1dcafd47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a65f68a0b24b8f" /><Relationship Type="http://schemas.openxmlformats.org/officeDocument/2006/relationships/notesSlide" Target="/ppt/notesSlides/notesSlide5.xml" Id="R15822683fa7c49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9ff073248e47e4" /><Relationship Type="http://schemas.openxmlformats.org/officeDocument/2006/relationships/notesSlide" Target="/ppt/notesSlides/notesSlide6.xml" Id="Ree6e736c92694e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559da4bcef4cc1" /><Relationship Type="http://schemas.openxmlformats.org/officeDocument/2006/relationships/notesSlide" Target="/ppt/notesSlides/notesSlide7.xml" Id="Rba98e79ce55344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bdee07b4854563" /><Relationship Type="http://schemas.openxmlformats.org/officeDocument/2006/relationships/notesSlide" Target="/ppt/notesSlides/notesSlide8.xml" Id="R505fab594d1f4c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20ae92e5d04b69" /><Relationship Type="http://schemas.openxmlformats.org/officeDocument/2006/relationships/notesSlide" Target="/ppt/notesSlides/notesSlide9.xml" Id="R3f0477336a8f41c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da11da31c44967" /><Relationship Type="http://schemas.openxmlformats.org/officeDocument/2006/relationships/notesSlide" Target="/ppt/notesSlides/notesSlide10.xml" Id="Rbb2f0bee5e87464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f22dc739144b29" /><Relationship Type="http://schemas.openxmlformats.org/officeDocument/2006/relationships/notesSlide" Target="/ppt/notesSlides/notesSlide11.xml" Id="Rb4e0117d24494cc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02a24ee7514345" /><Relationship Type="http://schemas.openxmlformats.org/officeDocument/2006/relationships/notesSlide" Target="/ppt/notesSlides/notesSlide12.xml" Id="R5ac0d0f055bc439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2a019013884ae0" /><Relationship Type="http://schemas.openxmlformats.org/officeDocument/2006/relationships/notesSlide" Target="/ppt/notesSlides/notesSlide13.xml" Id="R51fdcb967e0f435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23c202ce854638" /><Relationship Type="http://schemas.openxmlformats.org/officeDocument/2006/relationships/notesSlide" Target="/ppt/notesSlides/notesSlide14.xml" Id="R5661882b000d4cf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9d4ed84f2e471e" /><Relationship Type="http://schemas.openxmlformats.org/officeDocument/2006/relationships/notesSlide" Target="/ppt/notesSlides/notesSlide15.xml" Id="R402bcff1ad78488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e82c265dfc4c2d" /><Relationship Type="http://schemas.openxmlformats.org/officeDocument/2006/relationships/notesSlide" Target="/ppt/notesSlides/notesSlide16.xml" Id="Rf40619e45c5d4f5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8a1b06560c408c" /><Relationship Type="http://schemas.openxmlformats.org/officeDocument/2006/relationships/notesSlide" Target="/ppt/notesSlides/notesSlide17.xml" Id="Rf8d579bcefb04cb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5ab80096824195" /><Relationship Type="http://schemas.openxmlformats.org/officeDocument/2006/relationships/notesSlide" Target="/ppt/notesSlides/notesSlide18.xml" Id="R268c59e3d0004ee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8b6c7340264ac0" /><Relationship Type="http://schemas.openxmlformats.org/officeDocument/2006/relationships/notesSlide" Target="/ppt/notesSlides/notesSlide19.xml" Id="R4379cefa534e449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e4679f62074dcf" /><Relationship Type="http://schemas.openxmlformats.org/officeDocument/2006/relationships/notesSlide" Target="/ppt/notesSlides/notesSlide20.xml" Id="R9f768309755e4e6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26b82e8be34337" /><Relationship Type="http://schemas.openxmlformats.org/officeDocument/2006/relationships/notesSlide" Target="/ppt/notesSlides/notesSlide21.xml" Id="R3befe6f794aa4ac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ca01cc2754400e" /><Relationship Type="http://schemas.openxmlformats.org/officeDocument/2006/relationships/notesSlide" Target="/ppt/notesSlides/notesSlide22.xml" Id="R4c78578d5d7c443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6152aa62284b91" /><Relationship Type="http://schemas.openxmlformats.org/officeDocument/2006/relationships/notesSlide" Target="/ppt/notesSlides/notesSlide23.xml" Id="R476e8708f8f7407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9bf01cf0bc4cf4" /><Relationship Type="http://schemas.openxmlformats.org/officeDocument/2006/relationships/notesSlide" Target="/ppt/notesSlides/notesSlide24.xml" Id="Re216e0c1222f40c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731389e5db464c" /><Relationship Type="http://schemas.openxmlformats.org/officeDocument/2006/relationships/chart" Target="/ppt/slides/charts/chart1.xml" Id="Rc8179666024b46ae" /><Relationship Type="http://schemas.openxmlformats.org/officeDocument/2006/relationships/notesSlide" Target="/ppt/notesSlides/notesSlide25.xml" Id="Rfda68417ff5e4fc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36534f16174bf8" /><Relationship Type="http://schemas.openxmlformats.org/officeDocument/2006/relationships/notesSlide" Target="/ppt/notesSlides/notesSlide26.xml" Id="Rdffb6f0d1e53497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055c7f429647b7" /><Relationship Type="http://schemas.openxmlformats.org/officeDocument/2006/relationships/notesSlide" Target="/ppt/notesSlides/notesSlide27.xml" Id="Rbd5e8e43814f4bd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dacd235dc84490" /><Relationship Type="http://schemas.openxmlformats.org/officeDocument/2006/relationships/notesSlide" Target="/ppt/notesSlides/notesSlide28.xml" Id="Rafcb8180942b428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1da658a1a34fab" /><Relationship Type="http://schemas.openxmlformats.org/officeDocument/2006/relationships/notesSlide" Target="/ppt/notesSlides/notesSlide29.xml" Id="R2405f378dc1a42e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b35dfa201b458a" /><Relationship Type="http://schemas.openxmlformats.org/officeDocument/2006/relationships/notesSlide" Target="/ppt/notesSlides/notesSlide30.xml" Id="R69465bb8a6784977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iDO₂ simulado</c:v>
          </c:tx>
          <c:spPr>
            <a:solidFill xmlns:a="http://schemas.openxmlformats.org/drawingml/2006/main">
              <a:srgbClr val="087D79"/>
            </a:solidFill>
            <a:ln xmlns:a="http://schemas.openxmlformats.org/drawingml/2006/main" w="28575">
              <a:solidFill>
                <a:srgbClr val="087D79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087D79"/>
              </a:solidFill>
            </c:spPr>
          </c:marker>
          <c:cat>
            <c:numLit>
              <c:formatCode>General</c:formatCode>
              <c:ptCount val="4"/>
              <c:pt idx="0">
                <c:v>0</c:v>
              </c:pt>
              <c:pt idx="1">
                <c:v>20</c:v>
              </c:pt>
              <c:pt idx="2">
                <c:v>40</c:v>
              </c:pt>
              <c:pt idx="3">
                <c:v>60</c:v>
              </c:pt>
            </c:numLit>
          </c:cat>
          <c:val>
            <c:numLit>
              <c:formatCode>General</c:formatCode>
              <c:ptCount val="4"/>
              <c:pt idx="0">
                <c:v>320.49</c:v>
              </c:pt>
              <c:pt idx="1">
                <c:v>255.33</c:v>
              </c:pt>
              <c:pt idx="2">
                <c:v>288.64</c:v>
              </c:pt>
              <c:pt idx="3">
                <c:v>307.05</c:v>
              </c:pt>
            </c:numLit>
          </c:val>
          <c:smooth val="0"/>
        </c:ser>
        <c:ser>
          <c:idx val="1"/>
          <c:order val="1"/>
          <c:tx>
            <c:v>Referência 280</c:v>
          </c:tx>
          <c:spPr>
            <a:solidFill xmlns:a="http://schemas.openxmlformats.org/drawingml/2006/main">
              <a:srgbClr val="A47643"/>
            </a:solidFill>
            <a:ln xmlns:a="http://schemas.openxmlformats.org/drawingml/2006/main" w="19050">
              <a:solidFill>
                <a:srgbClr val="A47643"/>
              </a:solidFill>
            </a:ln>
          </c:spPr>
          <c:marker>
            <c:symbol val="none"/>
          </c:marker>
          <c:cat>
            <c:numLit>
              <c:formatCode>General</c:formatCode>
              <c:ptCount val="4"/>
              <c:pt idx="0">
                <c:v>0</c:v>
              </c:pt>
              <c:pt idx="1">
                <c:v>20</c:v>
              </c:pt>
              <c:pt idx="2">
                <c:v>40</c:v>
              </c:pt>
              <c:pt idx="3">
                <c:v>60</c:v>
              </c:pt>
            </c:numLit>
          </c:cat>
          <c:val>
            <c:numLit>
              <c:formatCode>General</c:formatCode>
              <c:ptCount val="4"/>
              <c:pt idx="0">
                <c:v>280</c:v>
              </c:pt>
              <c:pt idx="1">
                <c:v>280</c:v>
              </c:pt>
              <c:pt idx="2">
                <c:v>280</c:v>
              </c:pt>
              <c:pt idx="3">
                <c:v>280</c:v>
              </c:pt>
            </c:numLit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8333D"/>
                    </a:solidFill>
                  </a:rPr>
                  <a:t>Tempo de CEC (min)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8333D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333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40"/>
          <c:min val="22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E1DB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8333D"/>
                    </a:solidFill>
                  </a:rPr>
                  <a:t>iDO₂ (mL/min/m²)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8333D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333D"/>
                </a:solidFill>
              </a:defRPr>
            </a:pPr>
          </a:p>
        </c:txPr>
        <c:crossAx val="48650112"/>
        <c:crossBetween val="between"/>
        <c:majorUnit val="40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8333D"/>
              </a:solidFill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B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F30D81-8FAC-4927-B2E9-DC5AAAA4CA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6cf081689247d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0C5F1C-5F81-43F2-B88A-936DF9DC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64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150" b="1">
                <a:solidFill>
                  <a:srgbClr val="FFFFFF"/>
                </a:solidFill>
              </a:defRPr>
            </a:defPPr>
            <a:lvl1pPr>
              <a:defRPr sz="6150" b="1">
                <a:solidFill>
                  <a:srgbClr val="FFFFFF"/>
                </a:solidFill>
              </a:defRPr>
            </a:lvl1pPr>
            <a:lvl2pPr>
              <a:defRPr sz="6150" b="1">
                <a:solidFill>
                  <a:srgbClr val="FFFFFF"/>
                </a:solidFill>
              </a:defRPr>
            </a:lvl2pPr>
            <a:lvl3pPr>
              <a:defRPr sz="6150" b="1">
                <a:solidFill>
                  <a:srgbClr val="FFFFFF"/>
                </a:solidFill>
              </a:defRPr>
            </a:lvl3pPr>
            <a:lvl4pPr>
              <a:defRPr sz="6150" b="1">
                <a:solidFill>
                  <a:srgbClr val="FFFFFF"/>
                </a:solidFill>
              </a:defRPr>
            </a:lvl4pPr>
            <a:lvl5pPr>
              <a:defRPr sz="6150" b="1">
                <a:solidFill>
                  <a:srgbClr val="FFFFFF"/>
                </a:solidFill>
              </a:defRPr>
            </a:lvl5pPr>
            <a:lvl6pPr>
              <a:defRPr sz="6150" b="1">
                <a:solidFill>
                  <a:srgbClr val="FFFFFF"/>
                </a:solidFill>
              </a:defRPr>
            </a:lvl6pPr>
            <a:lvl7pPr>
              <a:defRPr sz="6150" b="1">
                <a:solidFill>
                  <a:srgbClr val="FFFFFF"/>
                </a:solidFill>
              </a:defRPr>
            </a:lvl7pPr>
            <a:lvl8pPr>
              <a:defRPr sz="6150" b="1">
                <a:solidFill>
                  <a:srgbClr val="FFFFFF"/>
                </a:solidFill>
              </a:defRPr>
            </a:lvl8pPr>
            <a:lvl9pPr>
              <a:defRPr sz="6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6150" b="1">
                <a:solidFill>
                  <a:srgbClr val="FFFFFF"/>
                </a:solidFill>
              </a:defRPr>
            </a:pPr>
            <a:r>
              <a:rPr sz="6150" b="1">
                <a:solidFill>
                  <a:srgbClr val="FFFFFF"/>
                </a:solidFill>
              </a:rPr>
              <a:t>PerfuseLab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C66E1C-835E-4010-965F-DB2A0E71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581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>
                <a:solidFill>
                  <a:srgbClr val="B6EDE0"/>
                </a:solidFill>
              </a:defRPr>
            </a:defPPr>
            <a:lvl1pPr>
              <a:defRPr sz="2400">
                <a:solidFill>
                  <a:srgbClr val="B6EDE0"/>
                </a:solidFill>
              </a:defRPr>
            </a:lvl1pPr>
            <a:lvl2pPr>
              <a:defRPr sz="2400">
                <a:solidFill>
                  <a:srgbClr val="B6EDE0"/>
                </a:solidFill>
              </a:defRPr>
            </a:lvl2pPr>
            <a:lvl3pPr>
              <a:defRPr sz="2400">
                <a:solidFill>
                  <a:srgbClr val="B6EDE0"/>
                </a:solidFill>
              </a:defRPr>
            </a:lvl3pPr>
            <a:lvl4pPr>
              <a:defRPr sz="2400">
                <a:solidFill>
                  <a:srgbClr val="B6EDE0"/>
                </a:solidFill>
              </a:defRPr>
            </a:lvl4pPr>
            <a:lvl5pPr>
              <a:defRPr sz="2400">
                <a:solidFill>
                  <a:srgbClr val="B6EDE0"/>
                </a:solidFill>
              </a:defRPr>
            </a:lvl5pPr>
            <a:lvl6pPr>
              <a:defRPr sz="2400">
                <a:solidFill>
                  <a:srgbClr val="B6EDE0"/>
                </a:solidFill>
              </a:defRPr>
            </a:lvl6pPr>
            <a:lvl7pPr>
              <a:defRPr sz="2400">
                <a:solidFill>
                  <a:srgbClr val="B6EDE0"/>
                </a:solidFill>
              </a:defRPr>
            </a:lvl7pPr>
            <a:lvl8pPr>
              <a:defRPr sz="2400">
                <a:solidFill>
                  <a:srgbClr val="B6EDE0"/>
                </a:solidFill>
              </a:defRPr>
            </a:lvl8pPr>
            <a:lvl9pPr>
              <a:defRPr sz="2400">
                <a:solidFill>
                  <a:srgbClr val="B6EDE0"/>
                </a:solidFill>
              </a:defRPr>
            </a:lvl9pPr>
          </a:lstStyle>
          <a:p xmlns:a="http://schemas.openxmlformats.org/drawingml/2006/main">
            <a:pPr>
              <a:defRPr sz="2400">
                <a:solidFill>
                  <a:srgbClr val="B6EDE0"/>
                </a:solidFill>
              </a:defRPr>
            </a:pPr>
            <a:r>
              <a:rPr sz="2400">
                <a:solidFill>
                  <a:srgbClr val="B6EDE0"/>
                </a:solidFill>
              </a:rPr>
              <a:t>Planejamento e análise de dados</a:t>
            </a:r>
          </a:p>
          <a:p xmlns:a="http://schemas.openxmlformats.org/drawingml/2006/main">
            <a:pPr>
              <a:defRPr sz="2400">
                <a:solidFill>
                  <a:srgbClr val="B6EDE0"/>
                </a:solidFill>
              </a:defRPr>
            </a:pPr>
            <a:r>
              <a:rPr sz="2400">
                <a:solidFill>
                  <a:srgbClr val="B6EDE0"/>
                </a:solidFill>
              </a:rPr>
              <a:t>na circulação extracorpórea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B078D5-E5EE-432E-86D5-A582B5F8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619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C6D8DD"/>
                </a:solidFill>
              </a:defRPr>
            </a:defPPr>
            <a:lvl1pPr>
              <a:defRPr sz="1575" b="0">
                <a:solidFill>
                  <a:srgbClr val="C6D8DD"/>
                </a:solidFill>
              </a:defRPr>
            </a:lvl1pPr>
            <a:lvl2pPr>
              <a:defRPr sz="1575" b="0">
                <a:solidFill>
                  <a:srgbClr val="C6D8DD"/>
                </a:solidFill>
              </a:defRPr>
            </a:lvl2pPr>
            <a:lvl3pPr>
              <a:defRPr sz="1575" b="0">
                <a:solidFill>
                  <a:srgbClr val="C6D8DD"/>
                </a:solidFill>
              </a:defRPr>
            </a:lvl3pPr>
            <a:lvl4pPr>
              <a:defRPr sz="1575" b="0">
                <a:solidFill>
                  <a:srgbClr val="C6D8DD"/>
                </a:solidFill>
              </a:defRPr>
            </a:lvl4pPr>
            <a:lvl5pPr>
              <a:defRPr sz="1575" b="0">
                <a:solidFill>
                  <a:srgbClr val="C6D8DD"/>
                </a:solidFill>
              </a:defRPr>
            </a:lvl5pPr>
            <a:lvl6pPr>
              <a:defRPr sz="1575" b="0">
                <a:solidFill>
                  <a:srgbClr val="C6D8DD"/>
                </a:solidFill>
              </a:defRPr>
            </a:lvl6pPr>
            <a:lvl7pPr>
              <a:defRPr sz="1575" b="0">
                <a:solidFill>
                  <a:srgbClr val="C6D8DD"/>
                </a:solidFill>
              </a:defRPr>
            </a:lvl7pPr>
            <a:lvl8pPr>
              <a:defRPr sz="1575" b="0">
                <a:solidFill>
                  <a:srgbClr val="C6D8DD"/>
                </a:solidFill>
              </a:defRPr>
            </a:lvl8pPr>
            <a:lvl9pPr>
              <a:defRPr sz="1575" b="0">
                <a:solidFill>
                  <a:srgbClr val="C6D8DD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C6D8DD"/>
                </a:solidFill>
              </a:defRPr>
            </a:pPr>
            <a:r>
              <a:rPr sz="1575" b="0">
                <a:solidFill>
                  <a:srgbClr val="C6D8DD"/>
                </a:solidFill>
              </a:rPr>
              <a:t>[Nome do apresentador]</a:t>
            </a:r>
          </a:p>
          <a:p xmlns:a="http://schemas.openxmlformats.org/drawingml/2006/main">
            <a:pPr>
              <a:defRPr sz="1575" b="0">
                <a:solidFill>
                  <a:srgbClr val="C6D8DD"/>
                </a:solidFill>
              </a:defRPr>
            </a:pPr>
            <a:r>
              <a:rPr sz="1575" b="0">
                <a:solidFill>
                  <a:srgbClr val="C6D8DD"/>
                </a:solidFill>
              </a:rPr>
              <a:t>[Instituição]  /  [Congresso]</a:t>
            </a:r>
          </a:p>
        </p:txBody>
      </p:sp>
    </p:spTree>
    <p:extLst>
      <p:ext uri="{BB962C8B-B14F-4D97-AF65-F5344CB8AC3E}">
        <p14:creationId xmlns:p14="http://schemas.microsoft.com/office/powerpoint/2010/main" val="20503501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B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A1D3EC-ABDF-4262-8EBA-8FA712B1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10744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</a:defRPr>
            </a:defPPr>
            <a:lvl1pPr>
              <a:defRPr sz="3450" b="1">
                <a:solidFill>
                  <a:srgbClr val="FFFFFF"/>
                </a:solidFill>
              </a:defRPr>
            </a:lvl1pPr>
            <a:lvl2pPr>
              <a:defRPr sz="3450" b="1">
                <a:solidFill>
                  <a:srgbClr val="FFFFFF"/>
                </a:solidFill>
              </a:defRPr>
            </a:lvl2pPr>
            <a:lvl3pPr>
              <a:defRPr sz="3450" b="1">
                <a:solidFill>
                  <a:srgbClr val="FFFFFF"/>
                </a:solidFill>
              </a:defRPr>
            </a:lvl3pPr>
            <a:lvl4pPr>
              <a:defRPr sz="3450" b="1">
                <a:solidFill>
                  <a:srgbClr val="FFFFFF"/>
                </a:solidFill>
              </a:defRPr>
            </a:lvl4pPr>
            <a:lvl5pPr>
              <a:defRPr sz="3450" b="1">
                <a:solidFill>
                  <a:srgbClr val="FFFFFF"/>
                </a:solidFill>
              </a:defRPr>
            </a:lvl5pPr>
            <a:lvl6pPr>
              <a:defRPr sz="3450" b="1">
                <a:solidFill>
                  <a:srgbClr val="FFFFFF"/>
                </a:solidFill>
              </a:defRPr>
            </a:lvl6pPr>
            <a:lvl7pPr>
              <a:defRPr sz="3450" b="1">
                <a:solidFill>
                  <a:srgbClr val="FFFFFF"/>
                </a:solidFill>
              </a:defRPr>
            </a:lvl7pPr>
            <a:lvl8pPr>
              <a:defRPr sz="3450" b="1">
                <a:solidFill>
                  <a:srgbClr val="FFFFFF"/>
                </a:solidFill>
              </a:defRPr>
            </a:lvl8pPr>
            <a:lvl9pPr>
              <a:defRPr sz="34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O problema que motivou o projeto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8C9D52-2F40-411E-81F6-0DC449AF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BCD0D5"/>
                </a:solidFill>
              </a:defRPr>
            </a:defPPr>
            <a:lvl1pPr>
              <a:defRPr sz="1275" b="0">
                <a:solidFill>
                  <a:srgbClr val="BCD0D5"/>
                </a:solidFill>
              </a:defRPr>
            </a:lvl1pPr>
            <a:lvl2pPr>
              <a:defRPr sz="1275" b="0">
                <a:solidFill>
                  <a:srgbClr val="BCD0D5"/>
                </a:solidFill>
              </a:defRPr>
            </a:lvl2pPr>
            <a:lvl3pPr>
              <a:defRPr sz="1275" b="0">
                <a:solidFill>
                  <a:srgbClr val="BCD0D5"/>
                </a:solidFill>
              </a:defRPr>
            </a:lvl3pPr>
            <a:lvl4pPr>
              <a:defRPr sz="1275" b="0">
                <a:solidFill>
                  <a:srgbClr val="BCD0D5"/>
                </a:solidFill>
              </a:defRPr>
            </a:lvl4pPr>
            <a:lvl5pPr>
              <a:defRPr sz="1275" b="0">
                <a:solidFill>
                  <a:srgbClr val="BCD0D5"/>
                </a:solidFill>
              </a:defRPr>
            </a:lvl5pPr>
            <a:lvl6pPr>
              <a:defRPr sz="1275" b="0">
                <a:solidFill>
                  <a:srgbClr val="BCD0D5"/>
                </a:solidFill>
              </a:defRPr>
            </a:lvl6pPr>
            <a:lvl7pPr>
              <a:defRPr sz="1275" b="0">
                <a:solidFill>
                  <a:srgbClr val="BCD0D5"/>
                </a:solidFill>
              </a:defRPr>
            </a:lvl7pPr>
            <a:lvl8pPr>
              <a:defRPr sz="1275" b="0">
                <a:solidFill>
                  <a:srgbClr val="BCD0D5"/>
                </a:solidFill>
              </a:defRPr>
            </a:lvl8pPr>
            <a:lvl9pPr>
              <a:defRPr sz="1275" b="0">
                <a:solidFill>
                  <a:srgbClr val="BCD0D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CD0D5"/>
                </a:solidFill>
              </a:defRPr>
            </a:pPr>
            <a:r>
              <a:rPr sz="1275" b="0">
                <a:solidFill>
                  <a:srgbClr val="BCD0D5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BED551-F776-4BCF-9913-2923C062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107442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B6EDE0"/>
                </a:solidFill>
              </a:defRPr>
            </a:defPPr>
            <a:lvl1pPr>
              <a:defRPr sz="4500" b="1">
                <a:solidFill>
                  <a:srgbClr val="B6EDE0"/>
                </a:solidFill>
              </a:defRPr>
            </a:lvl1pPr>
            <a:lvl2pPr>
              <a:defRPr sz="4500" b="1">
                <a:solidFill>
                  <a:srgbClr val="B6EDE0"/>
                </a:solidFill>
              </a:defRPr>
            </a:lvl2pPr>
            <a:lvl3pPr>
              <a:defRPr sz="4500" b="1">
                <a:solidFill>
                  <a:srgbClr val="B6EDE0"/>
                </a:solidFill>
              </a:defRPr>
            </a:lvl3pPr>
            <a:lvl4pPr>
              <a:defRPr sz="4500" b="1">
                <a:solidFill>
                  <a:srgbClr val="B6EDE0"/>
                </a:solidFill>
              </a:defRPr>
            </a:lvl4pPr>
            <a:lvl5pPr>
              <a:defRPr sz="4500" b="1">
                <a:solidFill>
                  <a:srgbClr val="B6EDE0"/>
                </a:solidFill>
              </a:defRPr>
            </a:lvl5pPr>
            <a:lvl6pPr>
              <a:defRPr sz="4500" b="1">
                <a:solidFill>
                  <a:srgbClr val="B6EDE0"/>
                </a:solidFill>
              </a:defRPr>
            </a:lvl6pPr>
            <a:lvl7pPr>
              <a:defRPr sz="4500" b="1">
                <a:solidFill>
                  <a:srgbClr val="B6EDE0"/>
                </a:solidFill>
              </a:defRPr>
            </a:lvl7pPr>
            <a:lvl8pPr>
              <a:defRPr sz="4500" b="1">
                <a:solidFill>
                  <a:srgbClr val="B6EDE0"/>
                </a:solidFill>
              </a:defRPr>
            </a:lvl8pPr>
            <a:lvl9pPr>
              <a:defRPr sz="4500" b="1">
                <a:solidFill>
                  <a:srgbClr val="B6EDE0"/>
                </a:solidFill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B6EDE0"/>
                </a:solidFill>
              </a:defRPr>
            </a:pPr>
            <a:r>
              <a:rPr sz="4500" b="1">
                <a:solidFill>
                  <a:srgbClr val="B6EDE0"/>
                </a:solidFill>
              </a:rPr>
              <a:t>Dados disponíveis.</a:t>
            </a:r>
          </a:p>
          <a:p xmlns:a="http://schemas.openxmlformats.org/drawingml/2006/main">
            <a:pPr>
              <a:defRPr sz="4500" b="1">
                <a:solidFill>
                  <a:srgbClr val="B6EDE0"/>
                </a:solidFill>
              </a:defRPr>
            </a:pPr>
            <a:r>
              <a:rPr sz="4500" b="1">
                <a:solidFill>
                  <a:srgbClr val="B6EDE0"/>
                </a:solidFill>
              </a:rPr>
              <a:t>Leitura fragmentada.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3F3D78-A564-4A02-9CA2-B1AC6ED6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10048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FFFFF"/>
                </a:solidFill>
              </a:defRPr>
            </a:defPPr>
            <a:lvl1pPr>
              <a:defRPr sz="2250" b="0">
                <a:solidFill>
                  <a:srgbClr val="FFFFFF"/>
                </a:solidFill>
              </a:defRPr>
            </a:lvl1pPr>
            <a:lvl2pPr>
              <a:defRPr sz="2250" b="0">
                <a:solidFill>
                  <a:srgbClr val="FFFFFF"/>
                </a:solidFill>
              </a:defRPr>
            </a:lvl2pPr>
            <a:lvl3pPr>
              <a:defRPr sz="2250" b="0">
                <a:solidFill>
                  <a:srgbClr val="FFFFFF"/>
                </a:solidFill>
              </a:defRPr>
            </a:lvl3pPr>
            <a:lvl4pPr>
              <a:defRPr sz="2250" b="0">
                <a:solidFill>
                  <a:srgbClr val="FFFFFF"/>
                </a:solidFill>
              </a:defRPr>
            </a:lvl4pPr>
            <a:lvl5pPr>
              <a:defRPr sz="2250" b="0">
                <a:solidFill>
                  <a:srgbClr val="FFFFFF"/>
                </a:solidFill>
              </a:defRPr>
            </a:lvl5pPr>
            <a:lvl6pPr>
              <a:defRPr sz="2250" b="0">
                <a:solidFill>
                  <a:srgbClr val="FFFFFF"/>
                </a:solidFill>
              </a:defRPr>
            </a:lvl6pPr>
            <a:lvl7pPr>
              <a:defRPr sz="2250" b="0">
                <a:solidFill>
                  <a:srgbClr val="FFFFFF"/>
                </a:solidFill>
              </a:defRPr>
            </a:lvl7pPr>
            <a:lvl8pPr>
              <a:defRPr sz="2250" b="0">
                <a:solidFill>
                  <a:srgbClr val="FFFFFF"/>
                </a:solidFill>
              </a:defRPr>
            </a:lvl8pPr>
            <a:lvl9pPr>
              <a:defRPr sz="22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</a:defRPr>
            </a:pPr>
            <a:r>
              <a:rPr sz="2250" b="0">
                <a:solidFill>
                  <a:srgbClr val="FFFFFF"/>
                </a:solidFill>
              </a:rPr>
              <a:t>Fluxo, gasometria, temperatura e tempo descrevem dimensões diferentes da perfusão. O projeto reúne essas informações em um mesmo caso.</a:t>
            </a:r>
          </a:p>
        </p:txBody>
      </p:sp>
    </p:spTree>
    <p:extLst>
      <p:ext uri="{BB962C8B-B14F-4D97-AF65-F5344CB8AC3E}">
        <p14:creationId xmlns:p14="http://schemas.microsoft.com/office/powerpoint/2010/main" val="18142835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331F2B-A006-4D1F-B463-EA41335F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10744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33D"/>
                </a:solidFill>
              </a:defRPr>
            </a:defPPr>
            <a:lvl1pPr>
              <a:defRPr sz="3450" b="1">
                <a:solidFill>
                  <a:srgbClr val="18333D"/>
                </a:solidFill>
              </a:defRPr>
            </a:lvl1pPr>
            <a:lvl2pPr>
              <a:defRPr sz="3450" b="1">
                <a:solidFill>
                  <a:srgbClr val="18333D"/>
                </a:solidFill>
              </a:defRPr>
            </a:lvl2pPr>
            <a:lvl3pPr>
              <a:defRPr sz="3450" b="1">
                <a:solidFill>
                  <a:srgbClr val="18333D"/>
                </a:solidFill>
              </a:defRPr>
            </a:lvl3pPr>
            <a:lvl4pPr>
              <a:defRPr sz="3450" b="1">
                <a:solidFill>
                  <a:srgbClr val="18333D"/>
                </a:solidFill>
              </a:defRPr>
            </a:lvl4pPr>
            <a:lvl5pPr>
              <a:defRPr sz="3450" b="1">
                <a:solidFill>
                  <a:srgbClr val="18333D"/>
                </a:solidFill>
              </a:defRPr>
            </a:lvl5pPr>
            <a:lvl6pPr>
              <a:defRPr sz="3450" b="1">
                <a:solidFill>
                  <a:srgbClr val="18333D"/>
                </a:solidFill>
              </a:defRPr>
            </a:lvl6pPr>
            <a:lvl7pPr>
              <a:defRPr sz="3450" b="1">
                <a:solidFill>
                  <a:srgbClr val="18333D"/>
                </a:solidFill>
              </a:defRPr>
            </a:lvl7pPr>
            <a:lvl8pPr>
              <a:defRPr sz="3450" b="1">
                <a:solidFill>
                  <a:srgbClr val="18333D"/>
                </a:solidFill>
              </a:defRPr>
            </a:lvl8pPr>
            <a:lvl9pPr>
              <a:defRPr sz="3450" b="1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33D"/>
                </a:solidFill>
              </a:defRPr>
            </a:pPr>
            <a:r>
              <a:rPr sz="3450" b="1">
                <a:solidFill>
                  <a:srgbClr val="18333D"/>
                </a:solidFill>
              </a:rPr>
              <a:t>O que é o PerfuseLab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BB107A-D313-4A8D-A123-6E5174B8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E75"/>
                </a:solidFill>
              </a:defRPr>
            </a:defPPr>
            <a:lvl1pPr>
              <a:defRPr sz="1275" b="0">
                <a:solidFill>
                  <a:srgbClr val="536E75"/>
                </a:solidFill>
              </a:defRPr>
            </a:lvl1pPr>
            <a:lvl2pPr>
              <a:defRPr sz="1275" b="0">
                <a:solidFill>
                  <a:srgbClr val="536E75"/>
                </a:solidFill>
              </a:defRPr>
            </a:lvl2pPr>
            <a:lvl3pPr>
              <a:defRPr sz="1275" b="0">
                <a:solidFill>
                  <a:srgbClr val="536E75"/>
                </a:solidFill>
              </a:defRPr>
            </a:lvl3pPr>
            <a:lvl4pPr>
              <a:defRPr sz="1275" b="0">
                <a:solidFill>
                  <a:srgbClr val="536E75"/>
                </a:solidFill>
              </a:defRPr>
            </a:lvl4pPr>
            <a:lvl5pPr>
              <a:defRPr sz="1275" b="0">
                <a:solidFill>
                  <a:srgbClr val="536E75"/>
                </a:solidFill>
              </a:defRPr>
            </a:lvl5pPr>
            <a:lvl6pPr>
              <a:defRPr sz="1275" b="0">
                <a:solidFill>
                  <a:srgbClr val="536E75"/>
                </a:solidFill>
              </a:defRPr>
            </a:lvl6pPr>
            <a:lvl7pPr>
              <a:defRPr sz="1275" b="0">
                <a:solidFill>
                  <a:srgbClr val="536E75"/>
                </a:solidFill>
              </a:defRPr>
            </a:lvl7pPr>
            <a:lvl8pPr>
              <a:defRPr sz="1275" b="0">
                <a:solidFill>
                  <a:srgbClr val="536E75"/>
                </a:solidFill>
              </a:defRPr>
            </a:lvl8pPr>
            <a:lvl9pPr>
              <a:defRPr sz="1275" b="0">
                <a:solidFill>
                  <a:srgbClr val="536E7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E75"/>
                </a:solidFill>
              </a:defRPr>
            </a:pPr>
            <a:r>
              <a:rPr sz="1275" b="0">
                <a:solidFill>
                  <a:srgbClr val="536E75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E8B091-658C-4477-914F-F34CFCDB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87D79"/>
                </a:solidFill>
              </a:defRPr>
            </a:defPPr>
            <a:lvl1pPr>
              <a:defRPr sz="2325" b="1">
                <a:solidFill>
                  <a:srgbClr val="087D79"/>
                </a:solidFill>
              </a:defRPr>
            </a:lvl1pPr>
            <a:lvl2pPr>
              <a:defRPr sz="2325" b="1">
                <a:solidFill>
                  <a:srgbClr val="087D79"/>
                </a:solidFill>
              </a:defRPr>
            </a:lvl2pPr>
            <a:lvl3pPr>
              <a:defRPr sz="2325" b="1">
                <a:solidFill>
                  <a:srgbClr val="087D79"/>
                </a:solidFill>
              </a:defRPr>
            </a:lvl3pPr>
            <a:lvl4pPr>
              <a:defRPr sz="2325" b="1">
                <a:solidFill>
                  <a:srgbClr val="087D79"/>
                </a:solidFill>
              </a:defRPr>
            </a:lvl4pPr>
            <a:lvl5pPr>
              <a:defRPr sz="2325" b="1">
                <a:solidFill>
                  <a:srgbClr val="087D79"/>
                </a:solidFill>
              </a:defRPr>
            </a:lvl5pPr>
            <a:lvl6pPr>
              <a:defRPr sz="2325" b="1">
                <a:solidFill>
                  <a:srgbClr val="087D79"/>
                </a:solidFill>
              </a:defRPr>
            </a:lvl6pPr>
            <a:lvl7pPr>
              <a:defRPr sz="2325" b="1">
                <a:solidFill>
                  <a:srgbClr val="087D79"/>
                </a:solidFill>
              </a:defRPr>
            </a:lvl7pPr>
            <a:lvl8pPr>
              <a:defRPr sz="2325" b="1">
                <a:solidFill>
                  <a:srgbClr val="087D79"/>
                </a:solidFill>
              </a:defRPr>
            </a:lvl8pPr>
            <a:lvl9pPr>
              <a:defRPr sz="2325" b="1">
                <a:solidFill>
                  <a:srgbClr val="087D79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D79"/>
                </a:solidFill>
              </a:defRPr>
            </a:pPr>
            <a:r>
              <a:rPr sz="2325" b="1">
                <a:solidFill>
                  <a:srgbClr val="087D79"/>
                </a:solidFill>
              </a:rPr>
              <a:t>Aplicação web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CD1058-D338-4764-B335-18609696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4857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33D"/>
                </a:solidFill>
              </a:defRPr>
            </a:defPPr>
            <a:lvl1pPr>
              <a:defRPr sz="2175" b="0">
                <a:solidFill>
                  <a:srgbClr val="18333D"/>
                </a:solidFill>
              </a:defRPr>
            </a:lvl1pPr>
            <a:lvl2pPr>
              <a:defRPr sz="2175" b="0">
                <a:solidFill>
                  <a:srgbClr val="18333D"/>
                </a:solidFill>
              </a:defRPr>
            </a:lvl2pPr>
            <a:lvl3pPr>
              <a:defRPr sz="2175" b="0">
                <a:solidFill>
                  <a:srgbClr val="18333D"/>
                </a:solidFill>
              </a:defRPr>
            </a:lvl3pPr>
            <a:lvl4pPr>
              <a:defRPr sz="2175" b="0">
                <a:solidFill>
                  <a:srgbClr val="18333D"/>
                </a:solidFill>
              </a:defRPr>
            </a:lvl4pPr>
            <a:lvl5pPr>
              <a:defRPr sz="2175" b="0">
                <a:solidFill>
                  <a:srgbClr val="18333D"/>
                </a:solidFill>
              </a:defRPr>
            </a:lvl5pPr>
            <a:lvl6pPr>
              <a:defRPr sz="2175" b="0">
                <a:solidFill>
                  <a:srgbClr val="18333D"/>
                </a:solidFill>
              </a:defRPr>
            </a:lvl6pPr>
            <a:lvl7pPr>
              <a:defRPr sz="2175" b="0">
                <a:solidFill>
                  <a:srgbClr val="18333D"/>
                </a:solidFill>
              </a:defRPr>
            </a:lvl7pPr>
            <a:lvl8pPr>
              <a:defRPr sz="2175" b="0">
                <a:solidFill>
                  <a:srgbClr val="18333D"/>
                </a:solidFill>
              </a:defRPr>
            </a:lvl8pPr>
            <a:lvl9pPr>
              <a:defRPr sz="2175" b="0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33D"/>
                </a:solidFill>
              </a:defRPr>
            </a:pPr>
            <a:r>
              <a:rPr sz="2175" b="0">
                <a:solidFill>
                  <a:srgbClr val="18333D"/>
                </a:solidFill>
              </a:rPr>
              <a:t>Planejamento pré-CEC, entrada de exames, cálculos e visualização de séries temporais.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786790-4C62-459F-8FC1-BDC6EDD3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0025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87D79"/>
                </a:solidFill>
              </a:defRPr>
            </a:defPPr>
            <a:lvl1pPr>
              <a:defRPr sz="2325" b="1">
                <a:solidFill>
                  <a:srgbClr val="087D79"/>
                </a:solidFill>
              </a:defRPr>
            </a:lvl1pPr>
            <a:lvl2pPr>
              <a:defRPr sz="2325" b="1">
                <a:solidFill>
                  <a:srgbClr val="087D79"/>
                </a:solidFill>
              </a:defRPr>
            </a:lvl2pPr>
            <a:lvl3pPr>
              <a:defRPr sz="2325" b="1">
                <a:solidFill>
                  <a:srgbClr val="087D79"/>
                </a:solidFill>
              </a:defRPr>
            </a:lvl3pPr>
            <a:lvl4pPr>
              <a:defRPr sz="2325" b="1">
                <a:solidFill>
                  <a:srgbClr val="087D79"/>
                </a:solidFill>
              </a:defRPr>
            </a:lvl4pPr>
            <a:lvl5pPr>
              <a:defRPr sz="2325" b="1">
                <a:solidFill>
                  <a:srgbClr val="087D79"/>
                </a:solidFill>
              </a:defRPr>
            </a:lvl5pPr>
            <a:lvl6pPr>
              <a:defRPr sz="2325" b="1">
                <a:solidFill>
                  <a:srgbClr val="087D79"/>
                </a:solidFill>
              </a:defRPr>
            </a:lvl6pPr>
            <a:lvl7pPr>
              <a:defRPr sz="2325" b="1">
                <a:solidFill>
                  <a:srgbClr val="087D79"/>
                </a:solidFill>
              </a:defRPr>
            </a:lvl7pPr>
            <a:lvl8pPr>
              <a:defRPr sz="2325" b="1">
                <a:solidFill>
                  <a:srgbClr val="087D79"/>
                </a:solidFill>
              </a:defRPr>
            </a:lvl8pPr>
            <a:lvl9pPr>
              <a:defRPr sz="2325" b="1">
                <a:solidFill>
                  <a:srgbClr val="087D79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D79"/>
                </a:solidFill>
              </a:defRPr>
            </a:pPr>
            <a:r>
              <a:rPr sz="2325" b="1">
                <a:solidFill>
                  <a:srgbClr val="087D79"/>
                </a:solidFill>
              </a:rPr>
              <a:t>Projeto em desenvolvimento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3CCB5E-37B1-4D4E-B393-5CFC7411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62250"/>
            <a:ext cx="4857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33D"/>
                </a:solidFill>
              </a:defRPr>
            </a:defPPr>
            <a:lvl1pPr>
              <a:defRPr sz="2175" b="0">
                <a:solidFill>
                  <a:srgbClr val="18333D"/>
                </a:solidFill>
              </a:defRPr>
            </a:lvl1pPr>
            <a:lvl2pPr>
              <a:defRPr sz="2175" b="0">
                <a:solidFill>
                  <a:srgbClr val="18333D"/>
                </a:solidFill>
              </a:defRPr>
            </a:lvl2pPr>
            <a:lvl3pPr>
              <a:defRPr sz="2175" b="0">
                <a:solidFill>
                  <a:srgbClr val="18333D"/>
                </a:solidFill>
              </a:defRPr>
            </a:lvl3pPr>
            <a:lvl4pPr>
              <a:defRPr sz="2175" b="0">
                <a:solidFill>
                  <a:srgbClr val="18333D"/>
                </a:solidFill>
              </a:defRPr>
            </a:lvl4pPr>
            <a:lvl5pPr>
              <a:defRPr sz="2175" b="0">
                <a:solidFill>
                  <a:srgbClr val="18333D"/>
                </a:solidFill>
              </a:defRPr>
            </a:lvl5pPr>
            <a:lvl6pPr>
              <a:defRPr sz="2175" b="0">
                <a:solidFill>
                  <a:srgbClr val="18333D"/>
                </a:solidFill>
              </a:defRPr>
            </a:lvl6pPr>
            <a:lvl7pPr>
              <a:defRPr sz="2175" b="0">
                <a:solidFill>
                  <a:srgbClr val="18333D"/>
                </a:solidFill>
              </a:defRPr>
            </a:lvl7pPr>
            <a:lvl8pPr>
              <a:defRPr sz="2175" b="0">
                <a:solidFill>
                  <a:srgbClr val="18333D"/>
                </a:solidFill>
              </a:defRPr>
            </a:lvl8pPr>
            <a:lvl9pPr>
              <a:defRPr sz="2175" b="0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33D"/>
                </a:solidFill>
              </a:defRPr>
            </a:pPr>
            <a:r>
              <a:rPr sz="2175" b="0">
                <a:solidFill>
                  <a:srgbClr val="18333D"/>
                </a:solidFill>
              </a:rPr>
              <a:t>Ferramenta de organização e estudo de dados, com regras explícitas e rastreáveis.</a:t>
            </a:r>
          </a:p>
        </p:txBody>
      </p:sp>
    </p:spTree>
    <p:extLst>
      <p:ext uri="{BB962C8B-B14F-4D97-AF65-F5344CB8AC3E}">
        <p14:creationId xmlns:p14="http://schemas.microsoft.com/office/powerpoint/2010/main" val="12411800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8B2FA7-1DD8-4EEB-B1DF-E070A7C4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10744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33D"/>
                </a:solidFill>
              </a:defRPr>
            </a:defPPr>
            <a:lvl1pPr>
              <a:defRPr sz="3450" b="1">
                <a:solidFill>
                  <a:srgbClr val="18333D"/>
                </a:solidFill>
              </a:defRPr>
            </a:lvl1pPr>
            <a:lvl2pPr>
              <a:defRPr sz="3450" b="1">
                <a:solidFill>
                  <a:srgbClr val="18333D"/>
                </a:solidFill>
              </a:defRPr>
            </a:lvl2pPr>
            <a:lvl3pPr>
              <a:defRPr sz="3450" b="1">
                <a:solidFill>
                  <a:srgbClr val="18333D"/>
                </a:solidFill>
              </a:defRPr>
            </a:lvl3pPr>
            <a:lvl4pPr>
              <a:defRPr sz="3450" b="1">
                <a:solidFill>
                  <a:srgbClr val="18333D"/>
                </a:solidFill>
              </a:defRPr>
            </a:lvl4pPr>
            <a:lvl5pPr>
              <a:defRPr sz="3450" b="1">
                <a:solidFill>
                  <a:srgbClr val="18333D"/>
                </a:solidFill>
              </a:defRPr>
            </a:lvl5pPr>
            <a:lvl6pPr>
              <a:defRPr sz="3450" b="1">
                <a:solidFill>
                  <a:srgbClr val="18333D"/>
                </a:solidFill>
              </a:defRPr>
            </a:lvl6pPr>
            <a:lvl7pPr>
              <a:defRPr sz="3450" b="1">
                <a:solidFill>
                  <a:srgbClr val="18333D"/>
                </a:solidFill>
              </a:defRPr>
            </a:lvl7pPr>
            <a:lvl8pPr>
              <a:defRPr sz="3450" b="1">
                <a:solidFill>
                  <a:srgbClr val="18333D"/>
                </a:solidFill>
              </a:defRPr>
            </a:lvl8pPr>
            <a:lvl9pPr>
              <a:defRPr sz="3450" b="1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33D"/>
                </a:solidFill>
              </a:defRPr>
            </a:pPr>
            <a:r>
              <a:rPr sz="3450" b="1">
                <a:solidFill>
                  <a:srgbClr val="18333D"/>
                </a:solidFill>
              </a:rPr>
              <a:t>Objetivo e escopo atual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042945-9865-4FC2-89B3-8DFF4EE5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E75"/>
                </a:solidFill>
              </a:defRPr>
            </a:defPPr>
            <a:lvl1pPr>
              <a:defRPr sz="1275" b="0">
                <a:solidFill>
                  <a:srgbClr val="536E75"/>
                </a:solidFill>
              </a:defRPr>
            </a:lvl1pPr>
            <a:lvl2pPr>
              <a:defRPr sz="1275" b="0">
                <a:solidFill>
                  <a:srgbClr val="536E75"/>
                </a:solidFill>
              </a:defRPr>
            </a:lvl2pPr>
            <a:lvl3pPr>
              <a:defRPr sz="1275" b="0">
                <a:solidFill>
                  <a:srgbClr val="536E75"/>
                </a:solidFill>
              </a:defRPr>
            </a:lvl3pPr>
            <a:lvl4pPr>
              <a:defRPr sz="1275" b="0">
                <a:solidFill>
                  <a:srgbClr val="536E75"/>
                </a:solidFill>
              </a:defRPr>
            </a:lvl4pPr>
            <a:lvl5pPr>
              <a:defRPr sz="1275" b="0">
                <a:solidFill>
                  <a:srgbClr val="536E75"/>
                </a:solidFill>
              </a:defRPr>
            </a:lvl5pPr>
            <a:lvl6pPr>
              <a:defRPr sz="1275" b="0">
                <a:solidFill>
                  <a:srgbClr val="536E75"/>
                </a:solidFill>
              </a:defRPr>
            </a:lvl6pPr>
            <a:lvl7pPr>
              <a:defRPr sz="1275" b="0">
                <a:solidFill>
                  <a:srgbClr val="536E75"/>
                </a:solidFill>
              </a:defRPr>
            </a:lvl7pPr>
            <a:lvl8pPr>
              <a:defRPr sz="1275" b="0">
                <a:solidFill>
                  <a:srgbClr val="536E75"/>
                </a:solidFill>
              </a:defRPr>
            </a:lvl8pPr>
            <a:lvl9pPr>
              <a:defRPr sz="1275" b="0">
                <a:solidFill>
                  <a:srgbClr val="536E7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E75"/>
                </a:solidFill>
              </a:defRPr>
            </a:pPr>
            <a:r>
              <a:rPr sz="1275" b="0">
                <a:solidFill>
                  <a:srgbClr val="536E75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AE63B-BDFE-4C08-A05F-703BAE74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87D79"/>
                </a:solidFill>
              </a:defRPr>
            </a:defPPr>
            <a:lvl1pPr>
              <a:defRPr sz="2325" b="1">
                <a:solidFill>
                  <a:srgbClr val="087D79"/>
                </a:solidFill>
              </a:defRPr>
            </a:lvl1pPr>
            <a:lvl2pPr>
              <a:defRPr sz="2325" b="1">
                <a:solidFill>
                  <a:srgbClr val="087D79"/>
                </a:solidFill>
              </a:defRPr>
            </a:lvl2pPr>
            <a:lvl3pPr>
              <a:defRPr sz="2325" b="1">
                <a:solidFill>
                  <a:srgbClr val="087D79"/>
                </a:solidFill>
              </a:defRPr>
            </a:lvl3pPr>
            <a:lvl4pPr>
              <a:defRPr sz="2325" b="1">
                <a:solidFill>
                  <a:srgbClr val="087D79"/>
                </a:solidFill>
              </a:defRPr>
            </a:lvl4pPr>
            <a:lvl5pPr>
              <a:defRPr sz="2325" b="1">
                <a:solidFill>
                  <a:srgbClr val="087D79"/>
                </a:solidFill>
              </a:defRPr>
            </a:lvl5pPr>
            <a:lvl6pPr>
              <a:defRPr sz="2325" b="1">
                <a:solidFill>
                  <a:srgbClr val="087D79"/>
                </a:solidFill>
              </a:defRPr>
            </a:lvl6pPr>
            <a:lvl7pPr>
              <a:defRPr sz="2325" b="1">
                <a:solidFill>
                  <a:srgbClr val="087D79"/>
                </a:solidFill>
              </a:defRPr>
            </a:lvl7pPr>
            <a:lvl8pPr>
              <a:defRPr sz="2325" b="1">
                <a:solidFill>
                  <a:srgbClr val="087D79"/>
                </a:solidFill>
              </a:defRPr>
            </a:lvl8pPr>
            <a:lvl9pPr>
              <a:defRPr sz="2325" b="1">
                <a:solidFill>
                  <a:srgbClr val="087D79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D79"/>
                </a:solidFill>
              </a:defRPr>
            </a:pPr>
            <a:r>
              <a:rPr sz="2325" b="1">
                <a:solidFill>
                  <a:srgbClr val="087D79"/>
                </a:solidFill>
              </a:rPr>
              <a:t>Objetivo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DF1966-2A5C-446D-A00E-3AAFB85C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4857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33D"/>
                </a:solidFill>
              </a:defRPr>
            </a:defPPr>
            <a:lvl1pPr>
              <a:defRPr sz="2175" b="0">
                <a:solidFill>
                  <a:srgbClr val="18333D"/>
                </a:solidFill>
              </a:defRPr>
            </a:lvl1pPr>
            <a:lvl2pPr>
              <a:defRPr sz="2175" b="0">
                <a:solidFill>
                  <a:srgbClr val="18333D"/>
                </a:solidFill>
              </a:defRPr>
            </a:lvl2pPr>
            <a:lvl3pPr>
              <a:defRPr sz="2175" b="0">
                <a:solidFill>
                  <a:srgbClr val="18333D"/>
                </a:solidFill>
              </a:defRPr>
            </a:lvl3pPr>
            <a:lvl4pPr>
              <a:defRPr sz="2175" b="0">
                <a:solidFill>
                  <a:srgbClr val="18333D"/>
                </a:solidFill>
              </a:defRPr>
            </a:lvl4pPr>
            <a:lvl5pPr>
              <a:defRPr sz="2175" b="0">
                <a:solidFill>
                  <a:srgbClr val="18333D"/>
                </a:solidFill>
              </a:defRPr>
            </a:lvl5pPr>
            <a:lvl6pPr>
              <a:defRPr sz="2175" b="0">
                <a:solidFill>
                  <a:srgbClr val="18333D"/>
                </a:solidFill>
              </a:defRPr>
            </a:lvl6pPr>
            <a:lvl7pPr>
              <a:defRPr sz="2175" b="0">
                <a:solidFill>
                  <a:srgbClr val="18333D"/>
                </a:solidFill>
              </a:defRPr>
            </a:lvl7pPr>
            <a:lvl8pPr>
              <a:defRPr sz="2175" b="0">
                <a:solidFill>
                  <a:srgbClr val="18333D"/>
                </a:solidFill>
              </a:defRPr>
            </a:lvl8pPr>
            <a:lvl9pPr>
              <a:defRPr sz="2175" b="0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33D"/>
                </a:solidFill>
              </a:defRPr>
            </a:pPr>
            <a:r>
              <a:rPr sz="2175" b="0">
                <a:solidFill>
                  <a:srgbClr val="18333D"/>
                </a:solidFill>
              </a:rPr>
              <a:t>Apoiar a compreensão das relações entre variáveis e a revisão estruturada do caso.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832851-434D-4A2B-87A2-032BA3CD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0025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87D79"/>
                </a:solidFill>
              </a:defRPr>
            </a:defPPr>
            <a:lvl1pPr>
              <a:defRPr sz="2325" b="1">
                <a:solidFill>
                  <a:srgbClr val="087D79"/>
                </a:solidFill>
              </a:defRPr>
            </a:lvl1pPr>
            <a:lvl2pPr>
              <a:defRPr sz="2325" b="1">
                <a:solidFill>
                  <a:srgbClr val="087D79"/>
                </a:solidFill>
              </a:defRPr>
            </a:lvl2pPr>
            <a:lvl3pPr>
              <a:defRPr sz="2325" b="1">
                <a:solidFill>
                  <a:srgbClr val="087D79"/>
                </a:solidFill>
              </a:defRPr>
            </a:lvl3pPr>
            <a:lvl4pPr>
              <a:defRPr sz="2325" b="1">
                <a:solidFill>
                  <a:srgbClr val="087D79"/>
                </a:solidFill>
              </a:defRPr>
            </a:lvl4pPr>
            <a:lvl5pPr>
              <a:defRPr sz="2325" b="1">
                <a:solidFill>
                  <a:srgbClr val="087D79"/>
                </a:solidFill>
              </a:defRPr>
            </a:lvl5pPr>
            <a:lvl6pPr>
              <a:defRPr sz="2325" b="1">
                <a:solidFill>
                  <a:srgbClr val="087D79"/>
                </a:solidFill>
              </a:defRPr>
            </a:lvl6pPr>
            <a:lvl7pPr>
              <a:defRPr sz="2325" b="1">
                <a:solidFill>
                  <a:srgbClr val="087D79"/>
                </a:solidFill>
              </a:defRPr>
            </a:lvl7pPr>
            <a:lvl8pPr>
              <a:defRPr sz="2325" b="1">
                <a:solidFill>
                  <a:srgbClr val="087D79"/>
                </a:solidFill>
              </a:defRPr>
            </a:lvl8pPr>
            <a:lvl9pPr>
              <a:defRPr sz="2325" b="1">
                <a:solidFill>
                  <a:srgbClr val="087D79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D79"/>
                </a:solidFill>
              </a:defRPr>
            </a:pPr>
            <a:r>
              <a:rPr sz="2325" b="1">
                <a:solidFill>
                  <a:srgbClr val="087D79"/>
                </a:solidFill>
              </a:rPr>
              <a:t>Escopo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E5712D-BE0A-4A00-BBDE-0619972D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62250"/>
            <a:ext cx="4857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33D"/>
                </a:solidFill>
              </a:defRPr>
            </a:defPPr>
            <a:lvl1pPr>
              <a:defRPr sz="2175" b="0">
                <a:solidFill>
                  <a:srgbClr val="18333D"/>
                </a:solidFill>
              </a:defRPr>
            </a:lvl1pPr>
            <a:lvl2pPr>
              <a:defRPr sz="2175" b="0">
                <a:solidFill>
                  <a:srgbClr val="18333D"/>
                </a:solidFill>
              </a:defRPr>
            </a:lvl2pPr>
            <a:lvl3pPr>
              <a:defRPr sz="2175" b="0">
                <a:solidFill>
                  <a:srgbClr val="18333D"/>
                </a:solidFill>
              </a:defRPr>
            </a:lvl3pPr>
            <a:lvl4pPr>
              <a:defRPr sz="2175" b="0">
                <a:solidFill>
                  <a:srgbClr val="18333D"/>
                </a:solidFill>
              </a:defRPr>
            </a:lvl4pPr>
            <a:lvl5pPr>
              <a:defRPr sz="2175" b="0">
                <a:solidFill>
                  <a:srgbClr val="18333D"/>
                </a:solidFill>
              </a:defRPr>
            </a:lvl5pPr>
            <a:lvl6pPr>
              <a:defRPr sz="2175" b="0">
                <a:solidFill>
                  <a:srgbClr val="18333D"/>
                </a:solidFill>
              </a:defRPr>
            </a:lvl6pPr>
            <a:lvl7pPr>
              <a:defRPr sz="2175" b="0">
                <a:solidFill>
                  <a:srgbClr val="18333D"/>
                </a:solidFill>
              </a:defRPr>
            </a:lvl7pPr>
            <a:lvl8pPr>
              <a:defRPr sz="2175" b="0">
                <a:solidFill>
                  <a:srgbClr val="18333D"/>
                </a:solidFill>
              </a:defRPr>
            </a:lvl8pPr>
            <a:lvl9pPr>
              <a:defRPr sz="2175" b="0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33D"/>
                </a:solidFill>
              </a:defRPr>
            </a:pPr>
            <a:r>
              <a:rPr sz="2175" b="0">
                <a:solidFill>
                  <a:srgbClr val="18333D"/>
                </a:solidFill>
              </a:rPr>
              <a:t>Entrada pré-CEC para adultos. Importação de casos, monitorização, checklist e relatórios.</a:t>
            </a:r>
          </a:p>
        </p:txBody>
      </p:sp>
    </p:spTree>
    <p:extLst>
      <p:ext uri="{BB962C8B-B14F-4D97-AF65-F5344CB8AC3E}">
        <p14:creationId xmlns:p14="http://schemas.microsoft.com/office/powerpoint/2010/main" val="4846224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DC5581-56A6-4AE8-8033-E030AE8F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10744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33D"/>
                </a:solidFill>
              </a:defRPr>
            </a:defPPr>
            <a:lvl1pPr>
              <a:defRPr sz="3450" b="1">
                <a:solidFill>
                  <a:srgbClr val="18333D"/>
                </a:solidFill>
              </a:defRPr>
            </a:lvl1pPr>
            <a:lvl2pPr>
              <a:defRPr sz="3450" b="1">
                <a:solidFill>
                  <a:srgbClr val="18333D"/>
                </a:solidFill>
              </a:defRPr>
            </a:lvl2pPr>
            <a:lvl3pPr>
              <a:defRPr sz="3450" b="1">
                <a:solidFill>
                  <a:srgbClr val="18333D"/>
                </a:solidFill>
              </a:defRPr>
            </a:lvl3pPr>
            <a:lvl4pPr>
              <a:defRPr sz="3450" b="1">
                <a:solidFill>
                  <a:srgbClr val="18333D"/>
                </a:solidFill>
              </a:defRPr>
            </a:lvl4pPr>
            <a:lvl5pPr>
              <a:defRPr sz="3450" b="1">
                <a:solidFill>
                  <a:srgbClr val="18333D"/>
                </a:solidFill>
              </a:defRPr>
            </a:lvl5pPr>
            <a:lvl6pPr>
              <a:defRPr sz="3450" b="1">
                <a:solidFill>
                  <a:srgbClr val="18333D"/>
                </a:solidFill>
              </a:defRPr>
            </a:lvl6pPr>
            <a:lvl7pPr>
              <a:defRPr sz="3450" b="1">
                <a:solidFill>
                  <a:srgbClr val="18333D"/>
                </a:solidFill>
              </a:defRPr>
            </a:lvl7pPr>
            <a:lvl8pPr>
              <a:defRPr sz="3450" b="1">
                <a:solidFill>
                  <a:srgbClr val="18333D"/>
                </a:solidFill>
              </a:defRPr>
            </a:lvl8pPr>
            <a:lvl9pPr>
              <a:defRPr sz="3450" b="1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33D"/>
                </a:solidFill>
              </a:defRPr>
            </a:pPr>
            <a:r>
              <a:rPr sz="3450" b="1">
                <a:solidFill>
                  <a:srgbClr val="18333D"/>
                </a:solidFill>
              </a:rPr>
              <a:t>Fluxo de uso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533905-B916-49D6-A002-FE8318FC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E75"/>
                </a:solidFill>
              </a:defRPr>
            </a:defPPr>
            <a:lvl1pPr>
              <a:defRPr sz="1275" b="0">
                <a:solidFill>
                  <a:srgbClr val="536E75"/>
                </a:solidFill>
              </a:defRPr>
            </a:lvl1pPr>
            <a:lvl2pPr>
              <a:defRPr sz="1275" b="0">
                <a:solidFill>
                  <a:srgbClr val="536E75"/>
                </a:solidFill>
              </a:defRPr>
            </a:lvl2pPr>
            <a:lvl3pPr>
              <a:defRPr sz="1275" b="0">
                <a:solidFill>
                  <a:srgbClr val="536E75"/>
                </a:solidFill>
              </a:defRPr>
            </a:lvl3pPr>
            <a:lvl4pPr>
              <a:defRPr sz="1275" b="0">
                <a:solidFill>
                  <a:srgbClr val="536E75"/>
                </a:solidFill>
              </a:defRPr>
            </a:lvl4pPr>
            <a:lvl5pPr>
              <a:defRPr sz="1275" b="0">
                <a:solidFill>
                  <a:srgbClr val="536E75"/>
                </a:solidFill>
              </a:defRPr>
            </a:lvl5pPr>
            <a:lvl6pPr>
              <a:defRPr sz="1275" b="0">
                <a:solidFill>
                  <a:srgbClr val="536E75"/>
                </a:solidFill>
              </a:defRPr>
            </a:lvl6pPr>
            <a:lvl7pPr>
              <a:defRPr sz="1275" b="0">
                <a:solidFill>
                  <a:srgbClr val="536E75"/>
                </a:solidFill>
              </a:defRPr>
            </a:lvl7pPr>
            <a:lvl8pPr>
              <a:defRPr sz="1275" b="0">
                <a:solidFill>
                  <a:srgbClr val="536E75"/>
                </a:solidFill>
              </a:defRPr>
            </a:lvl8pPr>
            <a:lvl9pPr>
              <a:defRPr sz="1275" b="0">
                <a:solidFill>
                  <a:srgbClr val="536E7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E75"/>
                </a:solidFill>
              </a:defRPr>
            </a:pPr>
            <a:r>
              <a:rPr sz="1275" b="0">
                <a:solidFill>
                  <a:srgbClr val="536E75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CC612-B10C-40FE-9F14-BFF92BE6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087D79"/>
                </a:solidFill>
              </a:defRPr>
            </a:defPPr>
            <a:lvl1pPr>
              <a:defRPr sz="4350" b="1">
                <a:solidFill>
                  <a:srgbClr val="087D79"/>
                </a:solidFill>
              </a:defRPr>
            </a:lvl1pPr>
            <a:lvl2pPr>
              <a:defRPr sz="4350" b="1">
                <a:solidFill>
                  <a:srgbClr val="087D79"/>
                </a:solidFill>
              </a:defRPr>
            </a:lvl2pPr>
            <a:lvl3pPr>
              <a:defRPr sz="4350" b="1">
                <a:solidFill>
                  <a:srgbClr val="087D79"/>
                </a:solidFill>
              </a:defRPr>
            </a:lvl3pPr>
            <a:lvl4pPr>
              <a:defRPr sz="4350" b="1">
                <a:solidFill>
                  <a:srgbClr val="087D79"/>
                </a:solidFill>
              </a:defRPr>
            </a:lvl4pPr>
            <a:lvl5pPr>
              <a:defRPr sz="4350" b="1">
                <a:solidFill>
                  <a:srgbClr val="087D79"/>
                </a:solidFill>
              </a:defRPr>
            </a:lvl5pPr>
            <a:lvl6pPr>
              <a:defRPr sz="4350" b="1">
                <a:solidFill>
                  <a:srgbClr val="087D79"/>
                </a:solidFill>
              </a:defRPr>
            </a:lvl6pPr>
            <a:lvl7pPr>
              <a:defRPr sz="4350" b="1">
                <a:solidFill>
                  <a:srgbClr val="087D79"/>
                </a:solidFill>
              </a:defRPr>
            </a:lvl7pPr>
            <a:lvl8pPr>
              <a:defRPr sz="4350" b="1">
                <a:solidFill>
                  <a:srgbClr val="087D79"/>
                </a:solidFill>
              </a:defRPr>
            </a:lvl8pPr>
            <a:lvl9pPr>
              <a:defRPr sz="4350" b="1">
                <a:solidFill>
                  <a:srgbClr val="087D79"/>
                </a:solidFill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087D79"/>
                </a:solidFill>
              </a:defRPr>
            </a:pPr>
            <a:r>
              <a:rPr sz="4350" b="1">
                <a:solidFill>
                  <a:srgbClr val="087D7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5492A8-662B-4D2B-A709-FD7EC2BD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95625"/>
            <a:ext cx="2333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333D"/>
                </a:solidFill>
              </a:defRPr>
            </a:defPPr>
            <a:lvl1pPr>
              <a:defRPr sz="2100" b="1">
                <a:solidFill>
                  <a:srgbClr val="18333D"/>
                </a:solidFill>
              </a:defRPr>
            </a:lvl1pPr>
            <a:lvl2pPr>
              <a:defRPr sz="2100" b="1">
                <a:solidFill>
                  <a:srgbClr val="18333D"/>
                </a:solidFill>
              </a:defRPr>
            </a:lvl2pPr>
            <a:lvl3pPr>
              <a:defRPr sz="2100" b="1">
                <a:solidFill>
                  <a:srgbClr val="18333D"/>
                </a:solidFill>
              </a:defRPr>
            </a:lvl3pPr>
            <a:lvl4pPr>
              <a:defRPr sz="2100" b="1">
                <a:solidFill>
                  <a:srgbClr val="18333D"/>
                </a:solidFill>
              </a:defRPr>
            </a:lvl4pPr>
            <a:lvl5pPr>
              <a:defRPr sz="2100" b="1">
                <a:solidFill>
                  <a:srgbClr val="18333D"/>
                </a:solidFill>
              </a:defRPr>
            </a:lvl5pPr>
            <a:lvl6pPr>
              <a:defRPr sz="2100" b="1">
                <a:solidFill>
                  <a:srgbClr val="18333D"/>
                </a:solidFill>
              </a:defRPr>
            </a:lvl6pPr>
            <a:lvl7pPr>
              <a:defRPr sz="2100" b="1">
                <a:solidFill>
                  <a:srgbClr val="18333D"/>
                </a:solidFill>
              </a:defRPr>
            </a:lvl7pPr>
            <a:lvl8pPr>
              <a:defRPr sz="2100" b="1">
                <a:solidFill>
                  <a:srgbClr val="18333D"/>
                </a:solidFill>
              </a:defRPr>
            </a:lvl8pPr>
            <a:lvl9pPr>
              <a:defRPr sz="2100" b="1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8333D"/>
                </a:solidFill>
              </a:defRPr>
            </a:pPr>
            <a:r>
              <a:rPr sz="2100" b="1">
                <a:solidFill>
                  <a:srgbClr val="18333D"/>
                </a:solidFill>
              </a:rPr>
              <a:t>Planejamento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03E568-71E7-4034-8745-5FB1C63B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23336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36E75"/>
                </a:solidFill>
              </a:defRPr>
            </a:defPPr>
            <a:lvl1pPr>
              <a:defRPr sz="1950" b="0">
                <a:solidFill>
                  <a:srgbClr val="536E75"/>
                </a:solidFill>
              </a:defRPr>
            </a:lvl1pPr>
            <a:lvl2pPr>
              <a:defRPr sz="1950" b="0">
                <a:solidFill>
                  <a:srgbClr val="536E75"/>
                </a:solidFill>
              </a:defRPr>
            </a:lvl2pPr>
            <a:lvl3pPr>
              <a:defRPr sz="1950" b="0">
                <a:solidFill>
                  <a:srgbClr val="536E75"/>
                </a:solidFill>
              </a:defRPr>
            </a:lvl3pPr>
            <a:lvl4pPr>
              <a:defRPr sz="1950" b="0">
                <a:solidFill>
                  <a:srgbClr val="536E75"/>
                </a:solidFill>
              </a:defRPr>
            </a:lvl4pPr>
            <a:lvl5pPr>
              <a:defRPr sz="1950" b="0">
                <a:solidFill>
                  <a:srgbClr val="536E75"/>
                </a:solidFill>
              </a:defRPr>
            </a:lvl5pPr>
            <a:lvl6pPr>
              <a:defRPr sz="1950" b="0">
                <a:solidFill>
                  <a:srgbClr val="536E75"/>
                </a:solidFill>
              </a:defRPr>
            </a:lvl6pPr>
            <a:lvl7pPr>
              <a:defRPr sz="1950" b="0">
                <a:solidFill>
                  <a:srgbClr val="536E75"/>
                </a:solidFill>
              </a:defRPr>
            </a:lvl7pPr>
            <a:lvl8pPr>
              <a:defRPr sz="1950" b="0">
                <a:solidFill>
                  <a:srgbClr val="536E75"/>
                </a:solidFill>
              </a:defRPr>
            </a:lvl8pPr>
            <a:lvl9pPr>
              <a:defRPr sz="1950" b="0">
                <a:solidFill>
                  <a:srgbClr val="536E7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E75"/>
                </a:solidFill>
              </a:defRPr>
            </a:pPr>
            <a:r>
              <a:rPr sz="1950" b="0">
                <a:solidFill>
                  <a:srgbClr val="536E75"/>
                </a:solidFill>
              </a:rPr>
              <a:t>Dados básicos, fluxo e temperatura definidos pela equipe.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1A44CD-7BA0-43DA-A217-B76DBFE0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00250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087D79"/>
                </a:solidFill>
              </a:defRPr>
            </a:defPPr>
            <a:lvl1pPr>
              <a:defRPr sz="4350" b="1">
                <a:solidFill>
                  <a:srgbClr val="087D79"/>
                </a:solidFill>
              </a:defRPr>
            </a:lvl1pPr>
            <a:lvl2pPr>
              <a:defRPr sz="4350" b="1">
                <a:solidFill>
                  <a:srgbClr val="087D79"/>
                </a:solidFill>
              </a:defRPr>
            </a:lvl2pPr>
            <a:lvl3pPr>
              <a:defRPr sz="4350" b="1">
                <a:solidFill>
                  <a:srgbClr val="087D79"/>
                </a:solidFill>
              </a:defRPr>
            </a:lvl3pPr>
            <a:lvl4pPr>
              <a:defRPr sz="4350" b="1">
                <a:solidFill>
                  <a:srgbClr val="087D79"/>
                </a:solidFill>
              </a:defRPr>
            </a:lvl4pPr>
            <a:lvl5pPr>
              <a:defRPr sz="4350" b="1">
                <a:solidFill>
                  <a:srgbClr val="087D79"/>
                </a:solidFill>
              </a:defRPr>
            </a:lvl5pPr>
            <a:lvl6pPr>
              <a:defRPr sz="4350" b="1">
                <a:solidFill>
                  <a:srgbClr val="087D79"/>
                </a:solidFill>
              </a:defRPr>
            </a:lvl6pPr>
            <a:lvl7pPr>
              <a:defRPr sz="4350" b="1">
                <a:solidFill>
                  <a:srgbClr val="087D79"/>
                </a:solidFill>
              </a:defRPr>
            </a:lvl7pPr>
            <a:lvl8pPr>
              <a:defRPr sz="4350" b="1">
                <a:solidFill>
                  <a:srgbClr val="087D79"/>
                </a:solidFill>
              </a:defRPr>
            </a:lvl8pPr>
            <a:lvl9pPr>
              <a:defRPr sz="4350" b="1">
                <a:solidFill>
                  <a:srgbClr val="087D79"/>
                </a:solidFill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087D79"/>
                </a:solidFill>
              </a:defRPr>
            </a:pPr>
            <a:r>
              <a:rPr sz="4350" b="1">
                <a:solidFill>
                  <a:srgbClr val="087D79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FFE3D-6931-4935-B3A5-897A3A8D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95625"/>
            <a:ext cx="2333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333D"/>
                </a:solidFill>
              </a:defRPr>
            </a:defPPr>
            <a:lvl1pPr>
              <a:defRPr sz="2100" b="1">
                <a:solidFill>
                  <a:srgbClr val="18333D"/>
                </a:solidFill>
              </a:defRPr>
            </a:lvl1pPr>
            <a:lvl2pPr>
              <a:defRPr sz="2100" b="1">
                <a:solidFill>
                  <a:srgbClr val="18333D"/>
                </a:solidFill>
              </a:defRPr>
            </a:lvl2pPr>
            <a:lvl3pPr>
              <a:defRPr sz="2100" b="1">
                <a:solidFill>
                  <a:srgbClr val="18333D"/>
                </a:solidFill>
              </a:defRPr>
            </a:lvl3pPr>
            <a:lvl4pPr>
              <a:defRPr sz="2100" b="1">
                <a:solidFill>
                  <a:srgbClr val="18333D"/>
                </a:solidFill>
              </a:defRPr>
            </a:lvl4pPr>
            <a:lvl5pPr>
              <a:defRPr sz="2100" b="1">
                <a:solidFill>
                  <a:srgbClr val="18333D"/>
                </a:solidFill>
              </a:defRPr>
            </a:lvl5pPr>
            <a:lvl6pPr>
              <a:defRPr sz="2100" b="1">
                <a:solidFill>
                  <a:srgbClr val="18333D"/>
                </a:solidFill>
              </a:defRPr>
            </a:lvl6pPr>
            <a:lvl7pPr>
              <a:defRPr sz="2100" b="1">
                <a:solidFill>
                  <a:srgbClr val="18333D"/>
                </a:solidFill>
              </a:defRPr>
            </a:lvl7pPr>
            <a:lvl8pPr>
              <a:defRPr sz="2100" b="1">
                <a:solidFill>
                  <a:srgbClr val="18333D"/>
                </a:solidFill>
              </a:defRPr>
            </a:lvl8pPr>
            <a:lvl9pPr>
              <a:defRPr sz="2100" b="1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8333D"/>
                </a:solidFill>
              </a:defRPr>
            </a:pPr>
            <a:r>
              <a:rPr sz="2100" b="1">
                <a:solidFill>
                  <a:srgbClr val="18333D"/>
                </a:solidFill>
              </a:rPr>
              <a:t>Início da CEC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9C6C52-D0E5-422A-8E61-F644E208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95750"/>
            <a:ext cx="23336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36E75"/>
                </a:solidFill>
              </a:defRPr>
            </a:defPPr>
            <a:lvl1pPr>
              <a:defRPr sz="1950" b="0">
                <a:solidFill>
                  <a:srgbClr val="536E75"/>
                </a:solidFill>
              </a:defRPr>
            </a:lvl1pPr>
            <a:lvl2pPr>
              <a:defRPr sz="1950" b="0">
                <a:solidFill>
                  <a:srgbClr val="536E75"/>
                </a:solidFill>
              </a:defRPr>
            </a:lvl2pPr>
            <a:lvl3pPr>
              <a:defRPr sz="1950" b="0">
                <a:solidFill>
                  <a:srgbClr val="536E75"/>
                </a:solidFill>
              </a:defRPr>
            </a:lvl3pPr>
            <a:lvl4pPr>
              <a:defRPr sz="1950" b="0">
                <a:solidFill>
                  <a:srgbClr val="536E75"/>
                </a:solidFill>
              </a:defRPr>
            </a:lvl4pPr>
            <a:lvl5pPr>
              <a:defRPr sz="1950" b="0">
                <a:solidFill>
                  <a:srgbClr val="536E75"/>
                </a:solidFill>
              </a:defRPr>
            </a:lvl5pPr>
            <a:lvl6pPr>
              <a:defRPr sz="1950" b="0">
                <a:solidFill>
                  <a:srgbClr val="536E75"/>
                </a:solidFill>
              </a:defRPr>
            </a:lvl6pPr>
            <a:lvl7pPr>
              <a:defRPr sz="1950" b="0">
                <a:solidFill>
                  <a:srgbClr val="536E75"/>
                </a:solidFill>
              </a:defRPr>
            </a:lvl7pPr>
            <a:lvl8pPr>
              <a:defRPr sz="1950" b="0">
                <a:solidFill>
                  <a:srgbClr val="536E75"/>
                </a:solidFill>
              </a:defRPr>
            </a:lvl8pPr>
            <a:lvl9pPr>
              <a:defRPr sz="1950" b="0">
                <a:solidFill>
                  <a:srgbClr val="536E7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E75"/>
                </a:solidFill>
              </a:defRPr>
            </a:pPr>
            <a:r>
              <a:rPr sz="1950" b="0">
                <a:solidFill>
                  <a:srgbClr val="536E75"/>
                </a:solidFill>
              </a:rPr>
              <a:t>Entrar no dashboard registra o início e habilita os módulos.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51A9FB-265B-471D-BF27-1610E3157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00250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087D79"/>
                </a:solidFill>
              </a:defRPr>
            </a:defPPr>
            <a:lvl1pPr>
              <a:defRPr sz="4350" b="1">
                <a:solidFill>
                  <a:srgbClr val="087D79"/>
                </a:solidFill>
              </a:defRPr>
            </a:lvl1pPr>
            <a:lvl2pPr>
              <a:defRPr sz="4350" b="1">
                <a:solidFill>
                  <a:srgbClr val="087D79"/>
                </a:solidFill>
              </a:defRPr>
            </a:lvl2pPr>
            <a:lvl3pPr>
              <a:defRPr sz="4350" b="1">
                <a:solidFill>
                  <a:srgbClr val="087D79"/>
                </a:solidFill>
              </a:defRPr>
            </a:lvl3pPr>
            <a:lvl4pPr>
              <a:defRPr sz="4350" b="1">
                <a:solidFill>
                  <a:srgbClr val="087D79"/>
                </a:solidFill>
              </a:defRPr>
            </a:lvl4pPr>
            <a:lvl5pPr>
              <a:defRPr sz="4350" b="1">
                <a:solidFill>
                  <a:srgbClr val="087D79"/>
                </a:solidFill>
              </a:defRPr>
            </a:lvl5pPr>
            <a:lvl6pPr>
              <a:defRPr sz="4350" b="1">
                <a:solidFill>
                  <a:srgbClr val="087D79"/>
                </a:solidFill>
              </a:defRPr>
            </a:lvl6pPr>
            <a:lvl7pPr>
              <a:defRPr sz="4350" b="1">
                <a:solidFill>
                  <a:srgbClr val="087D79"/>
                </a:solidFill>
              </a:defRPr>
            </a:lvl7pPr>
            <a:lvl8pPr>
              <a:defRPr sz="4350" b="1">
                <a:solidFill>
                  <a:srgbClr val="087D79"/>
                </a:solidFill>
              </a:defRPr>
            </a:lvl8pPr>
            <a:lvl9pPr>
              <a:defRPr sz="4350" b="1">
                <a:solidFill>
                  <a:srgbClr val="087D79"/>
                </a:solidFill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087D79"/>
                </a:solidFill>
              </a:defRPr>
            </a:pPr>
            <a:r>
              <a:rPr sz="4350" b="1">
                <a:solidFill>
                  <a:srgbClr val="087D79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3643C6-1D4A-4B81-9F8F-4F9D8D5E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95625"/>
            <a:ext cx="2333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333D"/>
                </a:solidFill>
              </a:defRPr>
            </a:defPPr>
            <a:lvl1pPr>
              <a:defRPr sz="2100" b="1">
                <a:solidFill>
                  <a:srgbClr val="18333D"/>
                </a:solidFill>
              </a:defRPr>
            </a:lvl1pPr>
            <a:lvl2pPr>
              <a:defRPr sz="2100" b="1">
                <a:solidFill>
                  <a:srgbClr val="18333D"/>
                </a:solidFill>
              </a:defRPr>
            </a:lvl2pPr>
            <a:lvl3pPr>
              <a:defRPr sz="2100" b="1">
                <a:solidFill>
                  <a:srgbClr val="18333D"/>
                </a:solidFill>
              </a:defRPr>
            </a:lvl3pPr>
            <a:lvl4pPr>
              <a:defRPr sz="2100" b="1">
                <a:solidFill>
                  <a:srgbClr val="18333D"/>
                </a:solidFill>
              </a:defRPr>
            </a:lvl4pPr>
            <a:lvl5pPr>
              <a:defRPr sz="2100" b="1">
                <a:solidFill>
                  <a:srgbClr val="18333D"/>
                </a:solidFill>
              </a:defRPr>
            </a:lvl5pPr>
            <a:lvl6pPr>
              <a:defRPr sz="2100" b="1">
                <a:solidFill>
                  <a:srgbClr val="18333D"/>
                </a:solidFill>
              </a:defRPr>
            </a:lvl6pPr>
            <a:lvl7pPr>
              <a:defRPr sz="2100" b="1">
                <a:solidFill>
                  <a:srgbClr val="18333D"/>
                </a:solidFill>
              </a:defRPr>
            </a:lvl7pPr>
            <a:lvl8pPr>
              <a:defRPr sz="2100" b="1">
                <a:solidFill>
                  <a:srgbClr val="18333D"/>
                </a:solidFill>
              </a:defRPr>
            </a:lvl8pPr>
            <a:lvl9pPr>
              <a:defRPr sz="2100" b="1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8333D"/>
                </a:solidFill>
              </a:defRPr>
            </a:pPr>
            <a:r>
              <a:rPr sz="2100" b="1">
                <a:solidFill>
                  <a:srgbClr val="18333D"/>
                </a:solidFill>
              </a:rPr>
              <a:t>Monitorização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63D531-B25A-433C-91E2-49C47116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95750"/>
            <a:ext cx="23336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36E75"/>
                </a:solidFill>
              </a:defRPr>
            </a:defPPr>
            <a:lvl1pPr>
              <a:defRPr sz="1950" b="0">
                <a:solidFill>
                  <a:srgbClr val="536E75"/>
                </a:solidFill>
              </a:defRPr>
            </a:lvl1pPr>
            <a:lvl2pPr>
              <a:defRPr sz="1950" b="0">
                <a:solidFill>
                  <a:srgbClr val="536E75"/>
                </a:solidFill>
              </a:defRPr>
            </a:lvl2pPr>
            <a:lvl3pPr>
              <a:defRPr sz="1950" b="0">
                <a:solidFill>
                  <a:srgbClr val="536E75"/>
                </a:solidFill>
              </a:defRPr>
            </a:lvl3pPr>
            <a:lvl4pPr>
              <a:defRPr sz="1950" b="0">
                <a:solidFill>
                  <a:srgbClr val="536E75"/>
                </a:solidFill>
              </a:defRPr>
            </a:lvl4pPr>
            <a:lvl5pPr>
              <a:defRPr sz="1950" b="0">
                <a:solidFill>
                  <a:srgbClr val="536E75"/>
                </a:solidFill>
              </a:defRPr>
            </a:lvl5pPr>
            <a:lvl6pPr>
              <a:defRPr sz="1950" b="0">
                <a:solidFill>
                  <a:srgbClr val="536E75"/>
                </a:solidFill>
              </a:defRPr>
            </a:lvl6pPr>
            <a:lvl7pPr>
              <a:defRPr sz="1950" b="0">
                <a:solidFill>
                  <a:srgbClr val="536E75"/>
                </a:solidFill>
              </a:defRPr>
            </a:lvl7pPr>
            <a:lvl8pPr>
              <a:defRPr sz="1950" b="0">
                <a:solidFill>
                  <a:srgbClr val="536E75"/>
                </a:solidFill>
              </a:defRPr>
            </a:lvl8pPr>
            <a:lvl9pPr>
              <a:defRPr sz="1950" b="0">
                <a:solidFill>
                  <a:srgbClr val="536E7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E75"/>
                </a:solidFill>
              </a:defRPr>
            </a:pPr>
            <a:r>
              <a:rPr sz="1950" b="0">
                <a:solidFill>
                  <a:srgbClr val="536E75"/>
                </a:solidFill>
              </a:rPr>
              <a:t>Novos exames atualizam a análise e o histórico.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E8668A-7F6D-47A8-A034-6B2D6C06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00250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087D79"/>
                </a:solidFill>
              </a:defRPr>
            </a:defPPr>
            <a:lvl1pPr>
              <a:defRPr sz="4350" b="1">
                <a:solidFill>
                  <a:srgbClr val="087D79"/>
                </a:solidFill>
              </a:defRPr>
            </a:lvl1pPr>
            <a:lvl2pPr>
              <a:defRPr sz="4350" b="1">
                <a:solidFill>
                  <a:srgbClr val="087D79"/>
                </a:solidFill>
              </a:defRPr>
            </a:lvl2pPr>
            <a:lvl3pPr>
              <a:defRPr sz="4350" b="1">
                <a:solidFill>
                  <a:srgbClr val="087D79"/>
                </a:solidFill>
              </a:defRPr>
            </a:lvl3pPr>
            <a:lvl4pPr>
              <a:defRPr sz="4350" b="1">
                <a:solidFill>
                  <a:srgbClr val="087D79"/>
                </a:solidFill>
              </a:defRPr>
            </a:lvl4pPr>
            <a:lvl5pPr>
              <a:defRPr sz="4350" b="1">
                <a:solidFill>
                  <a:srgbClr val="087D79"/>
                </a:solidFill>
              </a:defRPr>
            </a:lvl5pPr>
            <a:lvl6pPr>
              <a:defRPr sz="4350" b="1">
                <a:solidFill>
                  <a:srgbClr val="087D79"/>
                </a:solidFill>
              </a:defRPr>
            </a:lvl6pPr>
            <a:lvl7pPr>
              <a:defRPr sz="4350" b="1">
                <a:solidFill>
                  <a:srgbClr val="087D79"/>
                </a:solidFill>
              </a:defRPr>
            </a:lvl7pPr>
            <a:lvl8pPr>
              <a:defRPr sz="4350" b="1">
                <a:solidFill>
                  <a:srgbClr val="087D79"/>
                </a:solidFill>
              </a:defRPr>
            </a:lvl8pPr>
            <a:lvl9pPr>
              <a:defRPr sz="4350" b="1">
                <a:solidFill>
                  <a:srgbClr val="087D79"/>
                </a:solidFill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087D79"/>
                </a:solidFill>
              </a:defRPr>
            </a:pPr>
            <a:r>
              <a:rPr sz="4350" b="1">
                <a:solidFill>
                  <a:srgbClr val="087D79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EFFA21-4CD7-4BF7-9778-0FEDFE24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95625"/>
            <a:ext cx="2333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333D"/>
                </a:solidFill>
              </a:defRPr>
            </a:defPPr>
            <a:lvl1pPr>
              <a:defRPr sz="2100" b="1">
                <a:solidFill>
                  <a:srgbClr val="18333D"/>
                </a:solidFill>
              </a:defRPr>
            </a:lvl1pPr>
            <a:lvl2pPr>
              <a:defRPr sz="2100" b="1">
                <a:solidFill>
                  <a:srgbClr val="18333D"/>
                </a:solidFill>
              </a:defRPr>
            </a:lvl2pPr>
            <a:lvl3pPr>
              <a:defRPr sz="2100" b="1">
                <a:solidFill>
                  <a:srgbClr val="18333D"/>
                </a:solidFill>
              </a:defRPr>
            </a:lvl3pPr>
            <a:lvl4pPr>
              <a:defRPr sz="2100" b="1">
                <a:solidFill>
                  <a:srgbClr val="18333D"/>
                </a:solidFill>
              </a:defRPr>
            </a:lvl4pPr>
            <a:lvl5pPr>
              <a:defRPr sz="2100" b="1">
                <a:solidFill>
                  <a:srgbClr val="18333D"/>
                </a:solidFill>
              </a:defRPr>
            </a:lvl5pPr>
            <a:lvl6pPr>
              <a:defRPr sz="2100" b="1">
                <a:solidFill>
                  <a:srgbClr val="18333D"/>
                </a:solidFill>
              </a:defRPr>
            </a:lvl6pPr>
            <a:lvl7pPr>
              <a:defRPr sz="2100" b="1">
                <a:solidFill>
                  <a:srgbClr val="18333D"/>
                </a:solidFill>
              </a:defRPr>
            </a:lvl7pPr>
            <a:lvl8pPr>
              <a:defRPr sz="2100" b="1">
                <a:solidFill>
                  <a:srgbClr val="18333D"/>
                </a:solidFill>
              </a:defRPr>
            </a:lvl8pPr>
            <a:lvl9pPr>
              <a:defRPr sz="2100" b="1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8333D"/>
                </a:solidFill>
              </a:defRPr>
            </a:pPr>
            <a:r>
              <a:rPr sz="2100" b="1">
                <a:solidFill>
                  <a:srgbClr val="18333D"/>
                </a:solidFill>
              </a:rPr>
              <a:t>Revisão do caso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249776-2CAB-4B20-A847-EA32758B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95750"/>
            <a:ext cx="23336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36E75"/>
                </a:solidFill>
              </a:defRPr>
            </a:defPPr>
            <a:lvl1pPr>
              <a:defRPr sz="1950" b="0">
                <a:solidFill>
                  <a:srgbClr val="536E75"/>
                </a:solidFill>
              </a:defRPr>
            </a:lvl1pPr>
            <a:lvl2pPr>
              <a:defRPr sz="1950" b="0">
                <a:solidFill>
                  <a:srgbClr val="536E75"/>
                </a:solidFill>
              </a:defRPr>
            </a:lvl2pPr>
            <a:lvl3pPr>
              <a:defRPr sz="1950" b="0">
                <a:solidFill>
                  <a:srgbClr val="536E75"/>
                </a:solidFill>
              </a:defRPr>
            </a:lvl3pPr>
            <a:lvl4pPr>
              <a:defRPr sz="1950" b="0">
                <a:solidFill>
                  <a:srgbClr val="536E75"/>
                </a:solidFill>
              </a:defRPr>
            </a:lvl4pPr>
            <a:lvl5pPr>
              <a:defRPr sz="1950" b="0">
                <a:solidFill>
                  <a:srgbClr val="536E75"/>
                </a:solidFill>
              </a:defRPr>
            </a:lvl5pPr>
            <a:lvl6pPr>
              <a:defRPr sz="1950" b="0">
                <a:solidFill>
                  <a:srgbClr val="536E75"/>
                </a:solidFill>
              </a:defRPr>
            </a:lvl6pPr>
            <a:lvl7pPr>
              <a:defRPr sz="1950" b="0">
                <a:solidFill>
                  <a:srgbClr val="536E75"/>
                </a:solidFill>
              </a:defRPr>
            </a:lvl7pPr>
            <a:lvl8pPr>
              <a:defRPr sz="1950" b="0">
                <a:solidFill>
                  <a:srgbClr val="536E75"/>
                </a:solidFill>
              </a:defRPr>
            </a:lvl8pPr>
            <a:lvl9pPr>
              <a:defRPr sz="1950" b="0">
                <a:solidFill>
                  <a:srgbClr val="536E7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E75"/>
                </a:solidFill>
              </a:defRPr>
            </a:pPr>
            <a:r>
              <a:rPr sz="1950" b="0">
                <a:solidFill>
                  <a:srgbClr val="536E75"/>
                </a:solidFill>
              </a:rPr>
              <a:t>Checklist, salvamento e relatórios.</a:t>
            </a:r>
          </a:p>
        </p:txBody>
      </p:sp>
    </p:spTree>
    <p:extLst>
      <p:ext uri="{BB962C8B-B14F-4D97-AF65-F5344CB8AC3E}">
        <p14:creationId xmlns:p14="http://schemas.microsoft.com/office/powerpoint/2010/main" val="12990385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FF942D-A593-4724-83D9-DCDD929F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10744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33D"/>
                </a:solidFill>
              </a:defRPr>
            </a:defPPr>
            <a:lvl1pPr>
              <a:defRPr sz="3450" b="1">
                <a:solidFill>
                  <a:srgbClr val="18333D"/>
                </a:solidFill>
              </a:defRPr>
            </a:lvl1pPr>
            <a:lvl2pPr>
              <a:defRPr sz="3450" b="1">
                <a:solidFill>
                  <a:srgbClr val="18333D"/>
                </a:solidFill>
              </a:defRPr>
            </a:lvl2pPr>
            <a:lvl3pPr>
              <a:defRPr sz="3450" b="1">
                <a:solidFill>
                  <a:srgbClr val="18333D"/>
                </a:solidFill>
              </a:defRPr>
            </a:lvl3pPr>
            <a:lvl4pPr>
              <a:defRPr sz="3450" b="1">
                <a:solidFill>
                  <a:srgbClr val="18333D"/>
                </a:solidFill>
              </a:defRPr>
            </a:lvl4pPr>
            <a:lvl5pPr>
              <a:defRPr sz="3450" b="1">
                <a:solidFill>
                  <a:srgbClr val="18333D"/>
                </a:solidFill>
              </a:defRPr>
            </a:lvl5pPr>
            <a:lvl6pPr>
              <a:defRPr sz="3450" b="1">
                <a:solidFill>
                  <a:srgbClr val="18333D"/>
                </a:solidFill>
              </a:defRPr>
            </a:lvl6pPr>
            <a:lvl7pPr>
              <a:defRPr sz="3450" b="1">
                <a:solidFill>
                  <a:srgbClr val="18333D"/>
                </a:solidFill>
              </a:defRPr>
            </a:lvl7pPr>
            <a:lvl8pPr>
              <a:defRPr sz="3450" b="1">
                <a:solidFill>
                  <a:srgbClr val="18333D"/>
                </a:solidFill>
              </a:defRPr>
            </a:lvl8pPr>
            <a:lvl9pPr>
              <a:defRPr sz="3450" b="1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33D"/>
                </a:solidFill>
              </a:defRPr>
            </a:pPr>
            <a:r>
              <a:rPr sz="3450" b="1">
                <a:solidFill>
                  <a:srgbClr val="18333D"/>
                </a:solidFill>
              </a:rPr>
              <a:t>As variáveis se organizam por função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EFFF50-7F7F-4FFE-B831-0BF4C934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E75"/>
                </a:solidFill>
              </a:defRPr>
            </a:defPPr>
            <a:lvl1pPr>
              <a:defRPr sz="1275" b="0">
                <a:solidFill>
                  <a:srgbClr val="536E75"/>
                </a:solidFill>
              </a:defRPr>
            </a:lvl1pPr>
            <a:lvl2pPr>
              <a:defRPr sz="1275" b="0">
                <a:solidFill>
                  <a:srgbClr val="536E75"/>
                </a:solidFill>
              </a:defRPr>
            </a:lvl2pPr>
            <a:lvl3pPr>
              <a:defRPr sz="1275" b="0">
                <a:solidFill>
                  <a:srgbClr val="536E75"/>
                </a:solidFill>
              </a:defRPr>
            </a:lvl3pPr>
            <a:lvl4pPr>
              <a:defRPr sz="1275" b="0">
                <a:solidFill>
                  <a:srgbClr val="536E75"/>
                </a:solidFill>
              </a:defRPr>
            </a:lvl4pPr>
            <a:lvl5pPr>
              <a:defRPr sz="1275" b="0">
                <a:solidFill>
                  <a:srgbClr val="536E75"/>
                </a:solidFill>
              </a:defRPr>
            </a:lvl5pPr>
            <a:lvl6pPr>
              <a:defRPr sz="1275" b="0">
                <a:solidFill>
                  <a:srgbClr val="536E75"/>
                </a:solidFill>
              </a:defRPr>
            </a:lvl6pPr>
            <a:lvl7pPr>
              <a:defRPr sz="1275" b="0">
                <a:solidFill>
                  <a:srgbClr val="536E75"/>
                </a:solidFill>
              </a:defRPr>
            </a:lvl7pPr>
            <a:lvl8pPr>
              <a:defRPr sz="1275" b="0">
                <a:solidFill>
                  <a:srgbClr val="536E75"/>
                </a:solidFill>
              </a:defRPr>
            </a:lvl8pPr>
            <a:lvl9pPr>
              <a:defRPr sz="1275" b="0">
                <a:solidFill>
                  <a:srgbClr val="536E7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E75"/>
                </a:solidFill>
              </a:defRPr>
            </a:pPr>
            <a:r>
              <a:rPr sz="1275" b="0">
                <a:solidFill>
                  <a:srgbClr val="536E75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B75DE2-59A0-4E5D-9F4F-1D3CB723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87D79"/>
                </a:solidFill>
              </a:defRPr>
            </a:defPPr>
            <a:lvl1pPr>
              <a:defRPr sz="2325" b="1">
                <a:solidFill>
                  <a:srgbClr val="087D79"/>
                </a:solidFill>
              </a:defRPr>
            </a:lvl1pPr>
            <a:lvl2pPr>
              <a:defRPr sz="2325" b="1">
                <a:solidFill>
                  <a:srgbClr val="087D79"/>
                </a:solidFill>
              </a:defRPr>
            </a:lvl2pPr>
            <a:lvl3pPr>
              <a:defRPr sz="2325" b="1">
                <a:solidFill>
                  <a:srgbClr val="087D79"/>
                </a:solidFill>
              </a:defRPr>
            </a:lvl3pPr>
            <a:lvl4pPr>
              <a:defRPr sz="2325" b="1">
                <a:solidFill>
                  <a:srgbClr val="087D79"/>
                </a:solidFill>
              </a:defRPr>
            </a:lvl4pPr>
            <a:lvl5pPr>
              <a:defRPr sz="2325" b="1">
                <a:solidFill>
                  <a:srgbClr val="087D79"/>
                </a:solidFill>
              </a:defRPr>
            </a:lvl5pPr>
            <a:lvl6pPr>
              <a:defRPr sz="2325" b="1">
                <a:solidFill>
                  <a:srgbClr val="087D79"/>
                </a:solidFill>
              </a:defRPr>
            </a:lvl6pPr>
            <a:lvl7pPr>
              <a:defRPr sz="2325" b="1">
                <a:solidFill>
                  <a:srgbClr val="087D79"/>
                </a:solidFill>
              </a:defRPr>
            </a:lvl7pPr>
            <a:lvl8pPr>
              <a:defRPr sz="2325" b="1">
                <a:solidFill>
                  <a:srgbClr val="087D79"/>
                </a:solidFill>
              </a:defRPr>
            </a:lvl8pPr>
            <a:lvl9pPr>
              <a:defRPr sz="2325" b="1">
                <a:solidFill>
                  <a:srgbClr val="087D79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D79"/>
                </a:solidFill>
              </a:defRPr>
            </a:pPr>
            <a:r>
              <a:rPr sz="2325" b="1">
                <a:solidFill>
                  <a:srgbClr val="087D79"/>
                </a:solidFill>
              </a:rPr>
              <a:t>Contexto e operação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790EA4-F248-4AD4-B03F-1E18D433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4857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33D"/>
                </a:solidFill>
              </a:defRPr>
            </a:defPPr>
            <a:lvl1pPr>
              <a:defRPr sz="2175" b="0">
                <a:solidFill>
                  <a:srgbClr val="18333D"/>
                </a:solidFill>
              </a:defRPr>
            </a:lvl1pPr>
            <a:lvl2pPr>
              <a:defRPr sz="2175" b="0">
                <a:solidFill>
                  <a:srgbClr val="18333D"/>
                </a:solidFill>
              </a:defRPr>
            </a:lvl2pPr>
            <a:lvl3pPr>
              <a:defRPr sz="2175" b="0">
                <a:solidFill>
                  <a:srgbClr val="18333D"/>
                </a:solidFill>
              </a:defRPr>
            </a:lvl3pPr>
            <a:lvl4pPr>
              <a:defRPr sz="2175" b="0">
                <a:solidFill>
                  <a:srgbClr val="18333D"/>
                </a:solidFill>
              </a:defRPr>
            </a:lvl4pPr>
            <a:lvl5pPr>
              <a:defRPr sz="2175" b="0">
                <a:solidFill>
                  <a:srgbClr val="18333D"/>
                </a:solidFill>
              </a:defRPr>
            </a:lvl5pPr>
            <a:lvl6pPr>
              <a:defRPr sz="2175" b="0">
                <a:solidFill>
                  <a:srgbClr val="18333D"/>
                </a:solidFill>
              </a:defRPr>
            </a:lvl6pPr>
            <a:lvl7pPr>
              <a:defRPr sz="2175" b="0">
                <a:solidFill>
                  <a:srgbClr val="18333D"/>
                </a:solidFill>
              </a:defRPr>
            </a:lvl7pPr>
            <a:lvl8pPr>
              <a:defRPr sz="2175" b="0">
                <a:solidFill>
                  <a:srgbClr val="18333D"/>
                </a:solidFill>
              </a:defRPr>
            </a:lvl8pPr>
            <a:lvl9pPr>
              <a:defRPr sz="2175" b="0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33D"/>
                </a:solidFill>
              </a:defRPr>
            </a:pPr>
            <a:r>
              <a:rPr sz="2175" b="0">
                <a:solidFill>
                  <a:srgbClr val="18333D"/>
                </a:solidFill>
              </a:rPr>
              <a:t>Idade, sexo, peso, altura, procedimento, responsável, tempo e temperatura.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8333D"/>
                </a:solidFill>
              </a:defRPr>
            </a:pPr>
            <a:r>
              <a:rPr sz="2175" b="0">
                <a:solidFill>
                  <a:srgbClr val="18333D"/>
                </a:solidFill>
              </a:rPr>
              <a:t>Fluxo da bomba e PAM.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5D4542-73BF-4256-9045-AADF4B98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0025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87D79"/>
                </a:solidFill>
              </a:defRPr>
            </a:defPPr>
            <a:lvl1pPr>
              <a:defRPr sz="2325" b="1">
                <a:solidFill>
                  <a:srgbClr val="087D79"/>
                </a:solidFill>
              </a:defRPr>
            </a:lvl1pPr>
            <a:lvl2pPr>
              <a:defRPr sz="2325" b="1">
                <a:solidFill>
                  <a:srgbClr val="087D79"/>
                </a:solidFill>
              </a:defRPr>
            </a:lvl2pPr>
            <a:lvl3pPr>
              <a:defRPr sz="2325" b="1">
                <a:solidFill>
                  <a:srgbClr val="087D79"/>
                </a:solidFill>
              </a:defRPr>
            </a:lvl3pPr>
            <a:lvl4pPr>
              <a:defRPr sz="2325" b="1">
                <a:solidFill>
                  <a:srgbClr val="087D79"/>
                </a:solidFill>
              </a:defRPr>
            </a:lvl4pPr>
            <a:lvl5pPr>
              <a:defRPr sz="2325" b="1">
                <a:solidFill>
                  <a:srgbClr val="087D79"/>
                </a:solidFill>
              </a:defRPr>
            </a:lvl5pPr>
            <a:lvl6pPr>
              <a:defRPr sz="2325" b="1">
                <a:solidFill>
                  <a:srgbClr val="087D79"/>
                </a:solidFill>
              </a:defRPr>
            </a:lvl6pPr>
            <a:lvl7pPr>
              <a:defRPr sz="2325" b="1">
                <a:solidFill>
                  <a:srgbClr val="087D79"/>
                </a:solidFill>
              </a:defRPr>
            </a:lvl7pPr>
            <a:lvl8pPr>
              <a:defRPr sz="2325" b="1">
                <a:solidFill>
                  <a:srgbClr val="087D79"/>
                </a:solidFill>
              </a:defRPr>
            </a:lvl8pPr>
            <a:lvl9pPr>
              <a:defRPr sz="2325" b="1">
                <a:solidFill>
                  <a:srgbClr val="087D79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D79"/>
                </a:solidFill>
              </a:defRPr>
            </a:pPr>
            <a:r>
              <a:rPr sz="2325" b="1">
                <a:solidFill>
                  <a:srgbClr val="087D79"/>
                </a:solidFill>
              </a:rPr>
              <a:t>Transporte e metabolismo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2F5535-0209-4415-9F4B-F47ED82A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62250"/>
            <a:ext cx="4857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33D"/>
                </a:solidFill>
              </a:defRPr>
            </a:defPPr>
            <a:lvl1pPr>
              <a:defRPr sz="2175" b="0">
                <a:solidFill>
                  <a:srgbClr val="18333D"/>
                </a:solidFill>
              </a:defRPr>
            </a:lvl1pPr>
            <a:lvl2pPr>
              <a:defRPr sz="2175" b="0">
                <a:solidFill>
                  <a:srgbClr val="18333D"/>
                </a:solidFill>
              </a:defRPr>
            </a:lvl2pPr>
            <a:lvl3pPr>
              <a:defRPr sz="2175" b="0">
                <a:solidFill>
                  <a:srgbClr val="18333D"/>
                </a:solidFill>
              </a:defRPr>
            </a:lvl3pPr>
            <a:lvl4pPr>
              <a:defRPr sz="2175" b="0">
                <a:solidFill>
                  <a:srgbClr val="18333D"/>
                </a:solidFill>
              </a:defRPr>
            </a:lvl4pPr>
            <a:lvl5pPr>
              <a:defRPr sz="2175" b="0">
                <a:solidFill>
                  <a:srgbClr val="18333D"/>
                </a:solidFill>
              </a:defRPr>
            </a:lvl5pPr>
            <a:lvl6pPr>
              <a:defRPr sz="2175" b="0">
                <a:solidFill>
                  <a:srgbClr val="18333D"/>
                </a:solidFill>
              </a:defRPr>
            </a:lvl6pPr>
            <a:lvl7pPr>
              <a:defRPr sz="2175" b="0">
                <a:solidFill>
                  <a:srgbClr val="18333D"/>
                </a:solidFill>
              </a:defRPr>
            </a:lvl7pPr>
            <a:lvl8pPr>
              <a:defRPr sz="2175" b="0">
                <a:solidFill>
                  <a:srgbClr val="18333D"/>
                </a:solidFill>
              </a:defRPr>
            </a:lvl8pPr>
            <a:lvl9pPr>
              <a:defRPr sz="2175" b="0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33D"/>
                </a:solidFill>
              </a:defRPr>
            </a:pPr>
            <a:r>
              <a:rPr sz="2175" b="0">
                <a:solidFill>
                  <a:srgbClr val="18333D"/>
                </a:solidFill>
              </a:rPr>
              <a:t>Hb, Hct, SaO₂, PaO₂, SvO₂, iVO₂ e lactato.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8333D"/>
                </a:solidFill>
              </a:defRPr>
            </a:pPr>
            <a:r>
              <a:rPr sz="2175" b="0">
                <a:solidFill>
                  <a:srgbClr val="18333D"/>
                </a:solidFill>
              </a:rPr>
              <a:t>Gasometria, eletrólitos e glicose.</a:t>
            </a:r>
          </a:p>
        </p:txBody>
      </p:sp>
    </p:spTree>
    <p:extLst>
      <p:ext uri="{BB962C8B-B14F-4D97-AF65-F5344CB8AC3E}">
        <p14:creationId xmlns:p14="http://schemas.microsoft.com/office/powerpoint/2010/main" val="16456274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B9B828-B722-4B4C-903B-A7C7F0DB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10744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33D"/>
                </a:solidFill>
              </a:defRPr>
            </a:defPPr>
            <a:lvl1pPr>
              <a:defRPr sz="3450" b="1">
                <a:solidFill>
                  <a:srgbClr val="18333D"/>
                </a:solidFill>
              </a:defRPr>
            </a:lvl1pPr>
            <a:lvl2pPr>
              <a:defRPr sz="3450" b="1">
                <a:solidFill>
                  <a:srgbClr val="18333D"/>
                </a:solidFill>
              </a:defRPr>
            </a:lvl2pPr>
            <a:lvl3pPr>
              <a:defRPr sz="3450" b="1">
                <a:solidFill>
                  <a:srgbClr val="18333D"/>
                </a:solidFill>
              </a:defRPr>
            </a:lvl3pPr>
            <a:lvl4pPr>
              <a:defRPr sz="3450" b="1">
                <a:solidFill>
                  <a:srgbClr val="18333D"/>
                </a:solidFill>
              </a:defRPr>
            </a:lvl4pPr>
            <a:lvl5pPr>
              <a:defRPr sz="3450" b="1">
                <a:solidFill>
                  <a:srgbClr val="18333D"/>
                </a:solidFill>
              </a:defRPr>
            </a:lvl5pPr>
            <a:lvl6pPr>
              <a:defRPr sz="3450" b="1">
                <a:solidFill>
                  <a:srgbClr val="18333D"/>
                </a:solidFill>
              </a:defRPr>
            </a:lvl6pPr>
            <a:lvl7pPr>
              <a:defRPr sz="3450" b="1">
                <a:solidFill>
                  <a:srgbClr val="18333D"/>
                </a:solidFill>
              </a:defRPr>
            </a:lvl7pPr>
            <a:lvl8pPr>
              <a:defRPr sz="3450" b="1">
                <a:solidFill>
                  <a:srgbClr val="18333D"/>
                </a:solidFill>
              </a:defRPr>
            </a:lvl8pPr>
            <a:lvl9pPr>
              <a:defRPr sz="3450" b="1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33D"/>
                </a:solidFill>
              </a:defRPr>
            </a:pPr>
            <a:r>
              <a:rPr sz="3450" b="1">
                <a:solidFill>
                  <a:srgbClr val="18333D"/>
                </a:solidFill>
              </a:rPr>
              <a:t>Superfície corporal e fluxo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F2887F-FE33-4DE9-A730-69B331BB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E75"/>
                </a:solidFill>
              </a:defRPr>
            </a:defPPr>
            <a:lvl1pPr>
              <a:defRPr sz="1275" b="0">
                <a:solidFill>
                  <a:srgbClr val="536E75"/>
                </a:solidFill>
              </a:defRPr>
            </a:lvl1pPr>
            <a:lvl2pPr>
              <a:defRPr sz="1275" b="0">
                <a:solidFill>
                  <a:srgbClr val="536E75"/>
                </a:solidFill>
              </a:defRPr>
            </a:lvl2pPr>
            <a:lvl3pPr>
              <a:defRPr sz="1275" b="0">
                <a:solidFill>
                  <a:srgbClr val="536E75"/>
                </a:solidFill>
              </a:defRPr>
            </a:lvl3pPr>
            <a:lvl4pPr>
              <a:defRPr sz="1275" b="0">
                <a:solidFill>
                  <a:srgbClr val="536E75"/>
                </a:solidFill>
              </a:defRPr>
            </a:lvl4pPr>
            <a:lvl5pPr>
              <a:defRPr sz="1275" b="0">
                <a:solidFill>
                  <a:srgbClr val="536E75"/>
                </a:solidFill>
              </a:defRPr>
            </a:lvl5pPr>
            <a:lvl6pPr>
              <a:defRPr sz="1275" b="0">
                <a:solidFill>
                  <a:srgbClr val="536E75"/>
                </a:solidFill>
              </a:defRPr>
            </a:lvl6pPr>
            <a:lvl7pPr>
              <a:defRPr sz="1275" b="0">
                <a:solidFill>
                  <a:srgbClr val="536E75"/>
                </a:solidFill>
              </a:defRPr>
            </a:lvl7pPr>
            <a:lvl8pPr>
              <a:defRPr sz="1275" b="0">
                <a:solidFill>
                  <a:srgbClr val="536E75"/>
                </a:solidFill>
              </a:defRPr>
            </a:lvl8pPr>
            <a:lvl9pPr>
              <a:defRPr sz="1275" b="0">
                <a:solidFill>
                  <a:srgbClr val="536E7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E75"/>
                </a:solidFill>
              </a:defRPr>
            </a:pPr>
            <a:r>
              <a:rPr sz="1275" b="0">
                <a:solidFill>
                  <a:srgbClr val="536E75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EA1FC8-EA73-48DC-B29F-60E6CE15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0744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087D79"/>
                </a:solidFill>
              </a:defRPr>
            </a:defPPr>
            <a:lvl1pPr>
              <a:defRPr sz="3225" b="1">
                <a:solidFill>
                  <a:srgbClr val="087D79"/>
                </a:solidFill>
              </a:defRPr>
            </a:lvl1pPr>
            <a:lvl2pPr>
              <a:defRPr sz="3225" b="1">
                <a:solidFill>
                  <a:srgbClr val="087D79"/>
                </a:solidFill>
              </a:defRPr>
            </a:lvl2pPr>
            <a:lvl3pPr>
              <a:defRPr sz="3225" b="1">
                <a:solidFill>
                  <a:srgbClr val="087D79"/>
                </a:solidFill>
              </a:defRPr>
            </a:lvl3pPr>
            <a:lvl4pPr>
              <a:defRPr sz="3225" b="1">
                <a:solidFill>
                  <a:srgbClr val="087D79"/>
                </a:solidFill>
              </a:defRPr>
            </a:lvl4pPr>
            <a:lvl5pPr>
              <a:defRPr sz="3225" b="1">
                <a:solidFill>
                  <a:srgbClr val="087D79"/>
                </a:solidFill>
              </a:defRPr>
            </a:lvl5pPr>
            <a:lvl6pPr>
              <a:defRPr sz="3225" b="1">
                <a:solidFill>
                  <a:srgbClr val="087D79"/>
                </a:solidFill>
              </a:defRPr>
            </a:lvl6pPr>
            <a:lvl7pPr>
              <a:defRPr sz="3225" b="1">
                <a:solidFill>
                  <a:srgbClr val="087D79"/>
                </a:solidFill>
              </a:defRPr>
            </a:lvl7pPr>
            <a:lvl8pPr>
              <a:defRPr sz="3225" b="1">
                <a:solidFill>
                  <a:srgbClr val="087D79"/>
                </a:solidFill>
              </a:defRPr>
            </a:lvl8pPr>
            <a:lvl9pPr>
              <a:defRPr sz="3225" b="1">
                <a:solidFill>
                  <a:srgbClr val="087D79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087D79"/>
                </a:solidFill>
              </a:defRPr>
            </a:pPr>
            <a:r>
              <a:rPr sz="3225" b="1">
                <a:solidFill>
                  <a:srgbClr val="087D79"/>
                </a:solidFill>
              </a:rPr>
              <a:t>SC = √(peso × altura / 3600)</a:t>
            </a:r>
          </a:p>
          <a:p xmlns:a="http://schemas.openxmlformats.org/drawingml/2006/main">
            <a:pPr>
              <a:defRPr sz="3225" b="1">
                <a:solidFill>
                  <a:srgbClr val="087D79"/>
                </a:solidFill>
              </a:defRPr>
            </a:pPr>
            <a:r>
              <a:rPr sz="3225" b="1">
                <a:solidFill>
                  <a:srgbClr val="087D79"/>
                </a:solidFill>
              </a:rPr>
              <a:t>IC = Q / SC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9A9D30-AE14-4C36-B831-FD1563D8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33D"/>
                </a:solidFill>
              </a:defRPr>
            </a:defPPr>
            <a:lvl1pPr>
              <a:defRPr sz="2175" b="0">
                <a:solidFill>
                  <a:srgbClr val="18333D"/>
                </a:solidFill>
              </a:defRPr>
            </a:lvl1pPr>
            <a:lvl2pPr>
              <a:defRPr sz="2175" b="0">
                <a:solidFill>
                  <a:srgbClr val="18333D"/>
                </a:solidFill>
              </a:defRPr>
            </a:lvl2pPr>
            <a:lvl3pPr>
              <a:defRPr sz="2175" b="0">
                <a:solidFill>
                  <a:srgbClr val="18333D"/>
                </a:solidFill>
              </a:defRPr>
            </a:lvl3pPr>
            <a:lvl4pPr>
              <a:defRPr sz="2175" b="0">
                <a:solidFill>
                  <a:srgbClr val="18333D"/>
                </a:solidFill>
              </a:defRPr>
            </a:lvl4pPr>
            <a:lvl5pPr>
              <a:defRPr sz="2175" b="0">
                <a:solidFill>
                  <a:srgbClr val="18333D"/>
                </a:solidFill>
              </a:defRPr>
            </a:lvl5pPr>
            <a:lvl6pPr>
              <a:defRPr sz="2175" b="0">
                <a:solidFill>
                  <a:srgbClr val="18333D"/>
                </a:solidFill>
              </a:defRPr>
            </a:lvl6pPr>
            <a:lvl7pPr>
              <a:defRPr sz="2175" b="0">
                <a:solidFill>
                  <a:srgbClr val="18333D"/>
                </a:solidFill>
              </a:defRPr>
            </a:lvl7pPr>
            <a:lvl8pPr>
              <a:defRPr sz="2175" b="0">
                <a:solidFill>
                  <a:srgbClr val="18333D"/>
                </a:solidFill>
              </a:defRPr>
            </a:lvl8pPr>
            <a:lvl9pPr>
              <a:defRPr sz="2175" b="0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33D"/>
                </a:solidFill>
              </a:defRPr>
            </a:pPr>
            <a:r>
              <a:rPr sz="2175" b="0">
                <a:solidFill>
                  <a:srgbClr val="18333D"/>
                </a:solidFill>
              </a:rPr>
              <a:t>SC em m². Peso em kg. Altura em cm.</a:t>
            </a:r>
          </a:p>
          <a:p xmlns:a="http://schemas.openxmlformats.org/drawingml/2006/main">
            <a:pPr>
              <a:defRPr sz="2175" b="0">
                <a:solidFill>
                  <a:srgbClr val="18333D"/>
                </a:solidFill>
              </a:defRPr>
            </a:pPr>
            <a:r>
              <a:rPr sz="2175" b="0">
                <a:solidFill>
                  <a:srgbClr val="18333D"/>
                </a:solidFill>
              </a:rPr>
              <a:t>Q em L/min e IC em L/min/m².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5795C8-3825-4135-A875-96A4FE29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36E75"/>
                </a:solidFill>
              </a:defRPr>
            </a:defPPr>
            <a:lvl1pPr>
              <a:defRPr sz="1950" b="0">
                <a:solidFill>
                  <a:srgbClr val="536E75"/>
                </a:solidFill>
              </a:defRPr>
            </a:lvl1pPr>
            <a:lvl2pPr>
              <a:defRPr sz="1950" b="0">
                <a:solidFill>
                  <a:srgbClr val="536E75"/>
                </a:solidFill>
              </a:defRPr>
            </a:lvl2pPr>
            <a:lvl3pPr>
              <a:defRPr sz="1950" b="0">
                <a:solidFill>
                  <a:srgbClr val="536E75"/>
                </a:solidFill>
              </a:defRPr>
            </a:lvl3pPr>
            <a:lvl4pPr>
              <a:defRPr sz="1950" b="0">
                <a:solidFill>
                  <a:srgbClr val="536E75"/>
                </a:solidFill>
              </a:defRPr>
            </a:lvl4pPr>
            <a:lvl5pPr>
              <a:defRPr sz="1950" b="0">
                <a:solidFill>
                  <a:srgbClr val="536E75"/>
                </a:solidFill>
              </a:defRPr>
            </a:lvl5pPr>
            <a:lvl6pPr>
              <a:defRPr sz="1950" b="0">
                <a:solidFill>
                  <a:srgbClr val="536E75"/>
                </a:solidFill>
              </a:defRPr>
            </a:lvl6pPr>
            <a:lvl7pPr>
              <a:defRPr sz="1950" b="0">
                <a:solidFill>
                  <a:srgbClr val="536E75"/>
                </a:solidFill>
              </a:defRPr>
            </a:lvl7pPr>
            <a:lvl8pPr>
              <a:defRPr sz="1950" b="0">
                <a:solidFill>
                  <a:srgbClr val="536E75"/>
                </a:solidFill>
              </a:defRPr>
            </a:lvl8pPr>
            <a:lvl9pPr>
              <a:defRPr sz="1950" b="0">
                <a:solidFill>
                  <a:srgbClr val="536E7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E75"/>
                </a:solidFill>
              </a:defRPr>
            </a:pPr>
            <a:r>
              <a:rPr sz="1950" b="0">
                <a:solidFill>
                  <a:srgbClr val="536E75"/>
                </a:solidFill>
              </a:rPr>
              <a:t>Q de referência = SC × IC escolhido</a:t>
            </a:r>
          </a:p>
        </p:txBody>
      </p:sp>
    </p:spTree>
    <p:extLst>
      <p:ext uri="{BB962C8B-B14F-4D97-AF65-F5344CB8AC3E}">
        <p14:creationId xmlns:p14="http://schemas.microsoft.com/office/powerpoint/2010/main" val="11027186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BB96E2-0F92-4760-8931-A4A29959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10744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33D"/>
                </a:solidFill>
              </a:defRPr>
            </a:defPPr>
            <a:lvl1pPr>
              <a:defRPr sz="3450" b="1">
                <a:solidFill>
                  <a:srgbClr val="18333D"/>
                </a:solidFill>
              </a:defRPr>
            </a:lvl1pPr>
            <a:lvl2pPr>
              <a:defRPr sz="3450" b="1">
                <a:solidFill>
                  <a:srgbClr val="18333D"/>
                </a:solidFill>
              </a:defRPr>
            </a:lvl2pPr>
            <a:lvl3pPr>
              <a:defRPr sz="3450" b="1">
                <a:solidFill>
                  <a:srgbClr val="18333D"/>
                </a:solidFill>
              </a:defRPr>
            </a:lvl3pPr>
            <a:lvl4pPr>
              <a:defRPr sz="3450" b="1">
                <a:solidFill>
                  <a:srgbClr val="18333D"/>
                </a:solidFill>
              </a:defRPr>
            </a:lvl4pPr>
            <a:lvl5pPr>
              <a:defRPr sz="3450" b="1">
                <a:solidFill>
                  <a:srgbClr val="18333D"/>
                </a:solidFill>
              </a:defRPr>
            </a:lvl5pPr>
            <a:lvl6pPr>
              <a:defRPr sz="3450" b="1">
                <a:solidFill>
                  <a:srgbClr val="18333D"/>
                </a:solidFill>
              </a:defRPr>
            </a:lvl6pPr>
            <a:lvl7pPr>
              <a:defRPr sz="3450" b="1">
                <a:solidFill>
                  <a:srgbClr val="18333D"/>
                </a:solidFill>
              </a:defRPr>
            </a:lvl7pPr>
            <a:lvl8pPr>
              <a:defRPr sz="3450" b="1">
                <a:solidFill>
                  <a:srgbClr val="18333D"/>
                </a:solidFill>
              </a:defRPr>
            </a:lvl8pPr>
            <a:lvl9pPr>
              <a:defRPr sz="3450" b="1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33D"/>
                </a:solidFill>
              </a:defRPr>
            </a:pPr>
            <a:r>
              <a:rPr sz="3450" b="1">
                <a:solidFill>
                  <a:srgbClr val="18333D"/>
                </a:solidFill>
              </a:rPr>
              <a:t>Conteúdo arterial de oxigênio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7CA7B9-B438-4E9B-96CA-71AECC27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E75"/>
                </a:solidFill>
              </a:defRPr>
            </a:defPPr>
            <a:lvl1pPr>
              <a:defRPr sz="1275" b="0">
                <a:solidFill>
                  <a:srgbClr val="536E75"/>
                </a:solidFill>
              </a:defRPr>
            </a:lvl1pPr>
            <a:lvl2pPr>
              <a:defRPr sz="1275" b="0">
                <a:solidFill>
                  <a:srgbClr val="536E75"/>
                </a:solidFill>
              </a:defRPr>
            </a:lvl2pPr>
            <a:lvl3pPr>
              <a:defRPr sz="1275" b="0">
                <a:solidFill>
                  <a:srgbClr val="536E75"/>
                </a:solidFill>
              </a:defRPr>
            </a:lvl3pPr>
            <a:lvl4pPr>
              <a:defRPr sz="1275" b="0">
                <a:solidFill>
                  <a:srgbClr val="536E75"/>
                </a:solidFill>
              </a:defRPr>
            </a:lvl4pPr>
            <a:lvl5pPr>
              <a:defRPr sz="1275" b="0">
                <a:solidFill>
                  <a:srgbClr val="536E75"/>
                </a:solidFill>
              </a:defRPr>
            </a:lvl5pPr>
            <a:lvl6pPr>
              <a:defRPr sz="1275" b="0">
                <a:solidFill>
                  <a:srgbClr val="536E75"/>
                </a:solidFill>
              </a:defRPr>
            </a:lvl6pPr>
            <a:lvl7pPr>
              <a:defRPr sz="1275" b="0">
                <a:solidFill>
                  <a:srgbClr val="536E75"/>
                </a:solidFill>
              </a:defRPr>
            </a:lvl7pPr>
            <a:lvl8pPr>
              <a:defRPr sz="1275" b="0">
                <a:solidFill>
                  <a:srgbClr val="536E75"/>
                </a:solidFill>
              </a:defRPr>
            </a:lvl8pPr>
            <a:lvl9pPr>
              <a:defRPr sz="1275" b="0">
                <a:solidFill>
                  <a:srgbClr val="536E7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E75"/>
                </a:solidFill>
              </a:defRPr>
            </a:pPr>
            <a:r>
              <a:rPr sz="1275" b="0">
                <a:solidFill>
                  <a:srgbClr val="536E75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91884-3F44-4FA1-901D-53CCF2E9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0744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087D79"/>
                </a:solidFill>
              </a:defRPr>
            </a:defPPr>
            <a:lvl1pPr>
              <a:defRPr sz="3225" b="1">
                <a:solidFill>
                  <a:srgbClr val="087D79"/>
                </a:solidFill>
              </a:defRPr>
            </a:lvl1pPr>
            <a:lvl2pPr>
              <a:defRPr sz="3225" b="1">
                <a:solidFill>
                  <a:srgbClr val="087D79"/>
                </a:solidFill>
              </a:defRPr>
            </a:lvl2pPr>
            <a:lvl3pPr>
              <a:defRPr sz="3225" b="1">
                <a:solidFill>
                  <a:srgbClr val="087D79"/>
                </a:solidFill>
              </a:defRPr>
            </a:lvl3pPr>
            <a:lvl4pPr>
              <a:defRPr sz="3225" b="1">
                <a:solidFill>
                  <a:srgbClr val="087D79"/>
                </a:solidFill>
              </a:defRPr>
            </a:lvl4pPr>
            <a:lvl5pPr>
              <a:defRPr sz="3225" b="1">
                <a:solidFill>
                  <a:srgbClr val="087D79"/>
                </a:solidFill>
              </a:defRPr>
            </a:lvl5pPr>
            <a:lvl6pPr>
              <a:defRPr sz="3225" b="1">
                <a:solidFill>
                  <a:srgbClr val="087D79"/>
                </a:solidFill>
              </a:defRPr>
            </a:lvl6pPr>
            <a:lvl7pPr>
              <a:defRPr sz="3225" b="1">
                <a:solidFill>
                  <a:srgbClr val="087D79"/>
                </a:solidFill>
              </a:defRPr>
            </a:lvl7pPr>
            <a:lvl8pPr>
              <a:defRPr sz="3225" b="1">
                <a:solidFill>
                  <a:srgbClr val="087D79"/>
                </a:solidFill>
              </a:defRPr>
            </a:lvl8pPr>
            <a:lvl9pPr>
              <a:defRPr sz="3225" b="1">
                <a:solidFill>
                  <a:srgbClr val="087D79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087D79"/>
                </a:solidFill>
              </a:defRPr>
            </a:pPr>
            <a:r>
              <a:rPr sz="3225" b="1">
                <a:solidFill>
                  <a:srgbClr val="087D79"/>
                </a:solidFill>
              </a:rPr>
              <a:t>CaO₂ = 1,36 × Hb × (SaO₂/100)</a:t>
            </a:r>
          </a:p>
          <a:p xmlns:a="http://schemas.openxmlformats.org/drawingml/2006/main">
            <a:pPr>
              <a:defRPr sz="3225" b="1">
                <a:solidFill>
                  <a:srgbClr val="087D79"/>
                </a:solidFill>
              </a:defRPr>
            </a:pPr>
            <a:r>
              <a:rPr sz="3225" b="1">
                <a:solidFill>
                  <a:srgbClr val="087D79"/>
                </a:solidFill>
              </a:rPr>
              <a:t>                 + 0,003 × PaO₂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D98137-A5F3-4FA0-A757-A23FA36A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33D"/>
                </a:solidFill>
              </a:defRPr>
            </a:defPPr>
            <a:lvl1pPr>
              <a:defRPr sz="2175" b="0">
                <a:solidFill>
                  <a:srgbClr val="18333D"/>
                </a:solidFill>
              </a:defRPr>
            </a:lvl1pPr>
            <a:lvl2pPr>
              <a:defRPr sz="2175" b="0">
                <a:solidFill>
                  <a:srgbClr val="18333D"/>
                </a:solidFill>
              </a:defRPr>
            </a:lvl2pPr>
            <a:lvl3pPr>
              <a:defRPr sz="2175" b="0">
                <a:solidFill>
                  <a:srgbClr val="18333D"/>
                </a:solidFill>
              </a:defRPr>
            </a:lvl3pPr>
            <a:lvl4pPr>
              <a:defRPr sz="2175" b="0">
                <a:solidFill>
                  <a:srgbClr val="18333D"/>
                </a:solidFill>
              </a:defRPr>
            </a:lvl4pPr>
            <a:lvl5pPr>
              <a:defRPr sz="2175" b="0">
                <a:solidFill>
                  <a:srgbClr val="18333D"/>
                </a:solidFill>
              </a:defRPr>
            </a:lvl5pPr>
            <a:lvl6pPr>
              <a:defRPr sz="2175" b="0">
                <a:solidFill>
                  <a:srgbClr val="18333D"/>
                </a:solidFill>
              </a:defRPr>
            </a:lvl6pPr>
            <a:lvl7pPr>
              <a:defRPr sz="2175" b="0">
                <a:solidFill>
                  <a:srgbClr val="18333D"/>
                </a:solidFill>
              </a:defRPr>
            </a:lvl7pPr>
            <a:lvl8pPr>
              <a:defRPr sz="2175" b="0">
                <a:solidFill>
                  <a:srgbClr val="18333D"/>
                </a:solidFill>
              </a:defRPr>
            </a:lvl8pPr>
            <a:lvl9pPr>
              <a:defRPr sz="2175" b="0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33D"/>
                </a:solidFill>
              </a:defRPr>
            </a:pPr>
            <a:r>
              <a:rPr sz="2175" b="0">
                <a:solidFill>
                  <a:srgbClr val="18333D"/>
                </a:solidFill>
              </a:rPr>
              <a:t>Hb em g/dL, SaO₂ em % e PaO₂ em mmHg.</a:t>
            </a:r>
          </a:p>
          <a:p xmlns:a="http://schemas.openxmlformats.org/drawingml/2006/main">
            <a:pPr>
              <a:defRPr sz="2175" b="0">
                <a:solidFill>
                  <a:srgbClr val="18333D"/>
                </a:solidFill>
              </a:defRPr>
            </a:pPr>
            <a:r>
              <a:rPr sz="2175" b="0">
                <a:solidFill>
                  <a:srgbClr val="18333D"/>
                </a:solidFill>
              </a:rPr>
              <a:t>O resultado é expresso em mL O₂/dL.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5889E4-FAFC-43E5-A6B6-2CE4F11A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36E75"/>
                </a:solidFill>
              </a:defRPr>
            </a:defPPr>
            <a:lvl1pPr>
              <a:defRPr sz="1950" b="0">
                <a:solidFill>
                  <a:srgbClr val="536E75"/>
                </a:solidFill>
              </a:defRPr>
            </a:lvl1pPr>
            <a:lvl2pPr>
              <a:defRPr sz="1950" b="0">
                <a:solidFill>
                  <a:srgbClr val="536E75"/>
                </a:solidFill>
              </a:defRPr>
            </a:lvl2pPr>
            <a:lvl3pPr>
              <a:defRPr sz="1950" b="0">
                <a:solidFill>
                  <a:srgbClr val="536E75"/>
                </a:solidFill>
              </a:defRPr>
            </a:lvl3pPr>
            <a:lvl4pPr>
              <a:defRPr sz="1950" b="0">
                <a:solidFill>
                  <a:srgbClr val="536E75"/>
                </a:solidFill>
              </a:defRPr>
            </a:lvl4pPr>
            <a:lvl5pPr>
              <a:defRPr sz="1950" b="0">
                <a:solidFill>
                  <a:srgbClr val="536E75"/>
                </a:solidFill>
              </a:defRPr>
            </a:lvl5pPr>
            <a:lvl6pPr>
              <a:defRPr sz="1950" b="0">
                <a:solidFill>
                  <a:srgbClr val="536E75"/>
                </a:solidFill>
              </a:defRPr>
            </a:lvl6pPr>
            <a:lvl7pPr>
              <a:defRPr sz="1950" b="0">
                <a:solidFill>
                  <a:srgbClr val="536E75"/>
                </a:solidFill>
              </a:defRPr>
            </a:lvl7pPr>
            <a:lvl8pPr>
              <a:defRPr sz="1950" b="0">
                <a:solidFill>
                  <a:srgbClr val="536E75"/>
                </a:solidFill>
              </a:defRPr>
            </a:lvl8pPr>
            <a:lvl9pPr>
              <a:defRPr sz="1950" b="0">
                <a:solidFill>
                  <a:srgbClr val="536E7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E75"/>
                </a:solidFill>
              </a:defRPr>
            </a:pPr>
            <a:r>
              <a:rPr sz="1950" b="0">
                <a:solidFill>
                  <a:srgbClr val="536E75"/>
                </a:solidFill>
              </a:rPr>
              <a:t>O cálculo combina O₂ ligado à Hb e O₂ dissolvido.</a:t>
            </a:r>
          </a:p>
        </p:txBody>
      </p:sp>
    </p:spTree>
    <p:extLst>
      <p:ext uri="{BB962C8B-B14F-4D97-AF65-F5344CB8AC3E}">
        <p14:creationId xmlns:p14="http://schemas.microsoft.com/office/powerpoint/2010/main" val="532472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23A9BC-0047-45CF-BDA3-706B64E9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10744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33D"/>
                </a:solidFill>
              </a:defRPr>
            </a:defPPr>
            <a:lvl1pPr>
              <a:defRPr sz="3450" b="1">
                <a:solidFill>
                  <a:srgbClr val="18333D"/>
                </a:solidFill>
              </a:defRPr>
            </a:lvl1pPr>
            <a:lvl2pPr>
              <a:defRPr sz="3450" b="1">
                <a:solidFill>
                  <a:srgbClr val="18333D"/>
                </a:solidFill>
              </a:defRPr>
            </a:lvl2pPr>
            <a:lvl3pPr>
              <a:defRPr sz="3450" b="1">
                <a:solidFill>
                  <a:srgbClr val="18333D"/>
                </a:solidFill>
              </a:defRPr>
            </a:lvl3pPr>
            <a:lvl4pPr>
              <a:defRPr sz="3450" b="1">
                <a:solidFill>
                  <a:srgbClr val="18333D"/>
                </a:solidFill>
              </a:defRPr>
            </a:lvl4pPr>
            <a:lvl5pPr>
              <a:defRPr sz="3450" b="1">
                <a:solidFill>
                  <a:srgbClr val="18333D"/>
                </a:solidFill>
              </a:defRPr>
            </a:lvl5pPr>
            <a:lvl6pPr>
              <a:defRPr sz="3450" b="1">
                <a:solidFill>
                  <a:srgbClr val="18333D"/>
                </a:solidFill>
              </a:defRPr>
            </a:lvl6pPr>
            <a:lvl7pPr>
              <a:defRPr sz="3450" b="1">
                <a:solidFill>
                  <a:srgbClr val="18333D"/>
                </a:solidFill>
              </a:defRPr>
            </a:lvl7pPr>
            <a:lvl8pPr>
              <a:defRPr sz="3450" b="1">
                <a:solidFill>
                  <a:srgbClr val="18333D"/>
                </a:solidFill>
              </a:defRPr>
            </a:lvl8pPr>
            <a:lvl9pPr>
              <a:defRPr sz="3450" b="1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33D"/>
                </a:solidFill>
              </a:defRPr>
            </a:pPr>
            <a:r>
              <a:rPr sz="3450" b="1">
                <a:solidFill>
                  <a:srgbClr val="18333D"/>
                </a:solidFill>
              </a:rPr>
              <a:t>Oferta de oxigênio e planejamento GDP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98035D-2A1F-479D-8977-E2C54687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E75"/>
                </a:solidFill>
              </a:defRPr>
            </a:defPPr>
            <a:lvl1pPr>
              <a:defRPr sz="1275" b="0">
                <a:solidFill>
                  <a:srgbClr val="536E75"/>
                </a:solidFill>
              </a:defRPr>
            </a:lvl1pPr>
            <a:lvl2pPr>
              <a:defRPr sz="1275" b="0">
                <a:solidFill>
                  <a:srgbClr val="536E75"/>
                </a:solidFill>
              </a:defRPr>
            </a:lvl2pPr>
            <a:lvl3pPr>
              <a:defRPr sz="1275" b="0">
                <a:solidFill>
                  <a:srgbClr val="536E75"/>
                </a:solidFill>
              </a:defRPr>
            </a:lvl3pPr>
            <a:lvl4pPr>
              <a:defRPr sz="1275" b="0">
                <a:solidFill>
                  <a:srgbClr val="536E75"/>
                </a:solidFill>
              </a:defRPr>
            </a:lvl4pPr>
            <a:lvl5pPr>
              <a:defRPr sz="1275" b="0">
                <a:solidFill>
                  <a:srgbClr val="536E75"/>
                </a:solidFill>
              </a:defRPr>
            </a:lvl5pPr>
            <a:lvl6pPr>
              <a:defRPr sz="1275" b="0">
                <a:solidFill>
                  <a:srgbClr val="536E75"/>
                </a:solidFill>
              </a:defRPr>
            </a:lvl6pPr>
            <a:lvl7pPr>
              <a:defRPr sz="1275" b="0">
                <a:solidFill>
                  <a:srgbClr val="536E75"/>
                </a:solidFill>
              </a:defRPr>
            </a:lvl7pPr>
            <a:lvl8pPr>
              <a:defRPr sz="1275" b="0">
                <a:solidFill>
                  <a:srgbClr val="536E75"/>
                </a:solidFill>
              </a:defRPr>
            </a:lvl8pPr>
            <a:lvl9pPr>
              <a:defRPr sz="1275" b="0">
                <a:solidFill>
                  <a:srgbClr val="536E7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E75"/>
                </a:solidFill>
              </a:defRPr>
            </a:pPr>
            <a:r>
              <a:rPr sz="1275" b="0">
                <a:solidFill>
                  <a:srgbClr val="536E75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3237DE-7FFF-4241-97B7-DD4D0178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0744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087D79"/>
                </a:solidFill>
              </a:defRPr>
            </a:defPPr>
            <a:lvl1pPr>
              <a:defRPr sz="3225" b="1">
                <a:solidFill>
                  <a:srgbClr val="087D79"/>
                </a:solidFill>
              </a:defRPr>
            </a:lvl1pPr>
            <a:lvl2pPr>
              <a:defRPr sz="3225" b="1">
                <a:solidFill>
                  <a:srgbClr val="087D79"/>
                </a:solidFill>
              </a:defRPr>
            </a:lvl2pPr>
            <a:lvl3pPr>
              <a:defRPr sz="3225" b="1">
                <a:solidFill>
                  <a:srgbClr val="087D79"/>
                </a:solidFill>
              </a:defRPr>
            </a:lvl3pPr>
            <a:lvl4pPr>
              <a:defRPr sz="3225" b="1">
                <a:solidFill>
                  <a:srgbClr val="087D79"/>
                </a:solidFill>
              </a:defRPr>
            </a:lvl4pPr>
            <a:lvl5pPr>
              <a:defRPr sz="3225" b="1">
                <a:solidFill>
                  <a:srgbClr val="087D79"/>
                </a:solidFill>
              </a:defRPr>
            </a:lvl5pPr>
            <a:lvl6pPr>
              <a:defRPr sz="3225" b="1">
                <a:solidFill>
                  <a:srgbClr val="087D79"/>
                </a:solidFill>
              </a:defRPr>
            </a:lvl6pPr>
            <a:lvl7pPr>
              <a:defRPr sz="3225" b="1">
                <a:solidFill>
                  <a:srgbClr val="087D79"/>
                </a:solidFill>
              </a:defRPr>
            </a:lvl7pPr>
            <a:lvl8pPr>
              <a:defRPr sz="3225" b="1">
                <a:solidFill>
                  <a:srgbClr val="087D79"/>
                </a:solidFill>
              </a:defRPr>
            </a:lvl8pPr>
            <a:lvl9pPr>
              <a:defRPr sz="3225" b="1">
                <a:solidFill>
                  <a:srgbClr val="087D79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087D79"/>
                </a:solidFill>
              </a:defRPr>
            </a:pPr>
            <a:r>
              <a:rPr sz="3225" b="1">
                <a:solidFill>
                  <a:srgbClr val="087D79"/>
                </a:solidFill>
              </a:rPr>
              <a:t>iDO₂ = 10 × IC × CaO₂</a:t>
            </a:r>
          </a:p>
          <a:p xmlns:a="http://schemas.openxmlformats.org/drawingml/2006/main">
            <a:pPr>
              <a:defRPr sz="3225" b="1">
                <a:solidFill>
                  <a:srgbClr val="087D79"/>
                </a:solidFill>
              </a:defRPr>
            </a:pPr>
            <a:r>
              <a:rPr sz="3225" b="1">
                <a:solidFill>
                  <a:srgbClr val="087D79"/>
                </a:solidFill>
              </a:rPr>
              <a:t>Q estimado = meta × SC / (10 × CaO₂)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757D8A-A919-46D9-972E-A55D9E2F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33D"/>
                </a:solidFill>
              </a:defRPr>
            </a:defPPr>
            <a:lvl1pPr>
              <a:defRPr sz="2175" b="0">
                <a:solidFill>
                  <a:srgbClr val="18333D"/>
                </a:solidFill>
              </a:defRPr>
            </a:lvl1pPr>
            <a:lvl2pPr>
              <a:defRPr sz="2175" b="0">
                <a:solidFill>
                  <a:srgbClr val="18333D"/>
                </a:solidFill>
              </a:defRPr>
            </a:lvl2pPr>
            <a:lvl3pPr>
              <a:defRPr sz="2175" b="0">
                <a:solidFill>
                  <a:srgbClr val="18333D"/>
                </a:solidFill>
              </a:defRPr>
            </a:lvl3pPr>
            <a:lvl4pPr>
              <a:defRPr sz="2175" b="0">
                <a:solidFill>
                  <a:srgbClr val="18333D"/>
                </a:solidFill>
              </a:defRPr>
            </a:lvl4pPr>
            <a:lvl5pPr>
              <a:defRPr sz="2175" b="0">
                <a:solidFill>
                  <a:srgbClr val="18333D"/>
                </a:solidFill>
              </a:defRPr>
            </a:lvl5pPr>
            <a:lvl6pPr>
              <a:defRPr sz="2175" b="0">
                <a:solidFill>
                  <a:srgbClr val="18333D"/>
                </a:solidFill>
              </a:defRPr>
            </a:lvl6pPr>
            <a:lvl7pPr>
              <a:defRPr sz="2175" b="0">
                <a:solidFill>
                  <a:srgbClr val="18333D"/>
                </a:solidFill>
              </a:defRPr>
            </a:lvl7pPr>
            <a:lvl8pPr>
              <a:defRPr sz="2175" b="0">
                <a:solidFill>
                  <a:srgbClr val="18333D"/>
                </a:solidFill>
              </a:defRPr>
            </a:lvl8pPr>
            <a:lvl9pPr>
              <a:defRPr sz="2175" b="0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33D"/>
                </a:solidFill>
              </a:defRPr>
            </a:pPr>
            <a:r>
              <a:rPr sz="2175" b="0">
                <a:solidFill>
                  <a:srgbClr val="18333D"/>
                </a:solidFill>
              </a:rPr>
              <a:t>iDO₂ em mL/min/m².</a:t>
            </a:r>
          </a:p>
          <a:p xmlns:a="http://schemas.openxmlformats.org/drawingml/2006/main">
            <a:pPr>
              <a:defRPr sz="2175" b="0">
                <a:solidFill>
                  <a:srgbClr val="18333D"/>
                </a:solidFill>
              </a:defRPr>
            </a:pPr>
            <a:r>
              <a:rPr sz="2175" b="0">
                <a:solidFill>
                  <a:srgbClr val="18333D"/>
                </a:solidFill>
              </a:rPr>
              <a:t>A meta é uma referência para simulação e interpretação.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26F574-3C8D-4DD7-AE48-E448F90A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36E75"/>
                </a:solidFill>
              </a:defRPr>
            </a:defPPr>
            <a:lvl1pPr>
              <a:defRPr sz="1950" b="0">
                <a:solidFill>
                  <a:srgbClr val="536E75"/>
                </a:solidFill>
              </a:defRPr>
            </a:lvl1pPr>
            <a:lvl2pPr>
              <a:defRPr sz="1950" b="0">
                <a:solidFill>
                  <a:srgbClr val="536E75"/>
                </a:solidFill>
              </a:defRPr>
            </a:lvl2pPr>
            <a:lvl3pPr>
              <a:defRPr sz="1950" b="0">
                <a:solidFill>
                  <a:srgbClr val="536E75"/>
                </a:solidFill>
              </a:defRPr>
            </a:lvl3pPr>
            <a:lvl4pPr>
              <a:defRPr sz="1950" b="0">
                <a:solidFill>
                  <a:srgbClr val="536E75"/>
                </a:solidFill>
              </a:defRPr>
            </a:lvl4pPr>
            <a:lvl5pPr>
              <a:defRPr sz="1950" b="0">
                <a:solidFill>
                  <a:srgbClr val="536E75"/>
                </a:solidFill>
              </a:defRPr>
            </a:lvl5pPr>
            <a:lvl6pPr>
              <a:defRPr sz="1950" b="0">
                <a:solidFill>
                  <a:srgbClr val="536E75"/>
                </a:solidFill>
              </a:defRPr>
            </a:lvl6pPr>
            <a:lvl7pPr>
              <a:defRPr sz="1950" b="0">
                <a:solidFill>
                  <a:srgbClr val="536E75"/>
                </a:solidFill>
              </a:defRPr>
            </a:lvl7pPr>
            <a:lvl8pPr>
              <a:defRPr sz="1950" b="0">
                <a:solidFill>
                  <a:srgbClr val="536E75"/>
                </a:solidFill>
              </a:defRPr>
            </a:lvl8pPr>
            <a:lvl9pPr>
              <a:defRPr sz="1950" b="0">
                <a:solidFill>
                  <a:srgbClr val="536E7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E75"/>
                </a:solidFill>
              </a:defRPr>
            </a:pPr>
            <a:r>
              <a:rPr sz="1950" b="0">
                <a:solidFill>
                  <a:srgbClr val="536E75"/>
                </a:solidFill>
              </a:rPr>
              <a:t>Planejamento: 280 ou 300. Dashboard: alvo fixo de 280.</a:t>
            </a:r>
          </a:p>
        </p:txBody>
      </p:sp>
    </p:spTree>
    <p:extLst>
      <p:ext uri="{BB962C8B-B14F-4D97-AF65-F5344CB8AC3E}">
        <p14:creationId xmlns:p14="http://schemas.microsoft.com/office/powerpoint/2010/main" val="4512058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697E49-E184-43FB-A335-9E5DCA72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10744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33D"/>
                </a:solidFill>
              </a:defRPr>
            </a:defPPr>
            <a:lvl1pPr>
              <a:defRPr sz="3450" b="1">
                <a:solidFill>
                  <a:srgbClr val="18333D"/>
                </a:solidFill>
              </a:defRPr>
            </a:lvl1pPr>
            <a:lvl2pPr>
              <a:defRPr sz="3450" b="1">
                <a:solidFill>
                  <a:srgbClr val="18333D"/>
                </a:solidFill>
              </a:defRPr>
            </a:lvl2pPr>
            <a:lvl3pPr>
              <a:defRPr sz="3450" b="1">
                <a:solidFill>
                  <a:srgbClr val="18333D"/>
                </a:solidFill>
              </a:defRPr>
            </a:lvl3pPr>
            <a:lvl4pPr>
              <a:defRPr sz="3450" b="1">
                <a:solidFill>
                  <a:srgbClr val="18333D"/>
                </a:solidFill>
              </a:defRPr>
            </a:lvl4pPr>
            <a:lvl5pPr>
              <a:defRPr sz="3450" b="1">
                <a:solidFill>
                  <a:srgbClr val="18333D"/>
                </a:solidFill>
              </a:defRPr>
            </a:lvl5pPr>
            <a:lvl6pPr>
              <a:defRPr sz="3450" b="1">
                <a:solidFill>
                  <a:srgbClr val="18333D"/>
                </a:solidFill>
              </a:defRPr>
            </a:lvl6pPr>
            <a:lvl7pPr>
              <a:defRPr sz="3450" b="1">
                <a:solidFill>
                  <a:srgbClr val="18333D"/>
                </a:solidFill>
              </a:defRPr>
            </a:lvl7pPr>
            <a:lvl8pPr>
              <a:defRPr sz="3450" b="1">
                <a:solidFill>
                  <a:srgbClr val="18333D"/>
                </a:solidFill>
              </a:defRPr>
            </a:lvl8pPr>
            <a:lvl9pPr>
              <a:defRPr sz="3450" b="1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33D"/>
                </a:solidFill>
              </a:defRPr>
            </a:pPr>
            <a:r>
              <a:rPr sz="3450" b="1">
                <a:solidFill>
                  <a:srgbClr val="18333D"/>
                </a:solidFill>
              </a:rPr>
              <a:t>Temperatura e oferta de oxigênio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532483-4092-46F3-8121-D9C99D6B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E75"/>
                </a:solidFill>
              </a:defRPr>
            </a:defPPr>
            <a:lvl1pPr>
              <a:defRPr sz="1275" b="0">
                <a:solidFill>
                  <a:srgbClr val="536E75"/>
                </a:solidFill>
              </a:defRPr>
            </a:lvl1pPr>
            <a:lvl2pPr>
              <a:defRPr sz="1275" b="0">
                <a:solidFill>
                  <a:srgbClr val="536E75"/>
                </a:solidFill>
              </a:defRPr>
            </a:lvl2pPr>
            <a:lvl3pPr>
              <a:defRPr sz="1275" b="0">
                <a:solidFill>
                  <a:srgbClr val="536E75"/>
                </a:solidFill>
              </a:defRPr>
            </a:lvl3pPr>
            <a:lvl4pPr>
              <a:defRPr sz="1275" b="0">
                <a:solidFill>
                  <a:srgbClr val="536E75"/>
                </a:solidFill>
              </a:defRPr>
            </a:lvl4pPr>
            <a:lvl5pPr>
              <a:defRPr sz="1275" b="0">
                <a:solidFill>
                  <a:srgbClr val="536E75"/>
                </a:solidFill>
              </a:defRPr>
            </a:lvl5pPr>
            <a:lvl6pPr>
              <a:defRPr sz="1275" b="0">
                <a:solidFill>
                  <a:srgbClr val="536E75"/>
                </a:solidFill>
              </a:defRPr>
            </a:lvl6pPr>
            <a:lvl7pPr>
              <a:defRPr sz="1275" b="0">
                <a:solidFill>
                  <a:srgbClr val="536E75"/>
                </a:solidFill>
              </a:defRPr>
            </a:lvl7pPr>
            <a:lvl8pPr>
              <a:defRPr sz="1275" b="0">
                <a:solidFill>
                  <a:srgbClr val="536E75"/>
                </a:solidFill>
              </a:defRPr>
            </a:lvl8pPr>
            <a:lvl9pPr>
              <a:defRPr sz="1275" b="0">
                <a:solidFill>
                  <a:srgbClr val="536E7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E75"/>
                </a:solidFill>
              </a:defRPr>
            </a:pPr>
            <a:r>
              <a:rPr sz="1275" b="0">
                <a:solidFill>
                  <a:srgbClr val="536E75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771AD-15FA-4FE3-9CBF-78CA3599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87D79"/>
                </a:solidFill>
              </a:defRPr>
            </a:defPPr>
            <a:lvl1pPr>
              <a:defRPr sz="2325" b="1">
                <a:solidFill>
                  <a:srgbClr val="087D79"/>
                </a:solidFill>
              </a:defRPr>
            </a:lvl1pPr>
            <a:lvl2pPr>
              <a:defRPr sz="2325" b="1">
                <a:solidFill>
                  <a:srgbClr val="087D79"/>
                </a:solidFill>
              </a:defRPr>
            </a:lvl2pPr>
            <a:lvl3pPr>
              <a:defRPr sz="2325" b="1">
                <a:solidFill>
                  <a:srgbClr val="087D79"/>
                </a:solidFill>
              </a:defRPr>
            </a:lvl3pPr>
            <a:lvl4pPr>
              <a:defRPr sz="2325" b="1">
                <a:solidFill>
                  <a:srgbClr val="087D79"/>
                </a:solidFill>
              </a:defRPr>
            </a:lvl4pPr>
            <a:lvl5pPr>
              <a:defRPr sz="2325" b="1">
                <a:solidFill>
                  <a:srgbClr val="087D79"/>
                </a:solidFill>
              </a:defRPr>
            </a:lvl5pPr>
            <a:lvl6pPr>
              <a:defRPr sz="2325" b="1">
                <a:solidFill>
                  <a:srgbClr val="087D79"/>
                </a:solidFill>
              </a:defRPr>
            </a:lvl6pPr>
            <a:lvl7pPr>
              <a:defRPr sz="2325" b="1">
                <a:solidFill>
                  <a:srgbClr val="087D79"/>
                </a:solidFill>
              </a:defRPr>
            </a:lvl7pPr>
            <a:lvl8pPr>
              <a:defRPr sz="2325" b="1">
                <a:solidFill>
                  <a:srgbClr val="087D79"/>
                </a:solidFill>
              </a:defRPr>
            </a:lvl8pPr>
            <a:lvl9pPr>
              <a:defRPr sz="2325" b="1">
                <a:solidFill>
                  <a:srgbClr val="087D79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D79"/>
                </a:solidFill>
              </a:defRPr>
            </a:pPr>
            <a:r>
              <a:rPr sz="2325" b="1">
                <a:solidFill>
                  <a:srgbClr val="087D79"/>
                </a:solidFill>
              </a:rPr>
              <a:t>Meta do paciente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7607D-AD46-40A6-8322-6E562393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4857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33D"/>
                </a:solidFill>
              </a:defRPr>
            </a:defPPr>
            <a:lvl1pPr>
              <a:defRPr sz="2175" b="0">
                <a:solidFill>
                  <a:srgbClr val="18333D"/>
                </a:solidFill>
              </a:defRPr>
            </a:lvl1pPr>
            <a:lvl2pPr>
              <a:defRPr sz="2175" b="0">
                <a:solidFill>
                  <a:srgbClr val="18333D"/>
                </a:solidFill>
              </a:defRPr>
            </a:lvl2pPr>
            <a:lvl3pPr>
              <a:defRPr sz="2175" b="0">
                <a:solidFill>
                  <a:srgbClr val="18333D"/>
                </a:solidFill>
              </a:defRPr>
            </a:lvl3pPr>
            <a:lvl4pPr>
              <a:defRPr sz="2175" b="0">
                <a:solidFill>
                  <a:srgbClr val="18333D"/>
                </a:solidFill>
              </a:defRPr>
            </a:lvl4pPr>
            <a:lvl5pPr>
              <a:defRPr sz="2175" b="0">
                <a:solidFill>
                  <a:srgbClr val="18333D"/>
                </a:solidFill>
              </a:defRPr>
            </a:lvl5pPr>
            <a:lvl6pPr>
              <a:defRPr sz="2175" b="0">
                <a:solidFill>
                  <a:srgbClr val="18333D"/>
                </a:solidFill>
              </a:defRPr>
            </a:lvl6pPr>
            <a:lvl7pPr>
              <a:defRPr sz="2175" b="0">
                <a:solidFill>
                  <a:srgbClr val="18333D"/>
                </a:solidFill>
              </a:defRPr>
            </a:lvl7pPr>
            <a:lvl8pPr>
              <a:defRPr sz="2175" b="0">
                <a:solidFill>
                  <a:srgbClr val="18333D"/>
                </a:solidFill>
              </a:defRPr>
            </a:lvl8pPr>
            <a:lvl9pPr>
              <a:defRPr sz="2175" b="0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33D"/>
                </a:solidFill>
              </a:defRPr>
            </a:pPr>
            <a:r>
              <a:rPr sz="2175" b="0">
                <a:solidFill>
                  <a:srgbClr val="18333D"/>
                </a:solidFill>
              </a:rPr>
              <a:t>A equipe informa a temperatura planejada. A calculadora não deriva uma temperatura ideal a partir do fluxo.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51B81-3B93-4BCE-98C7-7C18A7E2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0025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87D79"/>
                </a:solidFill>
              </a:defRPr>
            </a:defPPr>
            <a:lvl1pPr>
              <a:defRPr sz="2325" b="1">
                <a:solidFill>
                  <a:srgbClr val="087D79"/>
                </a:solidFill>
              </a:defRPr>
            </a:lvl1pPr>
            <a:lvl2pPr>
              <a:defRPr sz="2325" b="1">
                <a:solidFill>
                  <a:srgbClr val="087D79"/>
                </a:solidFill>
              </a:defRPr>
            </a:lvl2pPr>
            <a:lvl3pPr>
              <a:defRPr sz="2325" b="1">
                <a:solidFill>
                  <a:srgbClr val="087D79"/>
                </a:solidFill>
              </a:defRPr>
            </a:lvl3pPr>
            <a:lvl4pPr>
              <a:defRPr sz="2325" b="1">
                <a:solidFill>
                  <a:srgbClr val="087D79"/>
                </a:solidFill>
              </a:defRPr>
            </a:lvl4pPr>
            <a:lvl5pPr>
              <a:defRPr sz="2325" b="1">
                <a:solidFill>
                  <a:srgbClr val="087D79"/>
                </a:solidFill>
              </a:defRPr>
            </a:lvl5pPr>
            <a:lvl6pPr>
              <a:defRPr sz="2325" b="1">
                <a:solidFill>
                  <a:srgbClr val="087D79"/>
                </a:solidFill>
              </a:defRPr>
            </a:lvl6pPr>
            <a:lvl7pPr>
              <a:defRPr sz="2325" b="1">
                <a:solidFill>
                  <a:srgbClr val="087D79"/>
                </a:solidFill>
              </a:defRPr>
            </a:lvl7pPr>
            <a:lvl8pPr>
              <a:defRPr sz="2325" b="1">
                <a:solidFill>
                  <a:srgbClr val="087D79"/>
                </a:solidFill>
              </a:defRPr>
            </a:lvl8pPr>
            <a:lvl9pPr>
              <a:defRPr sz="2325" b="1">
                <a:solidFill>
                  <a:srgbClr val="087D79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D79"/>
                </a:solidFill>
              </a:defRPr>
            </a:pPr>
            <a:r>
              <a:rPr sz="2325" b="1">
                <a:solidFill>
                  <a:srgbClr val="087D79"/>
                </a:solidFill>
              </a:rPr>
              <a:t>Monitorização térmica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B36482-44F4-4ADA-AD07-034DFD3B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62250"/>
            <a:ext cx="4857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33D"/>
                </a:solidFill>
              </a:defRPr>
            </a:defPPr>
            <a:lvl1pPr>
              <a:defRPr sz="2175" b="0">
                <a:solidFill>
                  <a:srgbClr val="18333D"/>
                </a:solidFill>
              </a:defRPr>
            </a:lvl1pPr>
            <a:lvl2pPr>
              <a:defRPr sz="2175" b="0">
                <a:solidFill>
                  <a:srgbClr val="18333D"/>
                </a:solidFill>
              </a:defRPr>
            </a:lvl2pPr>
            <a:lvl3pPr>
              <a:defRPr sz="2175" b="0">
                <a:solidFill>
                  <a:srgbClr val="18333D"/>
                </a:solidFill>
              </a:defRPr>
            </a:lvl3pPr>
            <a:lvl4pPr>
              <a:defRPr sz="2175" b="0">
                <a:solidFill>
                  <a:srgbClr val="18333D"/>
                </a:solidFill>
              </a:defRPr>
            </a:lvl4pPr>
            <a:lvl5pPr>
              <a:defRPr sz="2175" b="0">
                <a:solidFill>
                  <a:srgbClr val="18333D"/>
                </a:solidFill>
              </a:defRPr>
            </a:lvl5pPr>
            <a:lvl6pPr>
              <a:defRPr sz="2175" b="0">
                <a:solidFill>
                  <a:srgbClr val="18333D"/>
                </a:solidFill>
              </a:defRPr>
            </a:lvl6pPr>
            <a:lvl7pPr>
              <a:defRPr sz="2175" b="0">
                <a:solidFill>
                  <a:srgbClr val="18333D"/>
                </a:solidFill>
              </a:defRPr>
            </a:lvl7pPr>
            <a:lvl8pPr>
              <a:defRPr sz="2175" b="0">
                <a:solidFill>
                  <a:srgbClr val="18333D"/>
                </a:solidFill>
              </a:defRPr>
            </a:lvl8pPr>
            <a:lvl9pPr>
              <a:defRPr sz="2175" b="0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33D"/>
                </a:solidFill>
              </a:defRPr>
            </a:pPr>
            <a:r>
              <a:rPr sz="2175" b="0">
                <a:solidFill>
                  <a:srgbClr val="18333D"/>
                </a:solidFill>
              </a:rPr>
              <a:t>Temperatura do paciente, saída arterial e água do permutador representam medidas diferentes.</a:t>
            </a:r>
          </a:p>
        </p:txBody>
      </p:sp>
    </p:spTree>
    <p:extLst>
      <p:ext uri="{BB962C8B-B14F-4D97-AF65-F5344CB8AC3E}">
        <p14:creationId xmlns:p14="http://schemas.microsoft.com/office/powerpoint/2010/main" val="20010165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F20236-6FB1-4095-AD44-E18726A1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10744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33D"/>
                </a:solidFill>
              </a:defRPr>
            </a:defPPr>
            <a:lvl1pPr>
              <a:defRPr sz="3450" b="1">
                <a:solidFill>
                  <a:srgbClr val="18333D"/>
                </a:solidFill>
              </a:defRPr>
            </a:lvl1pPr>
            <a:lvl2pPr>
              <a:defRPr sz="3450" b="1">
                <a:solidFill>
                  <a:srgbClr val="18333D"/>
                </a:solidFill>
              </a:defRPr>
            </a:lvl2pPr>
            <a:lvl3pPr>
              <a:defRPr sz="3450" b="1">
                <a:solidFill>
                  <a:srgbClr val="18333D"/>
                </a:solidFill>
              </a:defRPr>
            </a:lvl3pPr>
            <a:lvl4pPr>
              <a:defRPr sz="3450" b="1">
                <a:solidFill>
                  <a:srgbClr val="18333D"/>
                </a:solidFill>
              </a:defRPr>
            </a:lvl4pPr>
            <a:lvl5pPr>
              <a:defRPr sz="3450" b="1">
                <a:solidFill>
                  <a:srgbClr val="18333D"/>
                </a:solidFill>
              </a:defRPr>
            </a:lvl5pPr>
            <a:lvl6pPr>
              <a:defRPr sz="3450" b="1">
                <a:solidFill>
                  <a:srgbClr val="18333D"/>
                </a:solidFill>
              </a:defRPr>
            </a:lvl6pPr>
            <a:lvl7pPr>
              <a:defRPr sz="3450" b="1">
                <a:solidFill>
                  <a:srgbClr val="18333D"/>
                </a:solidFill>
              </a:defRPr>
            </a:lvl7pPr>
            <a:lvl8pPr>
              <a:defRPr sz="3450" b="1">
                <a:solidFill>
                  <a:srgbClr val="18333D"/>
                </a:solidFill>
              </a:defRPr>
            </a:lvl8pPr>
            <a:lvl9pPr>
              <a:defRPr sz="3450" b="1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33D"/>
                </a:solidFill>
              </a:defRPr>
            </a:pPr>
            <a:r>
              <a:rPr sz="3450" b="1">
                <a:solidFill>
                  <a:srgbClr val="18333D"/>
                </a:solidFill>
              </a:rPr>
              <a:t>Hemoglobina, hematócrito e lactato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2175E-B373-4302-8774-8217A7E3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E75"/>
                </a:solidFill>
              </a:defRPr>
            </a:defPPr>
            <a:lvl1pPr>
              <a:defRPr sz="1275" b="0">
                <a:solidFill>
                  <a:srgbClr val="536E75"/>
                </a:solidFill>
              </a:defRPr>
            </a:lvl1pPr>
            <a:lvl2pPr>
              <a:defRPr sz="1275" b="0">
                <a:solidFill>
                  <a:srgbClr val="536E75"/>
                </a:solidFill>
              </a:defRPr>
            </a:lvl2pPr>
            <a:lvl3pPr>
              <a:defRPr sz="1275" b="0">
                <a:solidFill>
                  <a:srgbClr val="536E75"/>
                </a:solidFill>
              </a:defRPr>
            </a:lvl3pPr>
            <a:lvl4pPr>
              <a:defRPr sz="1275" b="0">
                <a:solidFill>
                  <a:srgbClr val="536E75"/>
                </a:solidFill>
              </a:defRPr>
            </a:lvl4pPr>
            <a:lvl5pPr>
              <a:defRPr sz="1275" b="0">
                <a:solidFill>
                  <a:srgbClr val="536E75"/>
                </a:solidFill>
              </a:defRPr>
            </a:lvl5pPr>
            <a:lvl6pPr>
              <a:defRPr sz="1275" b="0">
                <a:solidFill>
                  <a:srgbClr val="536E75"/>
                </a:solidFill>
              </a:defRPr>
            </a:lvl6pPr>
            <a:lvl7pPr>
              <a:defRPr sz="1275" b="0">
                <a:solidFill>
                  <a:srgbClr val="536E75"/>
                </a:solidFill>
              </a:defRPr>
            </a:lvl7pPr>
            <a:lvl8pPr>
              <a:defRPr sz="1275" b="0">
                <a:solidFill>
                  <a:srgbClr val="536E75"/>
                </a:solidFill>
              </a:defRPr>
            </a:lvl8pPr>
            <a:lvl9pPr>
              <a:defRPr sz="1275" b="0">
                <a:solidFill>
                  <a:srgbClr val="536E7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E75"/>
                </a:solidFill>
              </a:defRPr>
            </a:pPr>
            <a:r>
              <a:rPr sz="1275" b="0">
                <a:solidFill>
                  <a:srgbClr val="536E75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DDAE22-14F3-4BA2-B2A8-7004BCBB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87D79"/>
                </a:solidFill>
              </a:defRPr>
            </a:defPPr>
            <a:lvl1pPr>
              <a:defRPr sz="2325" b="1">
                <a:solidFill>
                  <a:srgbClr val="087D79"/>
                </a:solidFill>
              </a:defRPr>
            </a:lvl1pPr>
            <a:lvl2pPr>
              <a:defRPr sz="2325" b="1">
                <a:solidFill>
                  <a:srgbClr val="087D79"/>
                </a:solidFill>
              </a:defRPr>
            </a:lvl2pPr>
            <a:lvl3pPr>
              <a:defRPr sz="2325" b="1">
                <a:solidFill>
                  <a:srgbClr val="087D79"/>
                </a:solidFill>
              </a:defRPr>
            </a:lvl3pPr>
            <a:lvl4pPr>
              <a:defRPr sz="2325" b="1">
                <a:solidFill>
                  <a:srgbClr val="087D79"/>
                </a:solidFill>
              </a:defRPr>
            </a:lvl4pPr>
            <a:lvl5pPr>
              <a:defRPr sz="2325" b="1">
                <a:solidFill>
                  <a:srgbClr val="087D79"/>
                </a:solidFill>
              </a:defRPr>
            </a:lvl5pPr>
            <a:lvl6pPr>
              <a:defRPr sz="2325" b="1">
                <a:solidFill>
                  <a:srgbClr val="087D79"/>
                </a:solidFill>
              </a:defRPr>
            </a:lvl6pPr>
            <a:lvl7pPr>
              <a:defRPr sz="2325" b="1">
                <a:solidFill>
                  <a:srgbClr val="087D79"/>
                </a:solidFill>
              </a:defRPr>
            </a:lvl7pPr>
            <a:lvl8pPr>
              <a:defRPr sz="2325" b="1">
                <a:solidFill>
                  <a:srgbClr val="087D79"/>
                </a:solidFill>
              </a:defRPr>
            </a:lvl8pPr>
            <a:lvl9pPr>
              <a:defRPr sz="2325" b="1">
                <a:solidFill>
                  <a:srgbClr val="087D79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D79"/>
                </a:solidFill>
              </a:defRPr>
            </a:pPr>
            <a:r>
              <a:rPr sz="2325" b="1">
                <a:solidFill>
                  <a:srgbClr val="087D79"/>
                </a:solidFill>
              </a:rPr>
              <a:t>Hb e Hct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484FBA-018B-4552-A08B-8E2F4600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4857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33D"/>
                </a:solidFill>
              </a:defRPr>
            </a:defPPr>
            <a:lvl1pPr>
              <a:defRPr sz="2175" b="0">
                <a:solidFill>
                  <a:srgbClr val="18333D"/>
                </a:solidFill>
              </a:defRPr>
            </a:lvl1pPr>
            <a:lvl2pPr>
              <a:defRPr sz="2175" b="0">
                <a:solidFill>
                  <a:srgbClr val="18333D"/>
                </a:solidFill>
              </a:defRPr>
            </a:lvl2pPr>
            <a:lvl3pPr>
              <a:defRPr sz="2175" b="0">
                <a:solidFill>
                  <a:srgbClr val="18333D"/>
                </a:solidFill>
              </a:defRPr>
            </a:lvl3pPr>
            <a:lvl4pPr>
              <a:defRPr sz="2175" b="0">
                <a:solidFill>
                  <a:srgbClr val="18333D"/>
                </a:solidFill>
              </a:defRPr>
            </a:lvl4pPr>
            <a:lvl5pPr>
              <a:defRPr sz="2175" b="0">
                <a:solidFill>
                  <a:srgbClr val="18333D"/>
                </a:solidFill>
              </a:defRPr>
            </a:lvl5pPr>
            <a:lvl6pPr>
              <a:defRPr sz="2175" b="0">
                <a:solidFill>
                  <a:srgbClr val="18333D"/>
                </a:solidFill>
              </a:defRPr>
            </a:lvl6pPr>
            <a:lvl7pPr>
              <a:defRPr sz="2175" b="0">
                <a:solidFill>
                  <a:srgbClr val="18333D"/>
                </a:solidFill>
              </a:defRPr>
            </a:lvl7pPr>
            <a:lvl8pPr>
              <a:defRPr sz="2175" b="0">
                <a:solidFill>
                  <a:srgbClr val="18333D"/>
                </a:solidFill>
              </a:defRPr>
            </a:lvl8pPr>
            <a:lvl9pPr>
              <a:defRPr sz="2175" b="0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33D"/>
                </a:solidFill>
              </a:defRPr>
            </a:pPr>
            <a:r>
              <a:rPr sz="2175" b="0">
                <a:solidFill>
                  <a:srgbClr val="18333D"/>
                </a:solidFill>
              </a:rPr>
              <a:t>Hct estimado ≈ 3 × Hb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8333D"/>
                </a:solidFill>
              </a:defRPr>
            </a:pPr>
            <a:r>
              <a:rPr sz="2175" b="0">
                <a:solidFill>
                  <a:srgbClr val="18333D"/>
                </a:solidFill>
              </a:rPr>
              <a:t>O valor informado tem prioridade sobre a estimativa.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192532-03AE-4F58-89A2-B30D7C09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0025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87D79"/>
                </a:solidFill>
              </a:defRPr>
            </a:defPPr>
            <a:lvl1pPr>
              <a:defRPr sz="2325" b="1">
                <a:solidFill>
                  <a:srgbClr val="087D79"/>
                </a:solidFill>
              </a:defRPr>
            </a:lvl1pPr>
            <a:lvl2pPr>
              <a:defRPr sz="2325" b="1">
                <a:solidFill>
                  <a:srgbClr val="087D79"/>
                </a:solidFill>
              </a:defRPr>
            </a:lvl2pPr>
            <a:lvl3pPr>
              <a:defRPr sz="2325" b="1">
                <a:solidFill>
                  <a:srgbClr val="087D79"/>
                </a:solidFill>
              </a:defRPr>
            </a:lvl3pPr>
            <a:lvl4pPr>
              <a:defRPr sz="2325" b="1">
                <a:solidFill>
                  <a:srgbClr val="087D79"/>
                </a:solidFill>
              </a:defRPr>
            </a:lvl4pPr>
            <a:lvl5pPr>
              <a:defRPr sz="2325" b="1">
                <a:solidFill>
                  <a:srgbClr val="087D79"/>
                </a:solidFill>
              </a:defRPr>
            </a:lvl5pPr>
            <a:lvl6pPr>
              <a:defRPr sz="2325" b="1">
                <a:solidFill>
                  <a:srgbClr val="087D79"/>
                </a:solidFill>
              </a:defRPr>
            </a:lvl6pPr>
            <a:lvl7pPr>
              <a:defRPr sz="2325" b="1">
                <a:solidFill>
                  <a:srgbClr val="087D79"/>
                </a:solidFill>
              </a:defRPr>
            </a:lvl7pPr>
            <a:lvl8pPr>
              <a:defRPr sz="2325" b="1">
                <a:solidFill>
                  <a:srgbClr val="087D79"/>
                </a:solidFill>
              </a:defRPr>
            </a:lvl8pPr>
            <a:lvl9pPr>
              <a:defRPr sz="2325" b="1">
                <a:solidFill>
                  <a:srgbClr val="087D79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D79"/>
                </a:solidFill>
              </a:defRPr>
            </a:pPr>
            <a:r>
              <a:rPr sz="2325" b="1">
                <a:solidFill>
                  <a:srgbClr val="087D79"/>
                </a:solidFill>
              </a:rPr>
              <a:t>Lactato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7E3D14-B492-4C02-84AB-F396EB50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62250"/>
            <a:ext cx="4857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33D"/>
                </a:solidFill>
              </a:defRPr>
            </a:defPPr>
            <a:lvl1pPr>
              <a:defRPr sz="2175" b="0">
                <a:solidFill>
                  <a:srgbClr val="18333D"/>
                </a:solidFill>
              </a:defRPr>
            </a:lvl1pPr>
            <a:lvl2pPr>
              <a:defRPr sz="2175" b="0">
                <a:solidFill>
                  <a:srgbClr val="18333D"/>
                </a:solidFill>
              </a:defRPr>
            </a:lvl2pPr>
            <a:lvl3pPr>
              <a:defRPr sz="2175" b="0">
                <a:solidFill>
                  <a:srgbClr val="18333D"/>
                </a:solidFill>
              </a:defRPr>
            </a:lvl3pPr>
            <a:lvl4pPr>
              <a:defRPr sz="2175" b="0">
                <a:solidFill>
                  <a:srgbClr val="18333D"/>
                </a:solidFill>
              </a:defRPr>
            </a:lvl4pPr>
            <a:lvl5pPr>
              <a:defRPr sz="2175" b="0">
                <a:solidFill>
                  <a:srgbClr val="18333D"/>
                </a:solidFill>
              </a:defRPr>
            </a:lvl5pPr>
            <a:lvl6pPr>
              <a:defRPr sz="2175" b="0">
                <a:solidFill>
                  <a:srgbClr val="18333D"/>
                </a:solidFill>
              </a:defRPr>
            </a:lvl6pPr>
            <a:lvl7pPr>
              <a:defRPr sz="2175" b="0">
                <a:solidFill>
                  <a:srgbClr val="18333D"/>
                </a:solidFill>
              </a:defRPr>
            </a:lvl7pPr>
            <a:lvl8pPr>
              <a:defRPr sz="2175" b="0">
                <a:solidFill>
                  <a:srgbClr val="18333D"/>
                </a:solidFill>
              </a:defRPr>
            </a:lvl8pPr>
            <a:lvl9pPr>
              <a:defRPr sz="2175" b="0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33D"/>
                </a:solidFill>
              </a:defRPr>
            </a:pPr>
            <a:r>
              <a:rPr sz="2175" b="0">
                <a:solidFill>
                  <a:srgbClr val="18333D"/>
                </a:solidFill>
              </a:rPr>
              <a:t>mmol/L = mg/dL ÷ 9,009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8333D"/>
                </a:solidFill>
              </a:defRPr>
            </a:pPr>
            <a:r>
              <a:rPr sz="2175" b="0">
                <a:solidFill>
                  <a:srgbClr val="18333D"/>
                </a:solidFill>
              </a:rPr>
              <a:t>A tendência complementa a leitura da oferta de O₂.</a:t>
            </a:r>
          </a:p>
        </p:txBody>
      </p:sp>
    </p:spTree>
    <p:extLst>
      <p:ext uri="{BB962C8B-B14F-4D97-AF65-F5344CB8AC3E}">
        <p14:creationId xmlns:p14="http://schemas.microsoft.com/office/powerpoint/2010/main" val="5136665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DB23F8-2F7A-43F4-BB17-7B60A610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10744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33D"/>
                </a:solidFill>
              </a:defRPr>
            </a:defPPr>
            <a:lvl1pPr>
              <a:defRPr sz="3450" b="1">
                <a:solidFill>
                  <a:srgbClr val="18333D"/>
                </a:solidFill>
              </a:defRPr>
            </a:lvl1pPr>
            <a:lvl2pPr>
              <a:defRPr sz="3450" b="1">
                <a:solidFill>
                  <a:srgbClr val="18333D"/>
                </a:solidFill>
              </a:defRPr>
            </a:lvl2pPr>
            <a:lvl3pPr>
              <a:defRPr sz="3450" b="1">
                <a:solidFill>
                  <a:srgbClr val="18333D"/>
                </a:solidFill>
              </a:defRPr>
            </a:lvl3pPr>
            <a:lvl4pPr>
              <a:defRPr sz="3450" b="1">
                <a:solidFill>
                  <a:srgbClr val="18333D"/>
                </a:solidFill>
              </a:defRPr>
            </a:lvl4pPr>
            <a:lvl5pPr>
              <a:defRPr sz="3450" b="1">
                <a:solidFill>
                  <a:srgbClr val="18333D"/>
                </a:solidFill>
              </a:defRPr>
            </a:lvl5pPr>
            <a:lvl6pPr>
              <a:defRPr sz="3450" b="1">
                <a:solidFill>
                  <a:srgbClr val="18333D"/>
                </a:solidFill>
              </a:defRPr>
            </a:lvl6pPr>
            <a:lvl7pPr>
              <a:defRPr sz="3450" b="1">
                <a:solidFill>
                  <a:srgbClr val="18333D"/>
                </a:solidFill>
              </a:defRPr>
            </a:lvl7pPr>
            <a:lvl8pPr>
              <a:defRPr sz="3450" b="1">
                <a:solidFill>
                  <a:srgbClr val="18333D"/>
                </a:solidFill>
              </a:defRPr>
            </a:lvl8pPr>
            <a:lvl9pPr>
              <a:defRPr sz="3450" b="1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33D"/>
                </a:solidFill>
              </a:defRPr>
            </a:pPr>
            <a:r>
              <a:rPr sz="3450" b="1">
                <a:solidFill>
                  <a:srgbClr val="18333D"/>
                </a:solidFill>
              </a:rPr>
              <a:t>Oferta, consumo e extração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848A5E-035C-4B57-A412-C4E08F92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E75"/>
                </a:solidFill>
              </a:defRPr>
            </a:defPPr>
            <a:lvl1pPr>
              <a:defRPr sz="1275" b="0">
                <a:solidFill>
                  <a:srgbClr val="536E75"/>
                </a:solidFill>
              </a:defRPr>
            </a:lvl1pPr>
            <a:lvl2pPr>
              <a:defRPr sz="1275" b="0">
                <a:solidFill>
                  <a:srgbClr val="536E75"/>
                </a:solidFill>
              </a:defRPr>
            </a:lvl2pPr>
            <a:lvl3pPr>
              <a:defRPr sz="1275" b="0">
                <a:solidFill>
                  <a:srgbClr val="536E75"/>
                </a:solidFill>
              </a:defRPr>
            </a:lvl3pPr>
            <a:lvl4pPr>
              <a:defRPr sz="1275" b="0">
                <a:solidFill>
                  <a:srgbClr val="536E75"/>
                </a:solidFill>
              </a:defRPr>
            </a:lvl4pPr>
            <a:lvl5pPr>
              <a:defRPr sz="1275" b="0">
                <a:solidFill>
                  <a:srgbClr val="536E75"/>
                </a:solidFill>
              </a:defRPr>
            </a:lvl5pPr>
            <a:lvl6pPr>
              <a:defRPr sz="1275" b="0">
                <a:solidFill>
                  <a:srgbClr val="536E75"/>
                </a:solidFill>
              </a:defRPr>
            </a:lvl6pPr>
            <a:lvl7pPr>
              <a:defRPr sz="1275" b="0">
                <a:solidFill>
                  <a:srgbClr val="536E75"/>
                </a:solidFill>
              </a:defRPr>
            </a:lvl7pPr>
            <a:lvl8pPr>
              <a:defRPr sz="1275" b="0">
                <a:solidFill>
                  <a:srgbClr val="536E75"/>
                </a:solidFill>
              </a:defRPr>
            </a:lvl8pPr>
            <a:lvl9pPr>
              <a:defRPr sz="1275" b="0">
                <a:solidFill>
                  <a:srgbClr val="536E7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E75"/>
                </a:solidFill>
              </a:defRPr>
            </a:pPr>
            <a:r>
              <a:rPr sz="1275" b="0">
                <a:solidFill>
                  <a:srgbClr val="536E75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603B41-986F-4DB9-8198-EB2E7E8B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0744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087D79"/>
                </a:solidFill>
              </a:defRPr>
            </a:defPPr>
            <a:lvl1pPr>
              <a:defRPr sz="3225" b="1">
                <a:solidFill>
                  <a:srgbClr val="087D79"/>
                </a:solidFill>
              </a:defRPr>
            </a:lvl1pPr>
            <a:lvl2pPr>
              <a:defRPr sz="3225" b="1">
                <a:solidFill>
                  <a:srgbClr val="087D79"/>
                </a:solidFill>
              </a:defRPr>
            </a:lvl2pPr>
            <a:lvl3pPr>
              <a:defRPr sz="3225" b="1">
                <a:solidFill>
                  <a:srgbClr val="087D79"/>
                </a:solidFill>
              </a:defRPr>
            </a:lvl3pPr>
            <a:lvl4pPr>
              <a:defRPr sz="3225" b="1">
                <a:solidFill>
                  <a:srgbClr val="087D79"/>
                </a:solidFill>
              </a:defRPr>
            </a:lvl4pPr>
            <a:lvl5pPr>
              <a:defRPr sz="3225" b="1">
                <a:solidFill>
                  <a:srgbClr val="087D79"/>
                </a:solidFill>
              </a:defRPr>
            </a:lvl5pPr>
            <a:lvl6pPr>
              <a:defRPr sz="3225" b="1">
                <a:solidFill>
                  <a:srgbClr val="087D79"/>
                </a:solidFill>
              </a:defRPr>
            </a:lvl6pPr>
            <a:lvl7pPr>
              <a:defRPr sz="3225" b="1">
                <a:solidFill>
                  <a:srgbClr val="087D79"/>
                </a:solidFill>
              </a:defRPr>
            </a:lvl7pPr>
            <a:lvl8pPr>
              <a:defRPr sz="3225" b="1">
                <a:solidFill>
                  <a:srgbClr val="087D79"/>
                </a:solidFill>
              </a:defRPr>
            </a:lvl8pPr>
            <a:lvl9pPr>
              <a:defRPr sz="3225" b="1">
                <a:solidFill>
                  <a:srgbClr val="087D79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087D79"/>
                </a:solidFill>
              </a:defRPr>
            </a:pPr>
            <a:r>
              <a:rPr sz="3225" b="1">
                <a:solidFill>
                  <a:srgbClr val="087D79"/>
                </a:solidFill>
              </a:rPr>
              <a:t>O₂ER = (iVO₂ / iDO₂) × 100</a:t>
            </a:r>
          </a:p>
          <a:p xmlns:a="http://schemas.openxmlformats.org/drawingml/2006/main">
            <a:pPr>
              <a:defRPr sz="3225" b="1">
                <a:solidFill>
                  <a:srgbClr val="087D79"/>
                </a:solidFill>
              </a:defRPr>
            </a:pPr>
            <a:r>
              <a:rPr sz="3225" b="1">
                <a:solidFill>
                  <a:srgbClr val="087D79"/>
                </a:solidFill>
              </a:rPr>
              <a:t>DO₂/VO₂ = iDO₂ / iVO₂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6C7A2E-08CB-498E-92BD-DFBC5D50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33D"/>
                </a:solidFill>
              </a:defRPr>
            </a:defPPr>
            <a:lvl1pPr>
              <a:defRPr sz="2175" b="0">
                <a:solidFill>
                  <a:srgbClr val="18333D"/>
                </a:solidFill>
              </a:defRPr>
            </a:lvl1pPr>
            <a:lvl2pPr>
              <a:defRPr sz="2175" b="0">
                <a:solidFill>
                  <a:srgbClr val="18333D"/>
                </a:solidFill>
              </a:defRPr>
            </a:lvl2pPr>
            <a:lvl3pPr>
              <a:defRPr sz="2175" b="0">
                <a:solidFill>
                  <a:srgbClr val="18333D"/>
                </a:solidFill>
              </a:defRPr>
            </a:lvl3pPr>
            <a:lvl4pPr>
              <a:defRPr sz="2175" b="0">
                <a:solidFill>
                  <a:srgbClr val="18333D"/>
                </a:solidFill>
              </a:defRPr>
            </a:lvl4pPr>
            <a:lvl5pPr>
              <a:defRPr sz="2175" b="0">
                <a:solidFill>
                  <a:srgbClr val="18333D"/>
                </a:solidFill>
              </a:defRPr>
            </a:lvl5pPr>
            <a:lvl6pPr>
              <a:defRPr sz="2175" b="0">
                <a:solidFill>
                  <a:srgbClr val="18333D"/>
                </a:solidFill>
              </a:defRPr>
            </a:lvl6pPr>
            <a:lvl7pPr>
              <a:defRPr sz="2175" b="0">
                <a:solidFill>
                  <a:srgbClr val="18333D"/>
                </a:solidFill>
              </a:defRPr>
            </a:lvl7pPr>
            <a:lvl8pPr>
              <a:defRPr sz="2175" b="0">
                <a:solidFill>
                  <a:srgbClr val="18333D"/>
                </a:solidFill>
              </a:defRPr>
            </a:lvl8pPr>
            <a:lvl9pPr>
              <a:defRPr sz="2175" b="0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33D"/>
                </a:solidFill>
              </a:defRPr>
            </a:pPr>
            <a:r>
              <a:rPr sz="2175" b="0">
                <a:solidFill>
                  <a:srgbClr val="18333D"/>
                </a:solidFill>
              </a:rPr>
              <a:t>O iVO₂ precisa ser informado e ter origem conhecida.</a:t>
            </a:r>
          </a:p>
          <a:p xmlns:a="http://schemas.openxmlformats.org/drawingml/2006/main">
            <a:pPr>
              <a:defRPr sz="2175" b="0">
                <a:solidFill>
                  <a:srgbClr val="18333D"/>
                </a:solidFill>
              </a:defRPr>
            </a:pPr>
            <a:r>
              <a:rPr sz="2175" b="0">
                <a:solidFill>
                  <a:srgbClr val="18333D"/>
                </a:solidFill>
              </a:rPr>
              <a:t>O motor não o calcula automaticamente pelo princípio de Fick.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D87872-AF0E-4BBC-8805-FEA23160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36E75"/>
                </a:solidFill>
              </a:defRPr>
            </a:defPPr>
            <a:lvl1pPr>
              <a:defRPr sz="1950" b="0">
                <a:solidFill>
                  <a:srgbClr val="536E75"/>
                </a:solidFill>
              </a:defRPr>
            </a:lvl1pPr>
            <a:lvl2pPr>
              <a:defRPr sz="1950" b="0">
                <a:solidFill>
                  <a:srgbClr val="536E75"/>
                </a:solidFill>
              </a:defRPr>
            </a:lvl2pPr>
            <a:lvl3pPr>
              <a:defRPr sz="1950" b="0">
                <a:solidFill>
                  <a:srgbClr val="536E75"/>
                </a:solidFill>
              </a:defRPr>
            </a:lvl3pPr>
            <a:lvl4pPr>
              <a:defRPr sz="1950" b="0">
                <a:solidFill>
                  <a:srgbClr val="536E75"/>
                </a:solidFill>
              </a:defRPr>
            </a:lvl4pPr>
            <a:lvl5pPr>
              <a:defRPr sz="1950" b="0">
                <a:solidFill>
                  <a:srgbClr val="536E75"/>
                </a:solidFill>
              </a:defRPr>
            </a:lvl5pPr>
            <a:lvl6pPr>
              <a:defRPr sz="1950" b="0">
                <a:solidFill>
                  <a:srgbClr val="536E75"/>
                </a:solidFill>
              </a:defRPr>
            </a:lvl6pPr>
            <a:lvl7pPr>
              <a:defRPr sz="1950" b="0">
                <a:solidFill>
                  <a:srgbClr val="536E75"/>
                </a:solidFill>
              </a:defRPr>
            </a:lvl7pPr>
            <a:lvl8pPr>
              <a:defRPr sz="1950" b="0">
                <a:solidFill>
                  <a:srgbClr val="536E75"/>
                </a:solidFill>
              </a:defRPr>
            </a:lvl8pPr>
            <a:lvl9pPr>
              <a:defRPr sz="1950" b="0">
                <a:solidFill>
                  <a:srgbClr val="536E7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E75"/>
                </a:solidFill>
              </a:defRPr>
            </a:pPr>
            <a:r>
              <a:rPr sz="1950" b="0">
                <a:solidFill>
                  <a:srgbClr val="536E75"/>
                </a:solidFill>
              </a:rPr>
              <a:t>SvO₂ e extração ajudam a contextualizar a oferta.</a:t>
            </a:r>
          </a:p>
        </p:txBody>
      </p:sp>
    </p:spTree>
    <p:extLst>
      <p:ext uri="{BB962C8B-B14F-4D97-AF65-F5344CB8AC3E}">
        <p14:creationId xmlns:p14="http://schemas.microsoft.com/office/powerpoint/2010/main" val="2649079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1A97D4-6BAC-4377-BB57-F257DAD4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10744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33D"/>
                </a:solidFill>
              </a:defRPr>
            </a:defPPr>
            <a:lvl1pPr>
              <a:defRPr sz="3450" b="1">
                <a:solidFill>
                  <a:srgbClr val="18333D"/>
                </a:solidFill>
              </a:defRPr>
            </a:lvl1pPr>
            <a:lvl2pPr>
              <a:defRPr sz="3450" b="1">
                <a:solidFill>
                  <a:srgbClr val="18333D"/>
                </a:solidFill>
              </a:defRPr>
            </a:lvl2pPr>
            <a:lvl3pPr>
              <a:defRPr sz="3450" b="1">
                <a:solidFill>
                  <a:srgbClr val="18333D"/>
                </a:solidFill>
              </a:defRPr>
            </a:lvl3pPr>
            <a:lvl4pPr>
              <a:defRPr sz="3450" b="1">
                <a:solidFill>
                  <a:srgbClr val="18333D"/>
                </a:solidFill>
              </a:defRPr>
            </a:lvl4pPr>
            <a:lvl5pPr>
              <a:defRPr sz="3450" b="1">
                <a:solidFill>
                  <a:srgbClr val="18333D"/>
                </a:solidFill>
              </a:defRPr>
            </a:lvl5pPr>
            <a:lvl6pPr>
              <a:defRPr sz="3450" b="1">
                <a:solidFill>
                  <a:srgbClr val="18333D"/>
                </a:solidFill>
              </a:defRPr>
            </a:lvl6pPr>
            <a:lvl7pPr>
              <a:defRPr sz="3450" b="1">
                <a:solidFill>
                  <a:srgbClr val="18333D"/>
                </a:solidFill>
              </a:defRPr>
            </a:lvl7pPr>
            <a:lvl8pPr>
              <a:defRPr sz="3450" b="1">
                <a:solidFill>
                  <a:srgbClr val="18333D"/>
                </a:solidFill>
              </a:defRPr>
            </a:lvl8pPr>
            <a:lvl9pPr>
              <a:defRPr sz="3450" b="1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33D"/>
                </a:solidFill>
              </a:defRPr>
            </a:pPr>
            <a:r>
              <a:rPr sz="3450" b="1">
                <a:solidFill>
                  <a:srgbClr val="18333D"/>
                </a:solidFill>
              </a:rPr>
              <a:t>Outras dimensões da monitorização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D4610D-8366-4E31-BED2-894D2CFB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E75"/>
                </a:solidFill>
              </a:defRPr>
            </a:defPPr>
            <a:lvl1pPr>
              <a:defRPr sz="1275" b="0">
                <a:solidFill>
                  <a:srgbClr val="536E75"/>
                </a:solidFill>
              </a:defRPr>
            </a:lvl1pPr>
            <a:lvl2pPr>
              <a:defRPr sz="1275" b="0">
                <a:solidFill>
                  <a:srgbClr val="536E75"/>
                </a:solidFill>
              </a:defRPr>
            </a:lvl2pPr>
            <a:lvl3pPr>
              <a:defRPr sz="1275" b="0">
                <a:solidFill>
                  <a:srgbClr val="536E75"/>
                </a:solidFill>
              </a:defRPr>
            </a:lvl3pPr>
            <a:lvl4pPr>
              <a:defRPr sz="1275" b="0">
                <a:solidFill>
                  <a:srgbClr val="536E75"/>
                </a:solidFill>
              </a:defRPr>
            </a:lvl4pPr>
            <a:lvl5pPr>
              <a:defRPr sz="1275" b="0">
                <a:solidFill>
                  <a:srgbClr val="536E75"/>
                </a:solidFill>
              </a:defRPr>
            </a:lvl5pPr>
            <a:lvl6pPr>
              <a:defRPr sz="1275" b="0">
                <a:solidFill>
                  <a:srgbClr val="536E75"/>
                </a:solidFill>
              </a:defRPr>
            </a:lvl6pPr>
            <a:lvl7pPr>
              <a:defRPr sz="1275" b="0">
                <a:solidFill>
                  <a:srgbClr val="536E75"/>
                </a:solidFill>
              </a:defRPr>
            </a:lvl7pPr>
            <a:lvl8pPr>
              <a:defRPr sz="1275" b="0">
                <a:solidFill>
                  <a:srgbClr val="536E75"/>
                </a:solidFill>
              </a:defRPr>
            </a:lvl8pPr>
            <a:lvl9pPr>
              <a:defRPr sz="1275" b="0">
                <a:solidFill>
                  <a:srgbClr val="536E7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E75"/>
                </a:solidFill>
              </a:defRPr>
            </a:pPr>
            <a:r>
              <a:rPr sz="1275" b="0">
                <a:solidFill>
                  <a:srgbClr val="536E75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63801A-B8FA-49A4-8A42-FCF45CF7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87D79"/>
                </a:solidFill>
              </a:defRPr>
            </a:defPPr>
            <a:lvl1pPr>
              <a:defRPr sz="2325" b="1">
                <a:solidFill>
                  <a:srgbClr val="087D79"/>
                </a:solidFill>
              </a:defRPr>
            </a:lvl1pPr>
            <a:lvl2pPr>
              <a:defRPr sz="2325" b="1">
                <a:solidFill>
                  <a:srgbClr val="087D79"/>
                </a:solidFill>
              </a:defRPr>
            </a:lvl2pPr>
            <a:lvl3pPr>
              <a:defRPr sz="2325" b="1">
                <a:solidFill>
                  <a:srgbClr val="087D79"/>
                </a:solidFill>
              </a:defRPr>
            </a:lvl3pPr>
            <a:lvl4pPr>
              <a:defRPr sz="2325" b="1">
                <a:solidFill>
                  <a:srgbClr val="087D79"/>
                </a:solidFill>
              </a:defRPr>
            </a:lvl4pPr>
            <a:lvl5pPr>
              <a:defRPr sz="2325" b="1">
                <a:solidFill>
                  <a:srgbClr val="087D79"/>
                </a:solidFill>
              </a:defRPr>
            </a:lvl5pPr>
            <a:lvl6pPr>
              <a:defRPr sz="2325" b="1">
                <a:solidFill>
                  <a:srgbClr val="087D79"/>
                </a:solidFill>
              </a:defRPr>
            </a:lvl6pPr>
            <a:lvl7pPr>
              <a:defRPr sz="2325" b="1">
                <a:solidFill>
                  <a:srgbClr val="087D79"/>
                </a:solidFill>
              </a:defRPr>
            </a:lvl7pPr>
            <a:lvl8pPr>
              <a:defRPr sz="2325" b="1">
                <a:solidFill>
                  <a:srgbClr val="087D79"/>
                </a:solidFill>
              </a:defRPr>
            </a:lvl8pPr>
            <a:lvl9pPr>
              <a:defRPr sz="2325" b="1">
                <a:solidFill>
                  <a:srgbClr val="087D79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D79"/>
                </a:solidFill>
              </a:defRPr>
            </a:pPr>
            <a:r>
              <a:rPr sz="2325" b="1">
                <a:solidFill>
                  <a:srgbClr val="087D79"/>
                </a:solidFill>
              </a:rPr>
              <a:t>Gasometria e eletrólitos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6EAC77-65D6-4A6B-AB51-08E8959B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4857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33D"/>
                </a:solidFill>
              </a:defRPr>
            </a:defPPr>
            <a:lvl1pPr>
              <a:defRPr sz="2175" b="0">
                <a:solidFill>
                  <a:srgbClr val="18333D"/>
                </a:solidFill>
              </a:defRPr>
            </a:lvl1pPr>
            <a:lvl2pPr>
              <a:defRPr sz="2175" b="0">
                <a:solidFill>
                  <a:srgbClr val="18333D"/>
                </a:solidFill>
              </a:defRPr>
            </a:lvl2pPr>
            <a:lvl3pPr>
              <a:defRPr sz="2175" b="0">
                <a:solidFill>
                  <a:srgbClr val="18333D"/>
                </a:solidFill>
              </a:defRPr>
            </a:lvl3pPr>
            <a:lvl4pPr>
              <a:defRPr sz="2175" b="0">
                <a:solidFill>
                  <a:srgbClr val="18333D"/>
                </a:solidFill>
              </a:defRPr>
            </a:lvl4pPr>
            <a:lvl5pPr>
              <a:defRPr sz="2175" b="0">
                <a:solidFill>
                  <a:srgbClr val="18333D"/>
                </a:solidFill>
              </a:defRPr>
            </a:lvl5pPr>
            <a:lvl6pPr>
              <a:defRPr sz="2175" b="0">
                <a:solidFill>
                  <a:srgbClr val="18333D"/>
                </a:solidFill>
              </a:defRPr>
            </a:lvl6pPr>
            <a:lvl7pPr>
              <a:defRPr sz="2175" b="0">
                <a:solidFill>
                  <a:srgbClr val="18333D"/>
                </a:solidFill>
              </a:defRPr>
            </a:lvl7pPr>
            <a:lvl8pPr>
              <a:defRPr sz="2175" b="0">
                <a:solidFill>
                  <a:srgbClr val="18333D"/>
                </a:solidFill>
              </a:defRPr>
            </a:lvl8pPr>
            <a:lvl9pPr>
              <a:defRPr sz="2175" b="0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33D"/>
                </a:solidFill>
              </a:defRPr>
            </a:pPr>
            <a:r>
              <a:rPr sz="2175" b="0">
                <a:solidFill>
                  <a:srgbClr val="18333D"/>
                </a:solidFill>
              </a:rPr>
              <a:t>pH, PaCO₂, HCO₃⁻ e BE.</a:t>
            </a:r>
          </a:p>
          <a:p xmlns:a="http://schemas.openxmlformats.org/drawingml/2006/main">
            <a:pPr>
              <a:defRPr sz="2175" b="0">
                <a:solidFill>
                  <a:srgbClr val="18333D"/>
                </a:solidFill>
              </a:defRPr>
            </a:pPr>
            <a:r>
              <a:rPr sz="2175" b="0">
                <a:solidFill>
                  <a:srgbClr val="18333D"/>
                </a:solidFill>
              </a:rPr>
              <a:t>Na⁺, Cl⁻, K⁺, Ca e glicose.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8333D"/>
                </a:solidFill>
              </a:defRPr>
            </a:pPr>
            <a:r>
              <a:rPr sz="2175" b="0">
                <a:solidFill>
                  <a:srgbClr val="18333D"/>
                </a:solidFill>
              </a:rPr>
              <a:t>Ânion gap = Na − (Cl + HCO₃).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F121A5-C40D-40CC-B5C0-D31DD27A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0025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87D79"/>
                </a:solidFill>
              </a:defRPr>
            </a:defPPr>
            <a:lvl1pPr>
              <a:defRPr sz="2325" b="1">
                <a:solidFill>
                  <a:srgbClr val="087D79"/>
                </a:solidFill>
              </a:defRPr>
            </a:lvl1pPr>
            <a:lvl2pPr>
              <a:defRPr sz="2325" b="1">
                <a:solidFill>
                  <a:srgbClr val="087D79"/>
                </a:solidFill>
              </a:defRPr>
            </a:lvl2pPr>
            <a:lvl3pPr>
              <a:defRPr sz="2325" b="1">
                <a:solidFill>
                  <a:srgbClr val="087D79"/>
                </a:solidFill>
              </a:defRPr>
            </a:lvl3pPr>
            <a:lvl4pPr>
              <a:defRPr sz="2325" b="1">
                <a:solidFill>
                  <a:srgbClr val="087D79"/>
                </a:solidFill>
              </a:defRPr>
            </a:lvl4pPr>
            <a:lvl5pPr>
              <a:defRPr sz="2325" b="1">
                <a:solidFill>
                  <a:srgbClr val="087D79"/>
                </a:solidFill>
              </a:defRPr>
            </a:lvl5pPr>
            <a:lvl6pPr>
              <a:defRPr sz="2325" b="1">
                <a:solidFill>
                  <a:srgbClr val="087D79"/>
                </a:solidFill>
              </a:defRPr>
            </a:lvl6pPr>
            <a:lvl7pPr>
              <a:defRPr sz="2325" b="1">
                <a:solidFill>
                  <a:srgbClr val="087D79"/>
                </a:solidFill>
              </a:defRPr>
            </a:lvl7pPr>
            <a:lvl8pPr>
              <a:defRPr sz="2325" b="1">
                <a:solidFill>
                  <a:srgbClr val="087D79"/>
                </a:solidFill>
              </a:defRPr>
            </a:lvl8pPr>
            <a:lvl9pPr>
              <a:defRPr sz="2325" b="1">
                <a:solidFill>
                  <a:srgbClr val="087D79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D79"/>
                </a:solidFill>
              </a:defRPr>
            </a:pPr>
            <a:r>
              <a:rPr sz="2325" b="1">
                <a:solidFill>
                  <a:srgbClr val="087D79"/>
                </a:solidFill>
              </a:rPr>
              <a:t>Perfusão e circuito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264763-0194-41C7-B50E-29E32DC7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62250"/>
            <a:ext cx="4857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33D"/>
                </a:solidFill>
              </a:defRPr>
            </a:defPPr>
            <a:lvl1pPr>
              <a:defRPr sz="2175" b="0">
                <a:solidFill>
                  <a:srgbClr val="18333D"/>
                </a:solidFill>
              </a:defRPr>
            </a:lvl1pPr>
            <a:lvl2pPr>
              <a:defRPr sz="2175" b="0">
                <a:solidFill>
                  <a:srgbClr val="18333D"/>
                </a:solidFill>
              </a:defRPr>
            </a:lvl2pPr>
            <a:lvl3pPr>
              <a:defRPr sz="2175" b="0">
                <a:solidFill>
                  <a:srgbClr val="18333D"/>
                </a:solidFill>
              </a:defRPr>
            </a:lvl3pPr>
            <a:lvl4pPr>
              <a:defRPr sz="2175" b="0">
                <a:solidFill>
                  <a:srgbClr val="18333D"/>
                </a:solidFill>
              </a:defRPr>
            </a:lvl4pPr>
            <a:lvl5pPr>
              <a:defRPr sz="2175" b="0">
                <a:solidFill>
                  <a:srgbClr val="18333D"/>
                </a:solidFill>
              </a:defRPr>
            </a:lvl5pPr>
            <a:lvl6pPr>
              <a:defRPr sz="2175" b="0">
                <a:solidFill>
                  <a:srgbClr val="18333D"/>
                </a:solidFill>
              </a:defRPr>
            </a:lvl6pPr>
            <a:lvl7pPr>
              <a:defRPr sz="2175" b="0">
                <a:solidFill>
                  <a:srgbClr val="18333D"/>
                </a:solidFill>
              </a:defRPr>
            </a:lvl7pPr>
            <a:lvl8pPr>
              <a:defRPr sz="2175" b="0">
                <a:solidFill>
                  <a:srgbClr val="18333D"/>
                </a:solidFill>
              </a:defRPr>
            </a:lvl8pPr>
            <a:lvl9pPr>
              <a:defRPr sz="2175" b="0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33D"/>
                </a:solidFill>
              </a:defRPr>
            </a:pPr>
            <a:r>
              <a:rPr sz="2175" b="0">
                <a:solidFill>
                  <a:srgbClr val="18333D"/>
                </a:solidFill>
              </a:rPr>
              <a:t>PAM, gap PCO₂ e FiO₂.</a:t>
            </a:r>
          </a:p>
          <a:p xmlns:a="http://schemas.openxmlformats.org/drawingml/2006/main">
            <a:pPr>
              <a:defRPr sz="2175" b="0">
                <a:solidFill>
                  <a:srgbClr val="18333D"/>
                </a:solidFill>
              </a:defRPr>
            </a:pPr>
            <a:r>
              <a:rPr sz="2175" b="0">
                <a:solidFill>
                  <a:srgbClr val="18333D"/>
                </a:solidFill>
              </a:rPr>
              <a:t>Pressões pré e pós-membrana.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8333D"/>
                </a:solidFill>
              </a:defRPr>
            </a:pPr>
            <a:r>
              <a:rPr sz="2175" b="0">
                <a:solidFill>
                  <a:srgbClr val="18333D"/>
                </a:solidFill>
              </a:rPr>
              <a:t>Diurese indexada e contexto volumétrico.</a:t>
            </a:r>
          </a:p>
        </p:txBody>
      </p:sp>
    </p:spTree>
    <p:extLst>
      <p:ext uri="{BB962C8B-B14F-4D97-AF65-F5344CB8AC3E}">
        <p14:creationId xmlns:p14="http://schemas.microsoft.com/office/powerpoint/2010/main" val="20270348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02B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DFE13F-D443-4873-84C4-74C53D51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10744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</a:defRPr>
            </a:defPPr>
            <a:lvl1pPr>
              <a:defRPr sz="3450" b="1">
                <a:solidFill>
                  <a:srgbClr val="FFFFFF"/>
                </a:solidFill>
              </a:defRPr>
            </a:lvl1pPr>
            <a:lvl2pPr>
              <a:defRPr sz="3450" b="1">
                <a:solidFill>
                  <a:srgbClr val="FFFFFF"/>
                </a:solidFill>
              </a:defRPr>
            </a:lvl2pPr>
            <a:lvl3pPr>
              <a:defRPr sz="3450" b="1">
                <a:solidFill>
                  <a:srgbClr val="FFFFFF"/>
                </a:solidFill>
              </a:defRPr>
            </a:lvl3pPr>
            <a:lvl4pPr>
              <a:defRPr sz="3450" b="1">
                <a:solidFill>
                  <a:srgbClr val="FFFFFF"/>
                </a:solidFill>
              </a:defRPr>
            </a:lvl4pPr>
            <a:lvl5pPr>
              <a:defRPr sz="3450" b="1">
                <a:solidFill>
                  <a:srgbClr val="FFFFFF"/>
                </a:solidFill>
              </a:defRPr>
            </a:lvl5pPr>
            <a:lvl6pPr>
              <a:defRPr sz="3450" b="1">
                <a:solidFill>
                  <a:srgbClr val="FFFFFF"/>
                </a:solidFill>
              </a:defRPr>
            </a:lvl6pPr>
            <a:lvl7pPr>
              <a:defRPr sz="3450" b="1">
                <a:solidFill>
                  <a:srgbClr val="FFFFFF"/>
                </a:solidFill>
              </a:defRPr>
            </a:lvl7pPr>
            <a:lvl8pPr>
              <a:defRPr sz="3450" b="1">
                <a:solidFill>
                  <a:srgbClr val="FFFFFF"/>
                </a:solidFill>
              </a:defRPr>
            </a:lvl8pPr>
            <a:lvl9pPr>
              <a:defRPr sz="34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A dimensão temporal da perfusão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9687F2-59E1-4645-8207-BA8F5CFF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BCD0D5"/>
                </a:solidFill>
              </a:defRPr>
            </a:defPPr>
            <a:lvl1pPr>
              <a:defRPr sz="1275" b="0">
                <a:solidFill>
                  <a:srgbClr val="BCD0D5"/>
                </a:solidFill>
              </a:defRPr>
            </a:lvl1pPr>
            <a:lvl2pPr>
              <a:defRPr sz="1275" b="0">
                <a:solidFill>
                  <a:srgbClr val="BCD0D5"/>
                </a:solidFill>
              </a:defRPr>
            </a:lvl2pPr>
            <a:lvl3pPr>
              <a:defRPr sz="1275" b="0">
                <a:solidFill>
                  <a:srgbClr val="BCD0D5"/>
                </a:solidFill>
              </a:defRPr>
            </a:lvl3pPr>
            <a:lvl4pPr>
              <a:defRPr sz="1275" b="0">
                <a:solidFill>
                  <a:srgbClr val="BCD0D5"/>
                </a:solidFill>
              </a:defRPr>
            </a:lvl4pPr>
            <a:lvl5pPr>
              <a:defRPr sz="1275" b="0">
                <a:solidFill>
                  <a:srgbClr val="BCD0D5"/>
                </a:solidFill>
              </a:defRPr>
            </a:lvl5pPr>
            <a:lvl6pPr>
              <a:defRPr sz="1275" b="0">
                <a:solidFill>
                  <a:srgbClr val="BCD0D5"/>
                </a:solidFill>
              </a:defRPr>
            </a:lvl6pPr>
            <a:lvl7pPr>
              <a:defRPr sz="1275" b="0">
                <a:solidFill>
                  <a:srgbClr val="BCD0D5"/>
                </a:solidFill>
              </a:defRPr>
            </a:lvl7pPr>
            <a:lvl8pPr>
              <a:defRPr sz="1275" b="0">
                <a:solidFill>
                  <a:srgbClr val="BCD0D5"/>
                </a:solidFill>
              </a:defRPr>
            </a:lvl8pPr>
            <a:lvl9pPr>
              <a:defRPr sz="1275" b="0">
                <a:solidFill>
                  <a:srgbClr val="BCD0D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CD0D5"/>
                </a:solidFill>
              </a:defRPr>
            </a:pPr>
            <a:r>
              <a:rPr sz="1275" b="0">
                <a:solidFill>
                  <a:srgbClr val="BCD0D5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C68E81-4AD0-4E52-A7C9-27671A60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107442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B6EDE0"/>
                </a:solidFill>
              </a:defRPr>
            </a:defPPr>
            <a:lvl1pPr>
              <a:defRPr sz="4500" b="1">
                <a:solidFill>
                  <a:srgbClr val="B6EDE0"/>
                </a:solidFill>
              </a:defRPr>
            </a:lvl1pPr>
            <a:lvl2pPr>
              <a:defRPr sz="4500" b="1">
                <a:solidFill>
                  <a:srgbClr val="B6EDE0"/>
                </a:solidFill>
              </a:defRPr>
            </a:lvl2pPr>
            <a:lvl3pPr>
              <a:defRPr sz="4500" b="1">
                <a:solidFill>
                  <a:srgbClr val="B6EDE0"/>
                </a:solidFill>
              </a:defRPr>
            </a:lvl3pPr>
            <a:lvl4pPr>
              <a:defRPr sz="4500" b="1">
                <a:solidFill>
                  <a:srgbClr val="B6EDE0"/>
                </a:solidFill>
              </a:defRPr>
            </a:lvl4pPr>
            <a:lvl5pPr>
              <a:defRPr sz="4500" b="1">
                <a:solidFill>
                  <a:srgbClr val="B6EDE0"/>
                </a:solidFill>
              </a:defRPr>
            </a:lvl5pPr>
            <a:lvl6pPr>
              <a:defRPr sz="4500" b="1">
                <a:solidFill>
                  <a:srgbClr val="B6EDE0"/>
                </a:solidFill>
              </a:defRPr>
            </a:lvl6pPr>
            <a:lvl7pPr>
              <a:defRPr sz="4500" b="1">
                <a:solidFill>
                  <a:srgbClr val="B6EDE0"/>
                </a:solidFill>
              </a:defRPr>
            </a:lvl7pPr>
            <a:lvl8pPr>
              <a:defRPr sz="4500" b="1">
                <a:solidFill>
                  <a:srgbClr val="B6EDE0"/>
                </a:solidFill>
              </a:defRPr>
            </a:lvl8pPr>
            <a:lvl9pPr>
              <a:defRPr sz="4500" b="1">
                <a:solidFill>
                  <a:srgbClr val="B6EDE0"/>
                </a:solidFill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B6EDE0"/>
                </a:solidFill>
              </a:defRPr>
            </a:pPr>
            <a:r>
              <a:rPr sz="4500" b="1">
                <a:solidFill>
                  <a:srgbClr val="B6EDE0"/>
                </a:solidFill>
              </a:rPr>
              <a:t>Intensidade e duração</a:t>
            </a:r>
          </a:p>
          <a:p xmlns:a="http://schemas.openxmlformats.org/drawingml/2006/main">
            <a:pPr>
              <a:defRPr sz="4500" b="1">
                <a:solidFill>
                  <a:srgbClr val="B6EDE0"/>
                </a:solidFill>
              </a:defRPr>
            </a:pPr>
            <a:r>
              <a:rPr sz="4500" b="1">
                <a:solidFill>
                  <a:srgbClr val="B6EDE0"/>
                </a:solidFill>
              </a:rPr>
              <a:t>contam histórias diferentes.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055994-B3D6-48BC-B495-D7DF4151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10048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FFFFF"/>
                </a:solidFill>
              </a:defRPr>
            </a:defPPr>
            <a:lvl1pPr>
              <a:defRPr sz="2250" b="0">
                <a:solidFill>
                  <a:srgbClr val="FFFFFF"/>
                </a:solidFill>
              </a:defRPr>
            </a:lvl1pPr>
            <a:lvl2pPr>
              <a:defRPr sz="2250" b="0">
                <a:solidFill>
                  <a:srgbClr val="FFFFFF"/>
                </a:solidFill>
              </a:defRPr>
            </a:lvl2pPr>
            <a:lvl3pPr>
              <a:defRPr sz="2250" b="0">
                <a:solidFill>
                  <a:srgbClr val="FFFFFF"/>
                </a:solidFill>
              </a:defRPr>
            </a:lvl3pPr>
            <a:lvl4pPr>
              <a:defRPr sz="2250" b="0">
                <a:solidFill>
                  <a:srgbClr val="FFFFFF"/>
                </a:solidFill>
              </a:defRPr>
            </a:lvl4pPr>
            <a:lvl5pPr>
              <a:defRPr sz="2250" b="0">
                <a:solidFill>
                  <a:srgbClr val="FFFFFF"/>
                </a:solidFill>
              </a:defRPr>
            </a:lvl5pPr>
            <a:lvl6pPr>
              <a:defRPr sz="2250" b="0">
                <a:solidFill>
                  <a:srgbClr val="FFFFFF"/>
                </a:solidFill>
              </a:defRPr>
            </a:lvl6pPr>
            <a:lvl7pPr>
              <a:defRPr sz="2250" b="0">
                <a:solidFill>
                  <a:srgbClr val="FFFFFF"/>
                </a:solidFill>
              </a:defRPr>
            </a:lvl7pPr>
            <a:lvl8pPr>
              <a:defRPr sz="2250" b="0">
                <a:solidFill>
                  <a:srgbClr val="FFFFFF"/>
                </a:solidFill>
              </a:defRPr>
            </a:lvl8pPr>
            <a:lvl9pPr>
              <a:defRPr sz="22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</a:defRPr>
            </a:pPr>
            <a:r>
              <a:rPr sz="2250" b="0">
                <a:solidFill>
                  <a:srgbClr val="FFFFFF"/>
                </a:solidFill>
              </a:rPr>
              <a:t>Séries de iDO₂ e lactato permitem observar trajetórias. A área de déficit resume a distância abaixo do alvo ao longo do tempo.</a:t>
            </a:r>
          </a:p>
        </p:txBody>
      </p:sp>
    </p:spTree>
    <p:extLst>
      <p:ext uri="{BB962C8B-B14F-4D97-AF65-F5344CB8AC3E}">
        <p14:creationId xmlns:p14="http://schemas.microsoft.com/office/powerpoint/2010/main" val="97109545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F93901-D6A3-4CDB-947B-96458096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10744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33D"/>
                </a:solidFill>
              </a:defRPr>
            </a:defPPr>
            <a:lvl1pPr>
              <a:defRPr sz="3450" b="1">
                <a:solidFill>
                  <a:srgbClr val="18333D"/>
                </a:solidFill>
              </a:defRPr>
            </a:lvl1pPr>
            <a:lvl2pPr>
              <a:defRPr sz="3450" b="1">
                <a:solidFill>
                  <a:srgbClr val="18333D"/>
                </a:solidFill>
              </a:defRPr>
            </a:lvl2pPr>
            <a:lvl3pPr>
              <a:defRPr sz="3450" b="1">
                <a:solidFill>
                  <a:srgbClr val="18333D"/>
                </a:solidFill>
              </a:defRPr>
            </a:lvl3pPr>
            <a:lvl4pPr>
              <a:defRPr sz="3450" b="1">
                <a:solidFill>
                  <a:srgbClr val="18333D"/>
                </a:solidFill>
              </a:defRPr>
            </a:lvl4pPr>
            <a:lvl5pPr>
              <a:defRPr sz="3450" b="1">
                <a:solidFill>
                  <a:srgbClr val="18333D"/>
                </a:solidFill>
              </a:defRPr>
            </a:lvl5pPr>
            <a:lvl6pPr>
              <a:defRPr sz="3450" b="1">
                <a:solidFill>
                  <a:srgbClr val="18333D"/>
                </a:solidFill>
              </a:defRPr>
            </a:lvl6pPr>
            <a:lvl7pPr>
              <a:defRPr sz="3450" b="1">
                <a:solidFill>
                  <a:srgbClr val="18333D"/>
                </a:solidFill>
              </a:defRPr>
            </a:lvl7pPr>
            <a:lvl8pPr>
              <a:defRPr sz="3450" b="1">
                <a:solidFill>
                  <a:srgbClr val="18333D"/>
                </a:solidFill>
              </a:defRPr>
            </a:lvl8pPr>
            <a:lvl9pPr>
              <a:defRPr sz="3450" b="1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33D"/>
                </a:solidFill>
              </a:defRPr>
            </a:pPr>
            <a:r>
              <a:rPr sz="3450" b="1">
                <a:solidFill>
                  <a:srgbClr val="18333D"/>
                </a:solidFill>
              </a:rPr>
              <a:t>Alertas e risco integrado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1D1185-5BD6-4AC0-8B63-156FF064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E75"/>
                </a:solidFill>
              </a:defRPr>
            </a:defPPr>
            <a:lvl1pPr>
              <a:defRPr sz="1275" b="0">
                <a:solidFill>
                  <a:srgbClr val="536E75"/>
                </a:solidFill>
              </a:defRPr>
            </a:lvl1pPr>
            <a:lvl2pPr>
              <a:defRPr sz="1275" b="0">
                <a:solidFill>
                  <a:srgbClr val="536E75"/>
                </a:solidFill>
              </a:defRPr>
            </a:lvl2pPr>
            <a:lvl3pPr>
              <a:defRPr sz="1275" b="0">
                <a:solidFill>
                  <a:srgbClr val="536E75"/>
                </a:solidFill>
              </a:defRPr>
            </a:lvl3pPr>
            <a:lvl4pPr>
              <a:defRPr sz="1275" b="0">
                <a:solidFill>
                  <a:srgbClr val="536E75"/>
                </a:solidFill>
              </a:defRPr>
            </a:lvl4pPr>
            <a:lvl5pPr>
              <a:defRPr sz="1275" b="0">
                <a:solidFill>
                  <a:srgbClr val="536E75"/>
                </a:solidFill>
              </a:defRPr>
            </a:lvl5pPr>
            <a:lvl6pPr>
              <a:defRPr sz="1275" b="0">
                <a:solidFill>
                  <a:srgbClr val="536E75"/>
                </a:solidFill>
              </a:defRPr>
            </a:lvl6pPr>
            <a:lvl7pPr>
              <a:defRPr sz="1275" b="0">
                <a:solidFill>
                  <a:srgbClr val="536E75"/>
                </a:solidFill>
              </a:defRPr>
            </a:lvl7pPr>
            <a:lvl8pPr>
              <a:defRPr sz="1275" b="0">
                <a:solidFill>
                  <a:srgbClr val="536E75"/>
                </a:solidFill>
              </a:defRPr>
            </a:lvl8pPr>
            <a:lvl9pPr>
              <a:defRPr sz="1275" b="0">
                <a:solidFill>
                  <a:srgbClr val="536E7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E75"/>
                </a:solidFill>
              </a:defRPr>
            </a:pPr>
            <a:r>
              <a:rPr sz="1275" b="0">
                <a:solidFill>
                  <a:srgbClr val="536E75"/>
                </a:solidFill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EE30FE-0696-4EA6-9B82-068A9702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87D79"/>
                </a:solidFill>
              </a:defRPr>
            </a:defPPr>
            <a:lvl1pPr>
              <a:defRPr sz="2325" b="1">
                <a:solidFill>
                  <a:srgbClr val="087D79"/>
                </a:solidFill>
              </a:defRPr>
            </a:lvl1pPr>
            <a:lvl2pPr>
              <a:defRPr sz="2325" b="1">
                <a:solidFill>
                  <a:srgbClr val="087D79"/>
                </a:solidFill>
              </a:defRPr>
            </a:lvl2pPr>
            <a:lvl3pPr>
              <a:defRPr sz="2325" b="1">
                <a:solidFill>
                  <a:srgbClr val="087D79"/>
                </a:solidFill>
              </a:defRPr>
            </a:lvl3pPr>
            <a:lvl4pPr>
              <a:defRPr sz="2325" b="1">
                <a:solidFill>
                  <a:srgbClr val="087D79"/>
                </a:solidFill>
              </a:defRPr>
            </a:lvl4pPr>
            <a:lvl5pPr>
              <a:defRPr sz="2325" b="1">
                <a:solidFill>
                  <a:srgbClr val="087D79"/>
                </a:solidFill>
              </a:defRPr>
            </a:lvl5pPr>
            <a:lvl6pPr>
              <a:defRPr sz="2325" b="1">
                <a:solidFill>
                  <a:srgbClr val="087D79"/>
                </a:solidFill>
              </a:defRPr>
            </a:lvl6pPr>
            <a:lvl7pPr>
              <a:defRPr sz="2325" b="1">
                <a:solidFill>
                  <a:srgbClr val="087D79"/>
                </a:solidFill>
              </a:defRPr>
            </a:lvl7pPr>
            <a:lvl8pPr>
              <a:defRPr sz="2325" b="1">
                <a:solidFill>
                  <a:srgbClr val="087D79"/>
                </a:solidFill>
              </a:defRPr>
            </a:lvl8pPr>
            <a:lvl9pPr>
              <a:defRPr sz="2325" b="1">
                <a:solidFill>
                  <a:srgbClr val="087D79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D79"/>
                </a:solidFill>
              </a:defRPr>
            </a:pPr>
            <a:r>
              <a:rPr sz="2325" b="1">
                <a:solidFill>
                  <a:srgbClr val="087D79"/>
                </a:solidFill>
              </a:rPr>
              <a:t>Regras explícitas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02AEF0-861E-4AE7-80E5-BEC55689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4857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33D"/>
                </a:solidFill>
              </a:defRPr>
            </a:defPPr>
            <a:lvl1pPr>
              <a:defRPr sz="2175" b="0">
                <a:solidFill>
                  <a:srgbClr val="18333D"/>
                </a:solidFill>
              </a:defRPr>
            </a:lvl1pPr>
            <a:lvl2pPr>
              <a:defRPr sz="2175" b="0">
                <a:solidFill>
                  <a:srgbClr val="18333D"/>
                </a:solidFill>
              </a:defRPr>
            </a:lvl2pPr>
            <a:lvl3pPr>
              <a:defRPr sz="2175" b="0">
                <a:solidFill>
                  <a:srgbClr val="18333D"/>
                </a:solidFill>
              </a:defRPr>
            </a:lvl3pPr>
            <a:lvl4pPr>
              <a:defRPr sz="2175" b="0">
                <a:solidFill>
                  <a:srgbClr val="18333D"/>
                </a:solidFill>
              </a:defRPr>
            </a:lvl4pPr>
            <a:lvl5pPr>
              <a:defRPr sz="2175" b="0">
                <a:solidFill>
                  <a:srgbClr val="18333D"/>
                </a:solidFill>
              </a:defRPr>
            </a:lvl5pPr>
            <a:lvl6pPr>
              <a:defRPr sz="2175" b="0">
                <a:solidFill>
                  <a:srgbClr val="18333D"/>
                </a:solidFill>
              </a:defRPr>
            </a:lvl6pPr>
            <a:lvl7pPr>
              <a:defRPr sz="2175" b="0">
                <a:solidFill>
                  <a:srgbClr val="18333D"/>
                </a:solidFill>
              </a:defRPr>
            </a:lvl7pPr>
            <a:lvl8pPr>
              <a:defRPr sz="2175" b="0">
                <a:solidFill>
                  <a:srgbClr val="18333D"/>
                </a:solidFill>
              </a:defRPr>
            </a:lvl8pPr>
            <a:lvl9pPr>
              <a:defRPr sz="2175" b="0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33D"/>
                </a:solidFill>
              </a:defRPr>
            </a:pPr>
            <a:r>
              <a:rPr sz="2175" b="0">
                <a:solidFill>
                  <a:srgbClr val="18333D"/>
                </a:solidFill>
              </a:rPr>
              <a:t>Exemplos: iDO₂ &lt;252 gera alerta alto. Hb &lt;7,5 gera atenção. PAM &lt;60 gera alerta moderado.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E8EABD-432F-47F6-8F80-FC25EE6D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0025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87D79"/>
                </a:solidFill>
              </a:defRPr>
            </a:defPPr>
            <a:lvl1pPr>
              <a:defRPr sz="2325" b="1">
                <a:solidFill>
                  <a:srgbClr val="087D79"/>
                </a:solidFill>
              </a:defRPr>
            </a:lvl1pPr>
            <a:lvl2pPr>
              <a:defRPr sz="2325" b="1">
                <a:solidFill>
                  <a:srgbClr val="087D79"/>
                </a:solidFill>
              </a:defRPr>
            </a:lvl2pPr>
            <a:lvl3pPr>
              <a:defRPr sz="2325" b="1">
                <a:solidFill>
                  <a:srgbClr val="087D79"/>
                </a:solidFill>
              </a:defRPr>
            </a:lvl3pPr>
            <a:lvl4pPr>
              <a:defRPr sz="2325" b="1">
                <a:solidFill>
                  <a:srgbClr val="087D79"/>
                </a:solidFill>
              </a:defRPr>
            </a:lvl4pPr>
            <a:lvl5pPr>
              <a:defRPr sz="2325" b="1">
                <a:solidFill>
                  <a:srgbClr val="087D79"/>
                </a:solidFill>
              </a:defRPr>
            </a:lvl5pPr>
            <a:lvl6pPr>
              <a:defRPr sz="2325" b="1">
                <a:solidFill>
                  <a:srgbClr val="087D79"/>
                </a:solidFill>
              </a:defRPr>
            </a:lvl6pPr>
            <a:lvl7pPr>
              <a:defRPr sz="2325" b="1">
                <a:solidFill>
                  <a:srgbClr val="087D79"/>
                </a:solidFill>
              </a:defRPr>
            </a:lvl7pPr>
            <a:lvl8pPr>
              <a:defRPr sz="2325" b="1">
                <a:solidFill>
                  <a:srgbClr val="087D79"/>
                </a:solidFill>
              </a:defRPr>
            </a:lvl8pPr>
            <a:lvl9pPr>
              <a:defRPr sz="2325" b="1">
                <a:solidFill>
                  <a:srgbClr val="087D79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D79"/>
                </a:solidFill>
              </a:defRPr>
            </a:pPr>
            <a:r>
              <a:rPr sz="2325" b="1">
                <a:solidFill>
                  <a:srgbClr val="087D79"/>
                </a:solidFill>
              </a:rPr>
              <a:t>Agregação do motor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C153B9-429B-431D-93A5-8EB51557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62250"/>
            <a:ext cx="4857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33D"/>
                </a:solidFill>
              </a:defRPr>
            </a:defPPr>
            <a:lvl1pPr>
              <a:defRPr sz="2175" b="0">
                <a:solidFill>
                  <a:srgbClr val="18333D"/>
                </a:solidFill>
              </a:defRPr>
            </a:lvl1pPr>
            <a:lvl2pPr>
              <a:defRPr sz="2175" b="0">
                <a:solidFill>
                  <a:srgbClr val="18333D"/>
                </a:solidFill>
              </a:defRPr>
            </a:lvl2pPr>
            <a:lvl3pPr>
              <a:defRPr sz="2175" b="0">
                <a:solidFill>
                  <a:srgbClr val="18333D"/>
                </a:solidFill>
              </a:defRPr>
            </a:lvl3pPr>
            <a:lvl4pPr>
              <a:defRPr sz="2175" b="0">
                <a:solidFill>
                  <a:srgbClr val="18333D"/>
                </a:solidFill>
              </a:defRPr>
            </a:lvl4pPr>
            <a:lvl5pPr>
              <a:defRPr sz="2175" b="0">
                <a:solidFill>
                  <a:srgbClr val="18333D"/>
                </a:solidFill>
              </a:defRPr>
            </a:lvl5pPr>
            <a:lvl6pPr>
              <a:defRPr sz="2175" b="0">
                <a:solidFill>
                  <a:srgbClr val="18333D"/>
                </a:solidFill>
              </a:defRPr>
            </a:lvl6pPr>
            <a:lvl7pPr>
              <a:defRPr sz="2175" b="0">
                <a:solidFill>
                  <a:srgbClr val="18333D"/>
                </a:solidFill>
              </a:defRPr>
            </a:lvl7pPr>
            <a:lvl8pPr>
              <a:defRPr sz="2175" b="0">
                <a:solidFill>
                  <a:srgbClr val="18333D"/>
                </a:solidFill>
              </a:defRPr>
            </a:lvl8pPr>
            <a:lvl9pPr>
              <a:defRPr sz="2175" b="0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33D"/>
                </a:solidFill>
              </a:defRPr>
            </a:pPr>
            <a:r>
              <a:rPr sz="2175" b="0">
                <a:solidFill>
                  <a:srgbClr val="18333D"/>
                </a:solidFill>
              </a:rPr>
              <a:t>Um alerta alto: risco alto.</a:t>
            </a:r>
          </a:p>
          <a:p xmlns:a="http://schemas.openxmlformats.org/drawingml/2006/main">
            <a:pPr>
              <a:defRPr sz="2175" b="0">
                <a:solidFill>
                  <a:srgbClr val="18333D"/>
                </a:solidFill>
              </a:defRPr>
            </a:pPr>
            <a:r>
              <a:rPr sz="2175" b="0">
                <a:solidFill>
                  <a:srgbClr val="18333D"/>
                </a:solidFill>
              </a:rPr>
              <a:t>Sem altos, dois ou mais moderados: moderado.</a:t>
            </a:r>
          </a:p>
          <a:p xmlns:a="http://schemas.openxmlformats.org/drawingml/2006/main">
            <a:pPr>
              <a:defRPr sz="2175" b="0">
                <a:solidFill>
                  <a:srgbClr val="18333D"/>
                </a:solidFill>
              </a:defRPr>
            </a:pPr>
            <a:r>
              <a:rPr sz="2175" b="0">
                <a:solidFill>
                  <a:srgbClr val="18333D"/>
                </a:solidFill>
              </a:rPr>
              <a:t>Demais situações: baixo.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A6E393-9D13-447B-8976-32DF6FE8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36E75"/>
                </a:solidFill>
              </a:defRPr>
            </a:defPPr>
            <a:lvl1pPr>
              <a:defRPr sz="1725" b="0">
                <a:solidFill>
                  <a:srgbClr val="536E75"/>
                </a:solidFill>
              </a:defRPr>
            </a:lvl1pPr>
            <a:lvl2pPr>
              <a:defRPr sz="1725" b="0">
                <a:solidFill>
                  <a:srgbClr val="536E75"/>
                </a:solidFill>
              </a:defRPr>
            </a:lvl2pPr>
            <a:lvl3pPr>
              <a:defRPr sz="1725" b="0">
                <a:solidFill>
                  <a:srgbClr val="536E75"/>
                </a:solidFill>
              </a:defRPr>
            </a:lvl3pPr>
            <a:lvl4pPr>
              <a:defRPr sz="1725" b="0">
                <a:solidFill>
                  <a:srgbClr val="536E75"/>
                </a:solidFill>
              </a:defRPr>
            </a:lvl4pPr>
            <a:lvl5pPr>
              <a:defRPr sz="1725" b="0">
                <a:solidFill>
                  <a:srgbClr val="536E75"/>
                </a:solidFill>
              </a:defRPr>
            </a:lvl5pPr>
            <a:lvl6pPr>
              <a:defRPr sz="1725" b="0">
                <a:solidFill>
                  <a:srgbClr val="536E75"/>
                </a:solidFill>
              </a:defRPr>
            </a:lvl6pPr>
            <a:lvl7pPr>
              <a:defRPr sz="1725" b="0">
                <a:solidFill>
                  <a:srgbClr val="536E75"/>
                </a:solidFill>
              </a:defRPr>
            </a:lvl7pPr>
            <a:lvl8pPr>
              <a:defRPr sz="1725" b="0">
                <a:solidFill>
                  <a:srgbClr val="536E75"/>
                </a:solidFill>
              </a:defRPr>
            </a:lvl8pPr>
            <a:lvl9pPr>
              <a:defRPr sz="1725" b="0">
                <a:solidFill>
                  <a:srgbClr val="536E75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E75"/>
                </a:solidFill>
              </a:defRPr>
            </a:pPr>
            <a:r>
              <a:rPr sz="1725" b="0">
                <a:solidFill>
                  <a:srgbClr val="536E75"/>
                </a:solidFill>
              </a:rPr>
              <a:t>Unidades: iDO₂ em mL/min/m², Hb em g/dL e PAM em mmHg.</a:t>
            </a:r>
          </a:p>
        </p:txBody>
      </p:sp>
    </p:spTree>
    <p:extLst>
      <p:ext uri="{BB962C8B-B14F-4D97-AF65-F5344CB8AC3E}">
        <p14:creationId xmlns:p14="http://schemas.microsoft.com/office/powerpoint/2010/main" val="209413925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35018E-7B4E-47CA-89E2-704A061C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10744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33D"/>
                </a:solidFill>
              </a:defRPr>
            </a:defPPr>
            <a:lvl1pPr>
              <a:defRPr sz="3450" b="1">
                <a:solidFill>
                  <a:srgbClr val="18333D"/>
                </a:solidFill>
              </a:defRPr>
            </a:lvl1pPr>
            <a:lvl2pPr>
              <a:defRPr sz="3450" b="1">
                <a:solidFill>
                  <a:srgbClr val="18333D"/>
                </a:solidFill>
              </a:defRPr>
            </a:lvl2pPr>
            <a:lvl3pPr>
              <a:defRPr sz="3450" b="1">
                <a:solidFill>
                  <a:srgbClr val="18333D"/>
                </a:solidFill>
              </a:defRPr>
            </a:lvl3pPr>
            <a:lvl4pPr>
              <a:defRPr sz="3450" b="1">
                <a:solidFill>
                  <a:srgbClr val="18333D"/>
                </a:solidFill>
              </a:defRPr>
            </a:lvl4pPr>
            <a:lvl5pPr>
              <a:defRPr sz="3450" b="1">
                <a:solidFill>
                  <a:srgbClr val="18333D"/>
                </a:solidFill>
              </a:defRPr>
            </a:lvl5pPr>
            <a:lvl6pPr>
              <a:defRPr sz="3450" b="1">
                <a:solidFill>
                  <a:srgbClr val="18333D"/>
                </a:solidFill>
              </a:defRPr>
            </a:lvl6pPr>
            <a:lvl7pPr>
              <a:defRPr sz="3450" b="1">
                <a:solidFill>
                  <a:srgbClr val="18333D"/>
                </a:solidFill>
              </a:defRPr>
            </a:lvl7pPr>
            <a:lvl8pPr>
              <a:defRPr sz="3450" b="1">
                <a:solidFill>
                  <a:srgbClr val="18333D"/>
                </a:solidFill>
              </a:defRPr>
            </a:lvl8pPr>
            <a:lvl9pPr>
              <a:defRPr sz="3450" b="1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33D"/>
                </a:solidFill>
              </a:defRPr>
            </a:pPr>
            <a:r>
              <a:rPr sz="3450" b="1">
                <a:solidFill>
                  <a:srgbClr val="18333D"/>
                </a:solidFill>
              </a:rPr>
              <a:t>Origem dos dados e rastreabilidade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F0AF57-B7A1-4845-B163-EF059B90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E75"/>
                </a:solidFill>
              </a:defRPr>
            </a:defPPr>
            <a:lvl1pPr>
              <a:defRPr sz="1275" b="0">
                <a:solidFill>
                  <a:srgbClr val="536E75"/>
                </a:solidFill>
              </a:defRPr>
            </a:lvl1pPr>
            <a:lvl2pPr>
              <a:defRPr sz="1275" b="0">
                <a:solidFill>
                  <a:srgbClr val="536E75"/>
                </a:solidFill>
              </a:defRPr>
            </a:lvl2pPr>
            <a:lvl3pPr>
              <a:defRPr sz="1275" b="0">
                <a:solidFill>
                  <a:srgbClr val="536E75"/>
                </a:solidFill>
              </a:defRPr>
            </a:lvl3pPr>
            <a:lvl4pPr>
              <a:defRPr sz="1275" b="0">
                <a:solidFill>
                  <a:srgbClr val="536E75"/>
                </a:solidFill>
              </a:defRPr>
            </a:lvl4pPr>
            <a:lvl5pPr>
              <a:defRPr sz="1275" b="0">
                <a:solidFill>
                  <a:srgbClr val="536E75"/>
                </a:solidFill>
              </a:defRPr>
            </a:lvl5pPr>
            <a:lvl6pPr>
              <a:defRPr sz="1275" b="0">
                <a:solidFill>
                  <a:srgbClr val="536E75"/>
                </a:solidFill>
              </a:defRPr>
            </a:lvl6pPr>
            <a:lvl7pPr>
              <a:defRPr sz="1275" b="0">
                <a:solidFill>
                  <a:srgbClr val="536E75"/>
                </a:solidFill>
              </a:defRPr>
            </a:lvl7pPr>
            <a:lvl8pPr>
              <a:defRPr sz="1275" b="0">
                <a:solidFill>
                  <a:srgbClr val="536E75"/>
                </a:solidFill>
              </a:defRPr>
            </a:lvl8pPr>
            <a:lvl9pPr>
              <a:defRPr sz="1275" b="0">
                <a:solidFill>
                  <a:srgbClr val="536E7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E75"/>
                </a:solidFill>
              </a:defRPr>
            </a:pPr>
            <a:r>
              <a:rPr sz="1275" b="0">
                <a:solidFill>
                  <a:srgbClr val="536E75"/>
                </a:solidFill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6B0B5E-0DD5-486A-B200-E137352B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87D79"/>
                </a:solidFill>
              </a:defRPr>
            </a:defPPr>
            <a:lvl1pPr>
              <a:defRPr sz="2325" b="1">
                <a:solidFill>
                  <a:srgbClr val="087D79"/>
                </a:solidFill>
              </a:defRPr>
            </a:lvl1pPr>
            <a:lvl2pPr>
              <a:defRPr sz="2325" b="1">
                <a:solidFill>
                  <a:srgbClr val="087D79"/>
                </a:solidFill>
              </a:defRPr>
            </a:lvl2pPr>
            <a:lvl3pPr>
              <a:defRPr sz="2325" b="1">
                <a:solidFill>
                  <a:srgbClr val="087D79"/>
                </a:solidFill>
              </a:defRPr>
            </a:lvl3pPr>
            <a:lvl4pPr>
              <a:defRPr sz="2325" b="1">
                <a:solidFill>
                  <a:srgbClr val="087D79"/>
                </a:solidFill>
              </a:defRPr>
            </a:lvl4pPr>
            <a:lvl5pPr>
              <a:defRPr sz="2325" b="1">
                <a:solidFill>
                  <a:srgbClr val="087D79"/>
                </a:solidFill>
              </a:defRPr>
            </a:lvl5pPr>
            <a:lvl6pPr>
              <a:defRPr sz="2325" b="1">
                <a:solidFill>
                  <a:srgbClr val="087D79"/>
                </a:solidFill>
              </a:defRPr>
            </a:lvl6pPr>
            <a:lvl7pPr>
              <a:defRPr sz="2325" b="1">
                <a:solidFill>
                  <a:srgbClr val="087D79"/>
                </a:solidFill>
              </a:defRPr>
            </a:lvl7pPr>
            <a:lvl8pPr>
              <a:defRPr sz="2325" b="1">
                <a:solidFill>
                  <a:srgbClr val="087D79"/>
                </a:solidFill>
              </a:defRPr>
            </a:lvl8pPr>
            <a:lvl9pPr>
              <a:defRPr sz="2325" b="1">
                <a:solidFill>
                  <a:srgbClr val="087D79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D79"/>
                </a:solidFill>
              </a:defRPr>
            </a:pPr>
            <a:r>
              <a:rPr sz="2325" b="1">
                <a:solidFill>
                  <a:srgbClr val="087D79"/>
                </a:solidFill>
              </a:rPr>
              <a:t>Planejamento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929DB8-CF47-47C8-8BCC-6FA1BC3C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4857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33D"/>
                </a:solidFill>
              </a:defRPr>
            </a:defPPr>
            <a:lvl1pPr>
              <a:defRPr sz="2175" b="0">
                <a:solidFill>
                  <a:srgbClr val="18333D"/>
                </a:solidFill>
              </a:defRPr>
            </a:lvl1pPr>
            <a:lvl2pPr>
              <a:defRPr sz="2175" b="0">
                <a:solidFill>
                  <a:srgbClr val="18333D"/>
                </a:solidFill>
              </a:defRPr>
            </a:lvl2pPr>
            <a:lvl3pPr>
              <a:defRPr sz="2175" b="0">
                <a:solidFill>
                  <a:srgbClr val="18333D"/>
                </a:solidFill>
              </a:defRPr>
            </a:lvl3pPr>
            <a:lvl4pPr>
              <a:defRPr sz="2175" b="0">
                <a:solidFill>
                  <a:srgbClr val="18333D"/>
                </a:solidFill>
              </a:defRPr>
            </a:lvl4pPr>
            <a:lvl5pPr>
              <a:defRPr sz="2175" b="0">
                <a:solidFill>
                  <a:srgbClr val="18333D"/>
                </a:solidFill>
              </a:defRPr>
            </a:lvl5pPr>
            <a:lvl6pPr>
              <a:defRPr sz="2175" b="0">
                <a:solidFill>
                  <a:srgbClr val="18333D"/>
                </a:solidFill>
              </a:defRPr>
            </a:lvl6pPr>
            <a:lvl7pPr>
              <a:defRPr sz="2175" b="0">
                <a:solidFill>
                  <a:srgbClr val="18333D"/>
                </a:solidFill>
              </a:defRPr>
            </a:lvl7pPr>
            <a:lvl8pPr>
              <a:defRPr sz="2175" b="0">
                <a:solidFill>
                  <a:srgbClr val="18333D"/>
                </a:solidFill>
              </a:defRPr>
            </a:lvl8pPr>
            <a:lvl9pPr>
              <a:defRPr sz="2175" b="0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33D"/>
                </a:solidFill>
              </a:defRPr>
            </a:pPr>
            <a:r>
              <a:rPr sz="2175" b="0">
                <a:solidFill>
                  <a:srgbClr val="18333D"/>
                </a:solidFill>
              </a:rPr>
              <a:t>Hipóteses e metas permanecem identificadas. O registro de tempo zero pode usar os valores disponíveis do plano.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D5766-B061-43EF-8063-0BCFA8DA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0025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87D79"/>
                </a:solidFill>
              </a:defRPr>
            </a:defPPr>
            <a:lvl1pPr>
              <a:defRPr sz="2325" b="1">
                <a:solidFill>
                  <a:srgbClr val="087D79"/>
                </a:solidFill>
              </a:defRPr>
            </a:lvl1pPr>
            <a:lvl2pPr>
              <a:defRPr sz="2325" b="1">
                <a:solidFill>
                  <a:srgbClr val="087D79"/>
                </a:solidFill>
              </a:defRPr>
            </a:lvl2pPr>
            <a:lvl3pPr>
              <a:defRPr sz="2325" b="1">
                <a:solidFill>
                  <a:srgbClr val="087D79"/>
                </a:solidFill>
              </a:defRPr>
            </a:lvl3pPr>
            <a:lvl4pPr>
              <a:defRPr sz="2325" b="1">
                <a:solidFill>
                  <a:srgbClr val="087D79"/>
                </a:solidFill>
              </a:defRPr>
            </a:lvl4pPr>
            <a:lvl5pPr>
              <a:defRPr sz="2325" b="1">
                <a:solidFill>
                  <a:srgbClr val="087D79"/>
                </a:solidFill>
              </a:defRPr>
            </a:lvl5pPr>
            <a:lvl6pPr>
              <a:defRPr sz="2325" b="1">
                <a:solidFill>
                  <a:srgbClr val="087D79"/>
                </a:solidFill>
              </a:defRPr>
            </a:lvl6pPr>
            <a:lvl7pPr>
              <a:defRPr sz="2325" b="1">
                <a:solidFill>
                  <a:srgbClr val="087D79"/>
                </a:solidFill>
              </a:defRPr>
            </a:lvl7pPr>
            <a:lvl8pPr>
              <a:defRPr sz="2325" b="1">
                <a:solidFill>
                  <a:srgbClr val="087D79"/>
                </a:solidFill>
              </a:defRPr>
            </a:lvl8pPr>
            <a:lvl9pPr>
              <a:defRPr sz="2325" b="1">
                <a:solidFill>
                  <a:srgbClr val="087D79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D79"/>
                </a:solidFill>
              </a:defRPr>
            </a:pPr>
            <a:r>
              <a:rPr sz="2325" b="1">
                <a:solidFill>
                  <a:srgbClr val="087D79"/>
                </a:solidFill>
              </a:rPr>
              <a:t>Medições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23C7E4-854A-454B-A975-B40D8C48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62250"/>
            <a:ext cx="4857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33D"/>
                </a:solidFill>
              </a:defRPr>
            </a:defPPr>
            <a:lvl1pPr>
              <a:defRPr sz="2175" b="0">
                <a:solidFill>
                  <a:srgbClr val="18333D"/>
                </a:solidFill>
              </a:defRPr>
            </a:lvl1pPr>
            <a:lvl2pPr>
              <a:defRPr sz="2175" b="0">
                <a:solidFill>
                  <a:srgbClr val="18333D"/>
                </a:solidFill>
              </a:defRPr>
            </a:lvl2pPr>
            <a:lvl3pPr>
              <a:defRPr sz="2175" b="0">
                <a:solidFill>
                  <a:srgbClr val="18333D"/>
                </a:solidFill>
              </a:defRPr>
            </a:lvl3pPr>
            <a:lvl4pPr>
              <a:defRPr sz="2175" b="0">
                <a:solidFill>
                  <a:srgbClr val="18333D"/>
                </a:solidFill>
              </a:defRPr>
            </a:lvl4pPr>
            <a:lvl5pPr>
              <a:defRPr sz="2175" b="0">
                <a:solidFill>
                  <a:srgbClr val="18333D"/>
                </a:solidFill>
              </a:defRPr>
            </a:lvl5pPr>
            <a:lvl6pPr>
              <a:defRPr sz="2175" b="0">
                <a:solidFill>
                  <a:srgbClr val="18333D"/>
                </a:solidFill>
              </a:defRPr>
            </a:lvl6pPr>
            <a:lvl7pPr>
              <a:defRPr sz="2175" b="0">
                <a:solidFill>
                  <a:srgbClr val="18333D"/>
                </a:solidFill>
              </a:defRPr>
            </a:lvl7pPr>
            <a:lvl8pPr>
              <a:defRPr sz="2175" b="0">
                <a:solidFill>
                  <a:srgbClr val="18333D"/>
                </a:solidFill>
              </a:defRPr>
            </a:lvl8pPr>
            <a:lvl9pPr>
              <a:defRPr sz="2175" b="0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33D"/>
                </a:solidFill>
              </a:defRPr>
            </a:pPr>
            <a:r>
              <a:rPr sz="2175" b="0">
                <a:solidFill>
                  <a:srgbClr val="18333D"/>
                </a:solidFill>
              </a:rPr>
              <a:t>Novos exames entram na monitorização. Com medições disponíveis, a análise clínica exclui o ponto do plano.</a:t>
            </a:r>
          </a:p>
        </p:txBody>
      </p:sp>
    </p:spTree>
    <p:extLst>
      <p:ext uri="{BB962C8B-B14F-4D97-AF65-F5344CB8AC3E}">
        <p14:creationId xmlns:p14="http://schemas.microsoft.com/office/powerpoint/2010/main" val="112029287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7E15FB-44A3-4F5D-9FA4-7956F704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10744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33D"/>
                </a:solidFill>
              </a:defRPr>
            </a:defPPr>
            <a:lvl1pPr>
              <a:defRPr sz="3450" b="1">
                <a:solidFill>
                  <a:srgbClr val="18333D"/>
                </a:solidFill>
              </a:defRPr>
            </a:lvl1pPr>
            <a:lvl2pPr>
              <a:defRPr sz="3450" b="1">
                <a:solidFill>
                  <a:srgbClr val="18333D"/>
                </a:solidFill>
              </a:defRPr>
            </a:lvl2pPr>
            <a:lvl3pPr>
              <a:defRPr sz="3450" b="1">
                <a:solidFill>
                  <a:srgbClr val="18333D"/>
                </a:solidFill>
              </a:defRPr>
            </a:lvl3pPr>
            <a:lvl4pPr>
              <a:defRPr sz="3450" b="1">
                <a:solidFill>
                  <a:srgbClr val="18333D"/>
                </a:solidFill>
              </a:defRPr>
            </a:lvl4pPr>
            <a:lvl5pPr>
              <a:defRPr sz="3450" b="1">
                <a:solidFill>
                  <a:srgbClr val="18333D"/>
                </a:solidFill>
              </a:defRPr>
            </a:lvl5pPr>
            <a:lvl6pPr>
              <a:defRPr sz="3450" b="1">
                <a:solidFill>
                  <a:srgbClr val="18333D"/>
                </a:solidFill>
              </a:defRPr>
            </a:lvl6pPr>
            <a:lvl7pPr>
              <a:defRPr sz="3450" b="1">
                <a:solidFill>
                  <a:srgbClr val="18333D"/>
                </a:solidFill>
              </a:defRPr>
            </a:lvl7pPr>
            <a:lvl8pPr>
              <a:defRPr sz="3450" b="1">
                <a:solidFill>
                  <a:srgbClr val="18333D"/>
                </a:solidFill>
              </a:defRPr>
            </a:lvl8pPr>
            <a:lvl9pPr>
              <a:defRPr sz="3450" b="1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33D"/>
                </a:solidFill>
              </a:defRPr>
            </a:pPr>
            <a:r>
              <a:rPr sz="3450" b="1">
                <a:solidFill>
                  <a:srgbClr val="18333D"/>
                </a:solidFill>
              </a:rPr>
              <a:t>Interface de planejamento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622323-C1F1-4148-A0F9-97B33FFE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E75"/>
                </a:solidFill>
              </a:defRPr>
            </a:defPPr>
            <a:lvl1pPr>
              <a:defRPr sz="1275" b="0">
                <a:solidFill>
                  <a:srgbClr val="536E75"/>
                </a:solidFill>
              </a:defRPr>
            </a:lvl1pPr>
            <a:lvl2pPr>
              <a:defRPr sz="1275" b="0">
                <a:solidFill>
                  <a:srgbClr val="536E75"/>
                </a:solidFill>
              </a:defRPr>
            </a:lvl2pPr>
            <a:lvl3pPr>
              <a:defRPr sz="1275" b="0">
                <a:solidFill>
                  <a:srgbClr val="536E75"/>
                </a:solidFill>
              </a:defRPr>
            </a:lvl3pPr>
            <a:lvl4pPr>
              <a:defRPr sz="1275" b="0">
                <a:solidFill>
                  <a:srgbClr val="536E75"/>
                </a:solidFill>
              </a:defRPr>
            </a:lvl4pPr>
            <a:lvl5pPr>
              <a:defRPr sz="1275" b="0">
                <a:solidFill>
                  <a:srgbClr val="536E75"/>
                </a:solidFill>
              </a:defRPr>
            </a:lvl5pPr>
            <a:lvl6pPr>
              <a:defRPr sz="1275" b="0">
                <a:solidFill>
                  <a:srgbClr val="536E75"/>
                </a:solidFill>
              </a:defRPr>
            </a:lvl6pPr>
            <a:lvl7pPr>
              <a:defRPr sz="1275" b="0">
                <a:solidFill>
                  <a:srgbClr val="536E75"/>
                </a:solidFill>
              </a:defRPr>
            </a:lvl7pPr>
            <a:lvl8pPr>
              <a:defRPr sz="1275" b="0">
                <a:solidFill>
                  <a:srgbClr val="536E75"/>
                </a:solidFill>
              </a:defRPr>
            </a:lvl8pPr>
            <a:lvl9pPr>
              <a:defRPr sz="1275" b="0">
                <a:solidFill>
                  <a:srgbClr val="536E7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E75"/>
                </a:solidFill>
              </a:defRPr>
            </a:pPr>
            <a:r>
              <a:rPr sz="1275" b="0">
                <a:solidFill>
                  <a:srgbClr val="536E75"/>
                </a:solidFill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C1D3AB-06C7-40B7-AEE1-DD02CEC7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0744200" cy="376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E8"/>
          </a:solidFill>
          <a:ln xmlns:a="http://schemas.openxmlformats.org/drawingml/2006/main" w="9525">
            <a:solidFill>
              <a:srgbClr val="9CB8A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27432B-2A66-4BAB-9FF1-DE8D94F5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19450"/>
            <a:ext cx="971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53776B"/>
                </a:solidFill>
              </a:defRPr>
            </a:defPPr>
            <a:lvl1pPr>
              <a:defRPr sz="2700" b="1">
                <a:solidFill>
                  <a:srgbClr val="53776B"/>
                </a:solidFill>
              </a:defRPr>
            </a:lvl1pPr>
            <a:lvl2pPr>
              <a:defRPr sz="2700" b="1">
                <a:solidFill>
                  <a:srgbClr val="53776B"/>
                </a:solidFill>
              </a:defRPr>
            </a:lvl2pPr>
            <a:lvl3pPr>
              <a:defRPr sz="2700" b="1">
                <a:solidFill>
                  <a:srgbClr val="53776B"/>
                </a:solidFill>
              </a:defRPr>
            </a:lvl3pPr>
            <a:lvl4pPr>
              <a:defRPr sz="2700" b="1">
                <a:solidFill>
                  <a:srgbClr val="53776B"/>
                </a:solidFill>
              </a:defRPr>
            </a:lvl4pPr>
            <a:lvl5pPr>
              <a:defRPr sz="2700" b="1">
                <a:solidFill>
                  <a:srgbClr val="53776B"/>
                </a:solidFill>
              </a:defRPr>
            </a:lvl5pPr>
            <a:lvl6pPr>
              <a:defRPr sz="2700" b="1">
                <a:solidFill>
                  <a:srgbClr val="53776B"/>
                </a:solidFill>
              </a:defRPr>
            </a:lvl6pPr>
            <a:lvl7pPr>
              <a:defRPr sz="2700" b="1">
                <a:solidFill>
                  <a:srgbClr val="53776B"/>
                </a:solidFill>
              </a:defRPr>
            </a:lvl7pPr>
            <a:lvl8pPr>
              <a:defRPr sz="2700" b="1">
                <a:solidFill>
                  <a:srgbClr val="53776B"/>
                </a:solidFill>
              </a:defRPr>
            </a:lvl8pPr>
            <a:lvl9pPr>
              <a:defRPr sz="2700" b="1">
                <a:solidFill>
                  <a:srgbClr val="53776B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53776B"/>
                </a:solidFill>
              </a:defRPr>
            </a:pPr>
            <a:r>
              <a:rPr sz="2700" b="1">
                <a:solidFill>
                  <a:srgbClr val="53776B"/>
                </a:solidFill>
              </a:rPr>
              <a:t>Print do planejamento pré-CEC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7DCE7-AA43-403E-810F-37C0B171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48125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3776B"/>
                </a:solidFill>
              </a:defRPr>
            </a:defPPr>
            <a:lvl1pPr>
              <a:defRPr sz="1875" b="0">
                <a:solidFill>
                  <a:srgbClr val="53776B"/>
                </a:solidFill>
              </a:defRPr>
            </a:lvl1pPr>
            <a:lvl2pPr>
              <a:defRPr sz="1875" b="0">
                <a:solidFill>
                  <a:srgbClr val="53776B"/>
                </a:solidFill>
              </a:defRPr>
            </a:lvl2pPr>
            <a:lvl3pPr>
              <a:defRPr sz="1875" b="0">
                <a:solidFill>
                  <a:srgbClr val="53776B"/>
                </a:solidFill>
              </a:defRPr>
            </a:lvl3pPr>
            <a:lvl4pPr>
              <a:defRPr sz="1875" b="0">
                <a:solidFill>
                  <a:srgbClr val="53776B"/>
                </a:solidFill>
              </a:defRPr>
            </a:lvl4pPr>
            <a:lvl5pPr>
              <a:defRPr sz="1875" b="0">
                <a:solidFill>
                  <a:srgbClr val="53776B"/>
                </a:solidFill>
              </a:defRPr>
            </a:lvl5pPr>
            <a:lvl6pPr>
              <a:defRPr sz="1875" b="0">
                <a:solidFill>
                  <a:srgbClr val="53776B"/>
                </a:solidFill>
              </a:defRPr>
            </a:lvl6pPr>
            <a:lvl7pPr>
              <a:defRPr sz="1875" b="0">
                <a:solidFill>
                  <a:srgbClr val="53776B"/>
                </a:solidFill>
              </a:defRPr>
            </a:lvl7pPr>
            <a:lvl8pPr>
              <a:defRPr sz="1875" b="0">
                <a:solidFill>
                  <a:srgbClr val="53776B"/>
                </a:solidFill>
              </a:defRPr>
            </a:lvl8pPr>
            <a:lvl9pPr>
              <a:defRPr sz="1875" b="0">
                <a:solidFill>
                  <a:srgbClr val="53776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776B"/>
                </a:solidFill>
              </a:defRPr>
            </a:pPr>
            <a:r>
              <a:rPr sz="1875" b="0">
                <a:solidFill>
                  <a:srgbClr val="53776B"/>
                </a:solidFill>
              </a:rPr>
              <a:t>Inserir captura de tela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1B1AB6-C1D6-421B-9359-AA14D68D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36E75"/>
                </a:solidFill>
              </a:defRPr>
            </a:defPPr>
            <a:lvl1pPr>
              <a:defRPr sz="1875" b="0">
                <a:solidFill>
                  <a:srgbClr val="536E75"/>
                </a:solidFill>
              </a:defRPr>
            </a:lvl1pPr>
            <a:lvl2pPr>
              <a:defRPr sz="1875" b="0">
                <a:solidFill>
                  <a:srgbClr val="536E75"/>
                </a:solidFill>
              </a:defRPr>
            </a:lvl2pPr>
            <a:lvl3pPr>
              <a:defRPr sz="1875" b="0">
                <a:solidFill>
                  <a:srgbClr val="536E75"/>
                </a:solidFill>
              </a:defRPr>
            </a:lvl3pPr>
            <a:lvl4pPr>
              <a:defRPr sz="1875" b="0">
                <a:solidFill>
                  <a:srgbClr val="536E75"/>
                </a:solidFill>
              </a:defRPr>
            </a:lvl4pPr>
            <a:lvl5pPr>
              <a:defRPr sz="1875" b="0">
                <a:solidFill>
                  <a:srgbClr val="536E75"/>
                </a:solidFill>
              </a:defRPr>
            </a:lvl5pPr>
            <a:lvl6pPr>
              <a:defRPr sz="1875" b="0">
                <a:solidFill>
                  <a:srgbClr val="536E75"/>
                </a:solidFill>
              </a:defRPr>
            </a:lvl6pPr>
            <a:lvl7pPr>
              <a:defRPr sz="1875" b="0">
                <a:solidFill>
                  <a:srgbClr val="536E75"/>
                </a:solidFill>
              </a:defRPr>
            </a:lvl7pPr>
            <a:lvl8pPr>
              <a:defRPr sz="1875" b="0">
                <a:solidFill>
                  <a:srgbClr val="536E75"/>
                </a:solidFill>
              </a:defRPr>
            </a:lvl8pPr>
            <a:lvl9pPr>
              <a:defRPr sz="1875" b="0">
                <a:solidFill>
                  <a:srgbClr val="536E75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E75"/>
                </a:solidFill>
              </a:defRPr>
            </a:pPr>
            <a:r>
              <a:rPr sz="1875" b="0">
                <a:solidFill>
                  <a:srgbClr val="536E75"/>
                </a:solidFill>
              </a:rPr>
              <a:t>Dados do caso, cálculo de fluxo e meta térmica</a:t>
            </a:r>
          </a:p>
        </p:txBody>
      </p:sp>
    </p:spTree>
    <p:extLst>
      <p:ext uri="{BB962C8B-B14F-4D97-AF65-F5344CB8AC3E}">
        <p14:creationId xmlns:p14="http://schemas.microsoft.com/office/powerpoint/2010/main" val="95234945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A69AEA-AEF4-4D40-808F-3AFDD3D3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10744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33D"/>
                </a:solidFill>
              </a:defRPr>
            </a:defPPr>
            <a:lvl1pPr>
              <a:defRPr sz="3450" b="1">
                <a:solidFill>
                  <a:srgbClr val="18333D"/>
                </a:solidFill>
              </a:defRPr>
            </a:lvl1pPr>
            <a:lvl2pPr>
              <a:defRPr sz="3450" b="1">
                <a:solidFill>
                  <a:srgbClr val="18333D"/>
                </a:solidFill>
              </a:defRPr>
            </a:lvl2pPr>
            <a:lvl3pPr>
              <a:defRPr sz="3450" b="1">
                <a:solidFill>
                  <a:srgbClr val="18333D"/>
                </a:solidFill>
              </a:defRPr>
            </a:lvl3pPr>
            <a:lvl4pPr>
              <a:defRPr sz="3450" b="1">
                <a:solidFill>
                  <a:srgbClr val="18333D"/>
                </a:solidFill>
              </a:defRPr>
            </a:lvl4pPr>
            <a:lvl5pPr>
              <a:defRPr sz="3450" b="1">
                <a:solidFill>
                  <a:srgbClr val="18333D"/>
                </a:solidFill>
              </a:defRPr>
            </a:lvl5pPr>
            <a:lvl6pPr>
              <a:defRPr sz="3450" b="1">
                <a:solidFill>
                  <a:srgbClr val="18333D"/>
                </a:solidFill>
              </a:defRPr>
            </a:lvl6pPr>
            <a:lvl7pPr>
              <a:defRPr sz="3450" b="1">
                <a:solidFill>
                  <a:srgbClr val="18333D"/>
                </a:solidFill>
              </a:defRPr>
            </a:lvl7pPr>
            <a:lvl8pPr>
              <a:defRPr sz="3450" b="1">
                <a:solidFill>
                  <a:srgbClr val="18333D"/>
                </a:solidFill>
              </a:defRPr>
            </a:lvl8pPr>
            <a:lvl9pPr>
              <a:defRPr sz="3450" b="1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33D"/>
                </a:solidFill>
              </a:defRPr>
            </a:pPr>
            <a:r>
              <a:rPr sz="3450" b="1">
                <a:solidFill>
                  <a:srgbClr val="18333D"/>
                </a:solidFill>
              </a:rPr>
              <a:t>Interface de monitorização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CFA82C-EC6A-44DB-9936-0E7466BE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E75"/>
                </a:solidFill>
              </a:defRPr>
            </a:defPPr>
            <a:lvl1pPr>
              <a:defRPr sz="1275" b="0">
                <a:solidFill>
                  <a:srgbClr val="536E75"/>
                </a:solidFill>
              </a:defRPr>
            </a:lvl1pPr>
            <a:lvl2pPr>
              <a:defRPr sz="1275" b="0">
                <a:solidFill>
                  <a:srgbClr val="536E75"/>
                </a:solidFill>
              </a:defRPr>
            </a:lvl2pPr>
            <a:lvl3pPr>
              <a:defRPr sz="1275" b="0">
                <a:solidFill>
                  <a:srgbClr val="536E75"/>
                </a:solidFill>
              </a:defRPr>
            </a:lvl3pPr>
            <a:lvl4pPr>
              <a:defRPr sz="1275" b="0">
                <a:solidFill>
                  <a:srgbClr val="536E75"/>
                </a:solidFill>
              </a:defRPr>
            </a:lvl4pPr>
            <a:lvl5pPr>
              <a:defRPr sz="1275" b="0">
                <a:solidFill>
                  <a:srgbClr val="536E75"/>
                </a:solidFill>
              </a:defRPr>
            </a:lvl5pPr>
            <a:lvl6pPr>
              <a:defRPr sz="1275" b="0">
                <a:solidFill>
                  <a:srgbClr val="536E75"/>
                </a:solidFill>
              </a:defRPr>
            </a:lvl6pPr>
            <a:lvl7pPr>
              <a:defRPr sz="1275" b="0">
                <a:solidFill>
                  <a:srgbClr val="536E75"/>
                </a:solidFill>
              </a:defRPr>
            </a:lvl7pPr>
            <a:lvl8pPr>
              <a:defRPr sz="1275" b="0">
                <a:solidFill>
                  <a:srgbClr val="536E75"/>
                </a:solidFill>
              </a:defRPr>
            </a:lvl8pPr>
            <a:lvl9pPr>
              <a:defRPr sz="1275" b="0">
                <a:solidFill>
                  <a:srgbClr val="536E7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E75"/>
                </a:solidFill>
              </a:defRPr>
            </a:pPr>
            <a:r>
              <a:rPr sz="1275" b="0">
                <a:solidFill>
                  <a:srgbClr val="536E75"/>
                </a:solidFill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0037A9-D16B-40CB-8D5B-78BBC38C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0744200" cy="376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E8"/>
          </a:solidFill>
          <a:ln xmlns:a="http://schemas.openxmlformats.org/drawingml/2006/main" w="9525">
            <a:solidFill>
              <a:srgbClr val="9CB8A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049478-0794-4270-9C7C-A21CCD33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19450"/>
            <a:ext cx="971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53776B"/>
                </a:solidFill>
              </a:defRPr>
            </a:defPPr>
            <a:lvl1pPr>
              <a:defRPr sz="2700" b="1">
                <a:solidFill>
                  <a:srgbClr val="53776B"/>
                </a:solidFill>
              </a:defRPr>
            </a:lvl1pPr>
            <a:lvl2pPr>
              <a:defRPr sz="2700" b="1">
                <a:solidFill>
                  <a:srgbClr val="53776B"/>
                </a:solidFill>
              </a:defRPr>
            </a:lvl2pPr>
            <a:lvl3pPr>
              <a:defRPr sz="2700" b="1">
                <a:solidFill>
                  <a:srgbClr val="53776B"/>
                </a:solidFill>
              </a:defRPr>
            </a:lvl3pPr>
            <a:lvl4pPr>
              <a:defRPr sz="2700" b="1">
                <a:solidFill>
                  <a:srgbClr val="53776B"/>
                </a:solidFill>
              </a:defRPr>
            </a:lvl4pPr>
            <a:lvl5pPr>
              <a:defRPr sz="2700" b="1">
                <a:solidFill>
                  <a:srgbClr val="53776B"/>
                </a:solidFill>
              </a:defRPr>
            </a:lvl5pPr>
            <a:lvl6pPr>
              <a:defRPr sz="2700" b="1">
                <a:solidFill>
                  <a:srgbClr val="53776B"/>
                </a:solidFill>
              </a:defRPr>
            </a:lvl6pPr>
            <a:lvl7pPr>
              <a:defRPr sz="2700" b="1">
                <a:solidFill>
                  <a:srgbClr val="53776B"/>
                </a:solidFill>
              </a:defRPr>
            </a:lvl7pPr>
            <a:lvl8pPr>
              <a:defRPr sz="2700" b="1">
                <a:solidFill>
                  <a:srgbClr val="53776B"/>
                </a:solidFill>
              </a:defRPr>
            </a:lvl8pPr>
            <a:lvl9pPr>
              <a:defRPr sz="2700" b="1">
                <a:solidFill>
                  <a:srgbClr val="53776B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53776B"/>
                </a:solidFill>
              </a:defRPr>
            </a:pPr>
            <a:r>
              <a:rPr sz="2700" b="1">
                <a:solidFill>
                  <a:srgbClr val="53776B"/>
                </a:solidFill>
              </a:rPr>
              <a:t>Print do dashboard em funcionamento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ED1B64-7705-4D7D-967D-74DE4177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48125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3776B"/>
                </a:solidFill>
              </a:defRPr>
            </a:defPPr>
            <a:lvl1pPr>
              <a:defRPr sz="1875" b="0">
                <a:solidFill>
                  <a:srgbClr val="53776B"/>
                </a:solidFill>
              </a:defRPr>
            </a:lvl1pPr>
            <a:lvl2pPr>
              <a:defRPr sz="1875" b="0">
                <a:solidFill>
                  <a:srgbClr val="53776B"/>
                </a:solidFill>
              </a:defRPr>
            </a:lvl2pPr>
            <a:lvl3pPr>
              <a:defRPr sz="1875" b="0">
                <a:solidFill>
                  <a:srgbClr val="53776B"/>
                </a:solidFill>
              </a:defRPr>
            </a:lvl3pPr>
            <a:lvl4pPr>
              <a:defRPr sz="1875" b="0">
                <a:solidFill>
                  <a:srgbClr val="53776B"/>
                </a:solidFill>
              </a:defRPr>
            </a:lvl4pPr>
            <a:lvl5pPr>
              <a:defRPr sz="1875" b="0">
                <a:solidFill>
                  <a:srgbClr val="53776B"/>
                </a:solidFill>
              </a:defRPr>
            </a:lvl5pPr>
            <a:lvl6pPr>
              <a:defRPr sz="1875" b="0">
                <a:solidFill>
                  <a:srgbClr val="53776B"/>
                </a:solidFill>
              </a:defRPr>
            </a:lvl6pPr>
            <a:lvl7pPr>
              <a:defRPr sz="1875" b="0">
                <a:solidFill>
                  <a:srgbClr val="53776B"/>
                </a:solidFill>
              </a:defRPr>
            </a:lvl7pPr>
            <a:lvl8pPr>
              <a:defRPr sz="1875" b="0">
                <a:solidFill>
                  <a:srgbClr val="53776B"/>
                </a:solidFill>
              </a:defRPr>
            </a:lvl8pPr>
            <a:lvl9pPr>
              <a:defRPr sz="1875" b="0">
                <a:solidFill>
                  <a:srgbClr val="53776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776B"/>
                </a:solidFill>
              </a:defRPr>
            </a:pPr>
            <a:r>
              <a:rPr sz="1875" b="0">
                <a:solidFill>
                  <a:srgbClr val="53776B"/>
                </a:solidFill>
              </a:rPr>
              <a:t>Inserir captura de tela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CD4D03-71B8-4A8F-ACA0-4B4864C2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36E75"/>
                </a:solidFill>
              </a:defRPr>
            </a:defPPr>
            <a:lvl1pPr>
              <a:defRPr sz="1875" b="0">
                <a:solidFill>
                  <a:srgbClr val="536E75"/>
                </a:solidFill>
              </a:defRPr>
            </a:lvl1pPr>
            <a:lvl2pPr>
              <a:defRPr sz="1875" b="0">
                <a:solidFill>
                  <a:srgbClr val="536E75"/>
                </a:solidFill>
              </a:defRPr>
            </a:lvl2pPr>
            <a:lvl3pPr>
              <a:defRPr sz="1875" b="0">
                <a:solidFill>
                  <a:srgbClr val="536E75"/>
                </a:solidFill>
              </a:defRPr>
            </a:lvl3pPr>
            <a:lvl4pPr>
              <a:defRPr sz="1875" b="0">
                <a:solidFill>
                  <a:srgbClr val="536E75"/>
                </a:solidFill>
              </a:defRPr>
            </a:lvl4pPr>
            <a:lvl5pPr>
              <a:defRPr sz="1875" b="0">
                <a:solidFill>
                  <a:srgbClr val="536E75"/>
                </a:solidFill>
              </a:defRPr>
            </a:lvl5pPr>
            <a:lvl6pPr>
              <a:defRPr sz="1875" b="0">
                <a:solidFill>
                  <a:srgbClr val="536E75"/>
                </a:solidFill>
              </a:defRPr>
            </a:lvl6pPr>
            <a:lvl7pPr>
              <a:defRPr sz="1875" b="0">
                <a:solidFill>
                  <a:srgbClr val="536E75"/>
                </a:solidFill>
              </a:defRPr>
            </a:lvl7pPr>
            <a:lvl8pPr>
              <a:defRPr sz="1875" b="0">
                <a:solidFill>
                  <a:srgbClr val="536E75"/>
                </a:solidFill>
              </a:defRPr>
            </a:lvl8pPr>
            <a:lvl9pPr>
              <a:defRPr sz="1875" b="0">
                <a:solidFill>
                  <a:srgbClr val="536E75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E75"/>
                </a:solidFill>
              </a:defRPr>
            </a:pPr>
            <a:r>
              <a:rPr sz="1875" b="0">
                <a:solidFill>
                  <a:srgbClr val="536E75"/>
                </a:solidFill>
              </a:rPr>
              <a:t>Cards, entrada de exames, histórico e gráficos</a:t>
            </a:r>
          </a:p>
        </p:txBody>
      </p:sp>
    </p:spTree>
    <p:extLst>
      <p:ext uri="{BB962C8B-B14F-4D97-AF65-F5344CB8AC3E}">
        <p14:creationId xmlns:p14="http://schemas.microsoft.com/office/powerpoint/2010/main" val="41914182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179728-EC7F-4AF0-B94D-F2F6A97D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10744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33D"/>
                </a:solidFill>
              </a:defRPr>
            </a:defPPr>
            <a:lvl1pPr>
              <a:defRPr sz="3450" b="1">
                <a:solidFill>
                  <a:srgbClr val="18333D"/>
                </a:solidFill>
              </a:defRPr>
            </a:lvl1pPr>
            <a:lvl2pPr>
              <a:defRPr sz="3450" b="1">
                <a:solidFill>
                  <a:srgbClr val="18333D"/>
                </a:solidFill>
              </a:defRPr>
            </a:lvl2pPr>
            <a:lvl3pPr>
              <a:defRPr sz="3450" b="1">
                <a:solidFill>
                  <a:srgbClr val="18333D"/>
                </a:solidFill>
              </a:defRPr>
            </a:lvl3pPr>
            <a:lvl4pPr>
              <a:defRPr sz="3450" b="1">
                <a:solidFill>
                  <a:srgbClr val="18333D"/>
                </a:solidFill>
              </a:defRPr>
            </a:lvl4pPr>
            <a:lvl5pPr>
              <a:defRPr sz="3450" b="1">
                <a:solidFill>
                  <a:srgbClr val="18333D"/>
                </a:solidFill>
              </a:defRPr>
            </a:lvl5pPr>
            <a:lvl6pPr>
              <a:defRPr sz="3450" b="1">
                <a:solidFill>
                  <a:srgbClr val="18333D"/>
                </a:solidFill>
              </a:defRPr>
            </a:lvl6pPr>
            <a:lvl7pPr>
              <a:defRPr sz="3450" b="1">
                <a:solidFill>
                  <a:srgbClr val="18333D"/>
                </a:solidFill>
              </a:defRPr>
            </a:lvl7pPr>
            <a:lvl8pPr>
              <a:defRPr sz="3450" b="1">
                <a:solidFill>
                  <a:srgbClr val="18333D"/>
                </a:solidFill>
              </a:defRPr>
            </a:lvl8pPr>
            <a:lvl9pPr>
              <a:defRPr sz="3450" b="1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33D"/>
                </a:solidFill>
              </a:defRPr>
            </a:pPr>
            <a:r>
              <a:rPr sz="3450" b="1">
                <a:solidFill>
                  <a:srgbClr val="18333D"/>
                </a:solidFill>
              </a:rPr>
              <a:t>Checklist e relatórios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9FF248-AAE0-47A3-B31B-A81DE177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E75"/>
                </a:solidFill>
              </a:defRPr>
            </a:defPPr>
            <a:lvl1pPr>
              <a:defRPr sz="1275" b="0">
                <a:solidFill>
                  <a:srgbClr val="536E75"/>
                </a:solidFill>
              </a:defRPr>
            </a:lvl1pPr>
            <a:lvl2pPr>
              <a:defRPr sz="1275" b="0">
                <a:solidFill>
                  <a:srgbClr val="536E75"/>
                </a:solidFill>
              </a:defRPr>
            </a:lvl2pPr>
            <a:lvl3pPr>
              <a:defRPr sz="1275" b="0">
                <a:solidFill>
                  <a:srgbClr val="536E75"/>
                </a:solidFill>
              </a:defRPr>
            </a:lvl3pPr>
            <a:lvl4pPr>
              <a:defRPr sz="1275" b="0">
                <a:solidFill>
                  <a:srgbClr val="536E75"/>
                </a:solidFill>
              </a:defRPr>
            </a:lvl4pPr>
            <a:lvl5pPr>
              <a:defRPr sz="1275" b="0">
                <a:solidFill>
                  <a:srgbClr val="536E75"/>
                </a:solidFill>
              </a:defRPr>
            </a:lvl5pPr>
            <a:lvl6pPr>
              <a:defRPr sz="1275" b="0">
                <a:solidFill>
                  <a:srgbClr val="536E75"/>
                </a:solidFill>
              </a:defRPr>
            </a:lvl6pPr>
            <a:lvl7pPr>
              <a:defRPr sz="1275" b="0">
                <a:solidFill>
                  <a:srgbClr val="536E75"/>
                </a:solidFill>
              </a:defRPr>
            </a:lvl7pPr>
            <a:lvl8pPr>
              <a:defRPr sz="1275" b="0">
                <a:solidFill>
                  <a:srgbClr val="536E75"/>
                </a:solidFill>
              </a:defRPr>
            </a:lvl8pPr>
            <a:lvl9pPr>
              <a:defRPr sz="1275" b="0">
                <a:solidFill>
                  <a:srgbClr val="536E7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E75"/>
                </a:solidFill>
              </a:defRPr>
            </a:pPr>
            <a:r>
              <a:rPr sz="1275" b="0">
                <a:solidFill>
                  <a:srgbClr val="536E75"/>
                </a:solidFill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25085A-D7BD-414C-827E-C5748C98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87D79"/>
                </a:solidFill>
              </a:defRPr>
            </a:defPPr>
            <a:lvl1pPr>
              <a:defRPr sz="2325" b="1">
                <a:solidFill>
                  <a:srgbClr val="087D79"/>
                </a:solidFill>
              </a:defRPr>
            </a:lvl1pPr>
            <a:lvl2pPr>
              <a:defRPr sz="2325" b="1">
                <a:solidFill>
                  <a:srgbClr val="087D79"/>
                </a:solidFill>
              </a:defRPr>
            </a:lvl2pPr>
            <a:lvl3pPr>
              <a:defRPr sz="2325" b="1">
                <a:solidFill>
                  <a:srgbClr val="087D79"/>
                </a:solidFill>
              </a:defRPr>
            </a:lvl3pPr>
            <a:lvl4pPr>
              <a:defRPr sz="2325" b="1">
                <a:solidFill>
                  <a:srgbClr val="087D79"/>
                </a:solidFill>
              </a:defRPr>
            </a:lvl4pPr>
            <a:lvl5pPr>
              <a:defRPr sz="2325" b="1">
                <a:solidFill>
                  <a:srgbClr val="087D79"/>
                </a:solidFill>
              </a:defRPr>
            </a:lvl5pPr>
            <a:lvl6pPr>
              <a:defRPr sz="2325" b="1">
                <a:solidFill>
                  <a:srgbClr val="087D79"/>
                </a:solidFill>
              </a:defRPr>
            </a:lvl6pPr>
            <a:lvl7pPr>
              <a:defRPr sz="2325" b="1">
                <a:solidFill>
                  <a:srgbClr val="087D79"/>
                </a:solidFill>
              </a:defRPr>
            </a:lvl7pPr>
            <a:lvl8pPr>
              <a:defRPr sz="2325" b="1">
                <a:solidFill>
                  <a:srgbClr val="087D79"/>
                </a:solidFill>
              </a:defRPr>
            </a:lvl8pPr>
            <a:lvl9pPr>
              <a:defRPr sz="2325" b="1">
                <a:solidFill>
                  <a:srgbClr val="087D79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D79"/>
                </a:solidFill>
              </a:defRPr>
            </a:pPr>
            <a:r>
              <a:rPr sz="2325" b="1">
                <a:solidFill>
                  <a:srgbClr val="087D79"/>
                </a:solidFill>
              </a:rPr>
              <a:t>Registro operacional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44E715-4684-48A7-BAE8-C1E0A1F4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4857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33D"/>
                </a:solidFill>
              </a:defRPr>
            </a:defPPr>
            <a:lvl1pPr>
              <a:defRPr sz="2175" b="0">
                <a:solidFill>
                  <a:srgbClr val="18333D"/>
                </a:solidFill>
              </a:defRPr>
            </a:lvl1pPr>
            <a:lvl2pPr>
              <a:defRPr sz="2175" b="0">
                <a:solidFill>
                  <a:srgbClr val="18333D"/>
                </a:solidFill>
              </a:defRPr>
            </a:lvl2pPr>
            <a:lvl3pPr>
              <a:defRPr sz="2175" b="0">
                <a:solidFill>
                  <a:srgbClr val="18333D"/>
                </a:solidFill>
              </a:defRPr>
            </a:lvl3pPr>
            <a:lvl4pPr>
              <a:defRPr sz="2175" b="0">
                <a:solidFill>
                  <a:srgbClr val="18333D"/>
                </a:solidFill>
              </a:defRPr>
            </a:lvl4pPr>
            <a:lvl5pPr>
              <a:defRPr sz="2175" b="0">
                <a:solidFill>
                  <a:srgbClr val="18333D"/>
                </a:solidFill>
              </a:defRPr>
            </a:lvl5pPr>
            <a:lvl6pPr>
              <a:defRPr sz="2175" b="0">
                <a:solidFill>
                  <a:srgbClr val="18333D"/>
                </a:solidFill>
              </a:defRPr>
            </a:lvl6pPr>
            <a:lvl7pPr>
              <a:defRPr sz="2175" b="0">
                <a:solidFill>
                  <a:srgbClr val="18333D"/>
                </a:solidFill>
              </a:defRPr>
            </a:lvl7pPr>
            <a:lvl8pPr>
              <a:defRPr sz="2175" b="0">
                <a:solidFill>
                  <a:srgbClr val="18333D"/>
                </a:solidFill>
              </a:defRPr>
            </a:lvl8pPr>
            <a:lvl9pPr>
              <a:defRPr sz="2175" b="0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33D"/>
                </a:solidFill>
              </a:defRPr>
            </a:pPr>
            <a:r>
              <a:rPr sz="2175" b="0">
                <a:solidFill>
                  <a:srgbClr val="18333D"/>
                </a:solidFill>
              </a:rPr>
              <a:t>Checklist do caso, equipe, tempos cirúrgicos e observações. Estado associado à identidade do caso.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622D1C-CF1F-42A6-92E5-DA3BA600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0025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87D79"/>
                </a:solidFill>
              </a:defRPr>
            </a:defPPr>
            <a:lvl1pPr>
              <a:defRPr sz="2325" b="1">
                <a:solidFill>
                  <a:srgbClr val="087D79"/>
                </a:solidFill>
              </a:defRPr>
            </a:lvl1pPr>
            <a:lvl2pPr>
              <a:defRPr sz="2325" b="1">
                <a:solidFill>
                  <a:srgbClr val="087D79"/>
                </a:solidFill>
              </a:defRPr>
            </a:lvl2pPr>
            <a:lvl3pPr>
              <a:defRPr sz="2325" b="1">
                <a:solidFill>
                  <a:srgbClr val="087D79"/>
                </a:solidFill>
              </a:defRPr>
            </a:lvl3pPr>
            <a:lvl4pPr>
              <a:defRPr sz="2325" b="1">
                <a:solidFill>
                  <a:srgbClr val="087D79"/>
                </a:solidFill>
              </a:defRPr>
            </a:lvl4pPr>
            <a:lvl5pPr>
              <a:defRPr sz="2325" b="1">
                <a:solidFill>
                  <a:srgbClr val="087D79"/>
                </a:solidFill>
              </a:defRPr>
            </a:lvl5pPr>
            <a:lvl6pPr>
              <a:defRPr sz="2325" b="1">
                <a:solidFill>
                  <a:srgbClr val="087D79"/>
                </a:solidFill>
              </a:defRPr>
            </a:lvl6pPr>
            <a:lvl7pPr>
              <a:defRPr sz="2325" b="1">
                <a:solidFill>
                  <a:srgbClr val="087D79"/>
                </a:solidFill>
              </a:defRPr>
            </a:lvl7pPr>
            <a:lvl8pPr>
              <a:defRPr sz="2325" b="1">
                <a:solidFill>
                  <a:srgbClr val="087D79"/>
                </a:solidFill>
              </a:defRPr>
            </a:lvl8pPr>
            <a:lvl9pPr>
              <a:defRPr sz="2325" b="1">
                <a:solidFill>
                  <a:srgbClr val="087D79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D79"/>
                </a:solidFill>
              </a:defRPr>
            </a:pPr>
            <a:r>
              <a:rPr sz="2325" b="1">
                <a:solidFill>
                  <a:srgbClr val="087D79"/>
                </a:solidFill>
              </a:rPr>
              <a:t>Comunicação dos resultados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B5B84D-F86A-4FD6-87A5-880DF42A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62250"/>
            <a:ext cx="4857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33D"/>
                </a:solidFill>
              </a:defRPr>
            </a:defPPr>
            <a:lvl1pPr>
              <a:defRPr sz="2175" b="0">
                <a:solidFill>
                  <a:srgbClr val="18333D"/>
                </a:solidFill>
              </a:defRPr>
            </a:lvl1pPr>
            <a:lvl2pPr>
              <a:defRPr sz="2175" b="0">
                <a:solidFill>
                  <a:srgbClr val="18333D"/>
                </a:solidFill>
              </a:defRPr>
            </a:lvl2pPr>
            <a:lvl3pPr>
              <a:defRPr sz="2175" b="0">
                <a:solidFill>
                  <a:srgbClr val="18333D"/>
                </a:solidFill>
              </a:defRPr>
            </a:lvl3pPr>
            <a:lvl4pPr>
              <a:defRPr sz="2175" b="0">
                <a:solidFill>
                  <a:srgbClr val="18333D"/>
                </a:solidFill>
              </a:defRPr>
            </a:lvl4pPr>
            <a:lvl5pPr>
              <a:defRPr sz="2175" b="0">
                <a:solidFill>
                  <a:srgbClr val="18333D"/>
                </a:solidFill>
              </a:defRPr>
            </a:lvl5pPr>
            <a:lvl6pPr>
              <a:defRPr sz="2175" b="0">
                <a:solidFill>
                  <a:srgbClr val="18333D"/>
                </a:solidFill>
              </a:defRPr>
            </a:lvl6pPr>
            <a:lvl7pPr>
              <a:defRPr sz="2175" b="0">
                <a:solidFill>
                  <a:srgbClr val="18333D"/>
                </a:solidFill>
              </a:defRPr>
            </a:lvl7pPr>
            <a:lvl8pPr>
              <a:defRPr sz="2175" b="0">
                <a:solidFill>
                  <a:srgbClr val="18333D"/>
                </a:solidFill>
              </a:defRPr>
            </a:lvl8pPr>
            <a:lvl9pPr>
              <a:defRPr sz="2175" b="0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33D"/>
                </a:solidFill>
              </a:defRPr>
            </a:pPr>
            <a:r>
              <a:rPr sz="2175" b="0">
                <a:solidFill>
                  <a:srgbClr val="18333D"/>
                </a:solidFill>
              </a:rPr>
              <a:t>Relatório simples e completo. Tabelas e gráficos organizam a revisão posterior.</a:t>
            </a:r>
          </a:p>
        </p:txBody>
      </p:sp>
    </p:spTree>
    <p:extLst>
      <p:ext uri="{BB962C8B-B14F-4D97-AF65-F5344CB8AC3E}">
        <p14:creationId xmlns:p14="http://schemas.microsoft.com/office/powerpoint/2010/main" val="160088934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177094-7DFA-4C37-9058-64D23053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10744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33D"/>
                </a:solidFill>
              </a:defRPr>
            </a:defPPr>
            <a:lvl1pPr>
              <a:defRPr sz="3450" b="1">
                <a:solidFill>
                  <a:srgbClr val="18333D"/>
                </a:solidFill>
              </a:defRPr>
            </a:lvl1pPr>
            <a:lvl2pPr>
              <a:defRPr sz="3450" b="1">
                <a:solidFill>
                  <a:srgbClr val="18333D"/>
                </a:solidFill>
              </a:defRPr>
            </a:lvl2pPr>
            <a:lvl3pPr>
              <a:defRPr sz="3450" b="1">
                <a:solidFill>
                  <a:srgbClr val="18333D"/>
                </a:solidFill>
              </a:defRPr>
            </a:lvl3pPr>
            <a:lvl4pPr>
              <a:defRPr sz="3450" b="1">
                <a:solidFill>
                  <a:srgbClr val="18333D"/>
                </a:solidFill>
              </a:defRPr>
            </a:lvl4pPr>
            <a:lvl5pPr>
              <a:defRPr sz="3450" b="1">
                <a:solidFill>
                  <a:srgbClr val="18333D"/>
                </a:solidFill>
              </a:defRPr>
            </a:lvl5pPr>
            <a:lvl6pPr>
              <a:defRPr sz="3450" b="1">
                <a:solidFill>
                  <a:srgbClr val="18333D"/>
                </a:solidFill>
              </a:defRPr>
            </a:lvl6pPr>
            <a:lvl7pPr>
              <a:defRPr sz="3450" b="1">
                <a:solidFill>
                  <a:srgbClr val="18333D"/>
                </a:solidFill>
              </a:defRPr>
            </a:lvl7pPr>
            <a:lvl8pPr>
              <a:defRPr sz="3450" b="1">
                <a:solidFill>
                  <a:srgbClr val="18333D"/>
                </a:solidFill>
              </a:defRPr>
            </a:lvl8pPr>
            <a:lvl9pPr>
              <a:defRPr sz="3450" b="1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33D"/>
                </a:solidFill>
              </a:defRPr>
            </a:pPr>
            <a:r>
              <a:rPr sz="3450" b="1">
                <a:solidFill>
                  <a:srgbClr val="18333D"/>
                </a:solidFill>
              </a:rPr>
              <a:t>Arquitetura e persistência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251257-B671-4D00-A378-833E84DF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E75"/>
                </a:solidFill>
              </a:defRPr>
            </a:defPPr>
            <a:lvl1pPr>
              <a:defRPr sz="1275" b="0">
                <a:solidFill>
                  <a:srgbClr val="536E75"/>
                </a:solidFill>
              </a:defRPr>
            </a:lvl1pPr>
            <a:lvl2pPr>
              <a:defRPr sz="1275" b="0">
                <a:solidFill>
                  <a:srgbClr val="536E75"/>
                </a:solidFill>
              </a:defRPr>
            </a:lvl2pPr>
            <a:lvl3pPr>
              <a:defRPr sz="1275" b="0">
                <a:solidFill>
                  <a:srgbClr val="536E75"/>
                </a:solidFill>
              </a:defRPr>
            </a:lvl3pPr>
            <a:lvl4pPr>
              <a:defRPr sz="1275" b="0">
                <a:solidFill>
                  <a:srgbClr val="536E75"/>
                </a:solidFill>
              </a:defRPr>
            </a:lvl4pPr>
            <a:lvl5pPr>
              <a:defRPr sz="1275" b="0">
                <a:solidFill>
                  <a:srgbClr val="536E75"/>
                </a:solidFill>
              </a:defRPr>
            </a:lvl5pPr>
            <a:lvl6pPr>
              <a:defRPr sz="1275" b="0">
                <a:solidFill>
                  <a:srgbClr val="536E75"/>
                </a:solidFill>
              </a:defRPr>
            </a:lvl6pPr>
            <a:lvl7pPr>
              <a:defRPr sz="1275" b="0">
                <a:solidFill>
                  <a:srgbClr val="536E75"/>
                </a:solidFill>
              </a:defRPr>
            </a:lvl7pPr>
            <a:lvl8pPr>
              <a:defRPr sz="1275" b="0">
                <a:solidFill>
                  <a:srgbClr val="536E75"/>
                </a:solidFill>
              </a:defRPr>
            </a:lvl8pPr>
            <a:lvl9pPr>
              <a:defRPr sz="1275" b="0">
                <a:solidFill>
                  <a:srgbClr val="536E7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E75"/>
                </a:solidFill>
              </a:defRPr>
            </a:pPr>
            <a:r>
              <a:rPr sz="1275" b="0">
                <a:solidFill>
                  <a:srgbClr val="536E75"/>
                </a:solidFill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E5FFF5-C239-492D-8DAC-A135357E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087D79"/>
                </a:solidFill>
              </a:defRPr>
            </a:defPPr>
            <a:lvl1pPr>
              <a:defRPr sz="4350" b="1">
                <a:solidFill>
                  <a:srgbClr val="087D79"/>
                </a:solidFill>
              </a:defRPr>
            </a:lvl1pPr>
            <a:lvl2pPr>
              <a:defRPr sz="4350" b="1">
                <a:solidFill>
                  <a:srgbClr val="087D79"/>
                </a:solidFill>
              </a:defRPr>
            </a:lvl2pPr>
            <a:lvl3pPr>
              <a:defRPr sz="4350" b="1">
                <a:solidFill>
                  <a:srgbClr val="087D79"/>
                </a:solidFill>
              </a:defRPr>
            </a:lvl3pPr>
            <a:lvl4pPr>
              <a:defRPr sz="4350" b="1">
                <a:solidFill>
                  <a:srgbClr val="087D79"/>
                </a:solidFill>
              </a:defRPr>
            </a:lvl4pPr>
            <a:lvl5pPr>
              <a:defRPr sz="4350" b="1">
                <a:solidFill>
                  <a:srgbClr val="087D79"/>
                </a:solidFill>
              </a:defRPr>
            </a:lvl5pPr>
            <a:lvl6pPr>
              <a:defRPr sz="4350" b="1">
                <a:solidFill>
                  <a:srgbClr val="087D79"/>
                </a:solidFill>
              </a:defRPr>
            </a:lvl6pPr>
            <a:lvl7pPr>
              <a:defRPr sz="4350" b="1">
                <a:solidFill>
                  <a:srgbClr val="087D79"/>
                </a:solidFill>
              </a:defRPr>
            </a:lvl7pPr>
            <a:lvl8pPr>
              <a:defRPr sz="4350" b="1">
                <a:solidFill>
                  <a:srgbClr val="087D79"/>
                </a:solidFill>
              </a:defRPr>
            </a:lvl8pPr>
            <a:lvl9pPr>
              <a:defRPr sz="4350" b="1">
                <a:solidFill>
                  <a:srgbClr val="087D79"/>
                </a:solidFill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087D79"/>
                </a:solidFill>
              </a:defRPr>
            </a:pPr>
            <a:r>
              <a:rPr sz="4350" b="1">
                <a:solidFill>
                  <a:srgbClr val="087D7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F107E9-782F-4029-877E-429CDB9A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95625"/>
            <a:ext cx="2333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333D"/>
                </a:solidFill>
              </a:defRPr>
            </a:defPPr>
            <a:lvl1pPr>
              <a:defRPr sz="2100" b="1">
                <a:solidFill>
                  <a:srgbClr val="18333D"/>
                </a:solidFill>
              </a:defRPr>
            </a:lvl1pPr>
            <a:lvl2pPr>
              <a:defRPr sz="2100" b="1">
                <a:solidFill>
                  <a:srgbClr val="18333D"/>
                </a:solidFill>
              </a:defRPr>
            </a:lvl2pPr>
            <a:lvl3pPr>
              <a:defRPr sz="2100" b="1">
                <a:solidFill>
                  <a:srgbClr val="18333D"/>
                </a:solidFill>
              </a:defRPr>
            </a:lvl3pPr>
            <a:lvl4pPr>
              <a:defRPr sz="2100" b="1">
                <a:solidFill>
                  <a:srgbClr val="18333D"/>
                </a:solidFill>
              </a:defRPr>
            </a:lvl4pPr>
            <a:lvl5pPr>
              <a:defRPr sz="2100" b="1">
                <a:solidFill>
                  <a:srgbClr val="18333D"/>
                </a:solidFill>
              </a:defRPr>
            </a:lvl5pPr>
            <a:lvl6pPr>
              <a:defRPr sz="2100" b="1">
                <a:solidFill>
                  <a:srgbClr val="18333D"/>
                </a:solidFill>
              </a:defRPr>
            </a:lvl6pPr>
            <a:lvl7pPr>
              <a:defRPr sz="2100" b="1">
                <a:solidFill>
                  <a:srgbClr val="18333D"/>
                </a:solidFill>
              </a:defRPr>
            </a:lvl7pPr>
            <a:lvl8pPr>
              <a:defRPr sz="2100" b="1">
                <a:solidFill>
                  <a:srgbClr val="18333D"/>
                </a:solidFill>
              </a:defRPr>
            </a:lvl8pPr>
            <a:lvl9pPr>
              <a:defRPr sz="2100" b="1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8333D"/>
                </a:solidFill>
              </a:defRPr>
            </a:pPr>
            <a:r>
              <a:rPr sz="2100" b="1">
                <a:solidFill>
                  <a:srgbClr val="18333D"/>
                </a:solidFill>
              </a:rPr>
              <a:t>Navegador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60BEF3-6D01-48D2-91A9-911AFC7B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23336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36E75"/>
                </a:solidFill>
              </a:defRPr>
            </a:defPPr>
            <a:lvl1pPr>
              <a:defRPr sz="1950" b="0">
                <a:solidFill>
                  <a:srgbClr val="536E75"/>
                </a:solidFill>
              </a:defRPr>
            </a:lvl1pPr>
            <a:lvl2pPr>
              <a:defRPr sz="1950" b="0">
                <a:solidFill>
                  <a:srgbClr val="536E75"/>
                </a:solidFill>
              </a:defRPr>
            </a:lvl2pPr>
            <a:lvl3pPr>
              <a:defRPr sz="1950" b="0">
                <a:solidFill>
                  <a:srgbClr val="536E75"/>
                </a:solidFill>
              </a:defRPr>
            </a:lvl3pPr>
            <a:lvl4pPr>
              <a:defRPr sz="1950" b="0">
                <a:solidFill>
                  <a:srgbClr val="536E75"/>
                </a:solidFill>
              </a:defRPr>
            </a:lvl4pPr>
            <a:lvl5pPr>
              <a:defRPr sz="1950" b="0">
                <a:solidFill>
                  <a:srgbClr val="536E75"/>
                </a:solidFill>
              </a:defRPr>
            </a:lvl5pPr>
            <a:lvl6pPr>
              <a:defRPr sz="1950" b="0">
                <a:solidFill>
                  <a:srgbClr val="536E75"/>
                </a:solidFill>
              </a:defRPr>
            </a:lvl6pPr>
            <a:lvl7pPr>
              <a:defRPr sz="1950" b="0">
                <a:solidFill>
                  <a:srgbClr val="536E75"/>
                </a:solidFill>
              </a:defRPr>
            </a:lvl7pPr>
            <a:lvl8pPr>
              <a:defRPr sz="1950" b="0">
                <a:solidFill>
                  <a:srgbClr val="536E75"/>
                </a:solidFill>
              </a:defRPr>
            </a:lvl8pPr>
            <a:lvl9pPr>
              <a:defRPr sz="1950" b="0">
                <a:solidFill>
                  <a:srgbClr val="536E7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E75"/>
                </a:solidFill>
              </a:defRPr>
            </a:pPr>
            <a:r>
              <a:rPr sz="1950" b="0">
                <a:solidFill>
                  <a:srgbClr val="536E75"/>
                </a:solidFill>
              </a:rPr>
              <a:t>HTML, CSS e JavaScript. Cálculos e gráficos no cliente.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D7B49D-6530-4F64-95EA-0B308036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00250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087D79"/>
                </a:solidFill>
              </a:defRPr>
            </a:defPPr>
            <a:lvl1pPr>
              <a:defRPr sz="4350" b="1">
                <a:solidFill>
                  <a:srgbClr val="087D79"/>
                </a:solidFill>
              </a:defRPr>
            </a:lvl1pPr>
            <a:lvl2pPr>
              <a:defRPr sz="4350" b="1">
                <a:solidFill>
                  <a:srgbClr val="087D79"/>
                </a:solidFill>
              </a:defRPr>
            </a:lvl2pPr>
            <a:lvl3pPr>
              <a:defRPr sz="4350" b="1">
                <a:solidFill>
                  <a:srgbClr val="087D79"/>
                </a:solidFill>
              </a:defRPr>
            </a:lvl3pPr>
            <a:lvl4pPr>
              <a:defRPr sz="4350" b="1">
                <a:solidFill>
                  <a:srgbClr val="087D79"/>
                </a:solidFill>
              </a:defRPr>
            </a:lvl4pPr>
            <a:lvl5pPr>
              <a:defRPr sz="4350" b="1">
                <a:solidFill>
                  <a:srgbClr val="087D79"/>
                </a:solidFill>
              </a:defRPr>
            </a:lvl5pPr>
            <a:lvl6pPr>
              <a:defRPr sz="4350" b="1">
                <a:solidFill>
                  <a:srgbClr val="087D79"/>
                </a:solidFill>
              </a:defRPr>
            </a:lvl6pPr>
            <a:lvl7pPr>
              <a:defRPr sz="4350" b="1">
                <a:solidFill>
                  <a:srgbClr val="087D79"/>
                </a:solidFill>
              </a:defRPr>
            </a:lvl7pPr>
            <a:lvl8pPr>
              <a:defRPr sz="4350" b="1">
                <a:solidFill>
                  <a:srgbClr val="087D79"/>
                </a:solidFill>
              </a:defRPr>
            </a:lvl8pPr>
            <a:lvl9pPr>
              <a:defRPr sz="4350" b="1">
                <a:solidFill>
                  <a:srgbClr val="087D79"/>
                </a:solidFill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087D79"/>
                </a:solidFill>
              </a:defRPr>
            </a:pPr>
            <a:r>
              <a:rPr sz="4350" b="1">
                <a:solidFill>
                  <a:srgbClr val="087D79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3E4DC3-FF22-40FE-BA85-B1AD7AD2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95625"/>
            <a:ext cx="2333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333D"/>
                </a:solidFill>
              </a:defRPr>
            </a:defPPr>
            <a:lvl1pPr>
              <a:defRPr sz="2100" b="1">
                <a:solidFill>
                  <a:srgbClr val="18333D"/>
                </a:solidFill>
              </a:defRPr>
            </a:lvl1pPr>
            <a:lvl2pPr>
              <a:defRPr sz="2100" b="1">
                <a:solidFill>
                  <a:srgbClr val="18333D"/>
                </a:solidFill>
              </a:defRPr>
            </a:lvl2pPr>
            <a:lvl3pPr>
              <a:defRPr sz="2100" b="1">
                <a:solidFill>
                  <a:srgbClr val="18333D"/>
                </a:solidFill>
              </a:defRPr>
            </a:lvl3pPr>
            <a:lvl4pPr>
              <a:defRPr sz="2100" b="1">
                <a:solidFill>
                  <a:srgbClr val="18333D"/>
                </a:solidFill>
              </a:defRPr>
            </a:lvl4pPr>
            <a:lvl5pPr>
              <a:defRPr sz="2100" b="1">
                <a:solidFill>
                  <a:srgbClr val="18333D"/>
                </a:solidFill>
              </a:defRPr>
            </a:lvl5pPr>
            <a:lvl6pPr>
              <a:defRPr sz="2100" b="1">
                <a:solidFill>
                  <a:srgbClr val="18333D"/>
                </a:solidFill>
              </a:defRPr>
            </a:lvl6pPr>
            <a:lvl7pPr>
              <a:defRPr sz="2100" b="1">
                <a:solidFill>
                  <a:srgbClr val="18333D"/>
                </a:solidFill>
              </a:defRPr>
            </a:lvl7pPr>
            <a:lvl8pPr>
              <a:defRPr sz="2100" b="1">
                <a:solidFill>
                  <a:srgbClr val="18333D"/>
                </a:solidFill>
              </a:defRPr>
            </a:lvl8pPr>
            <a:lvl9pPr>
              <a:defRPr sz="2100" b="1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8333D"/>
                </a:solidFill>
              </a:defRPr>
            </a:pPr>
            <a:r>
              <a:rPr sz="2100" b="1">
                <a:solidFill>
                  <a:srgbClr val="18333D"/>
                </a:solidFill>
              </a:rPr>
              <a:t>Armazenamento local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466A27-29F4-4D08-9736-2C72A83E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95750"/>
            <a:ext cx="23336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36E75"/>
                </a:solidFill>
              </a:defRPr>
            </a:defPPr>
            <a:lvl1pPr>
              <a:defRPr sz="1950" b="0">
                <a:solidFill>
                  <a:srgbClr val="536E75"/>
                </a:solidFill>
              </a:defRPr>
            </a:lvl1pPr>
            <a:lvl2pPr>
              <a:defRPr sz="1950" b="0">
                <a:solidFill>
                  <a:srgbClr val="536E75"/>
                </a:solidFill>
              </a:defRPr>
            </a:lvl2pPr>
            <a:lvl3pPr>
              <a:defRPr sz="1950" b="0">
                <a:solidFill>
                  <a:srgbClr val="536E75"/>
                </a:solidFill>
              </a:defRPr>
            </a:lvl3pPr>
            <a:lvl4pPr>
              <a:defRPr sz="1950" b="0">
                <a:solidFill>
                  <a:srgbClr val="536E75"/>
                </a:solidFill>
              </a:defRPr>
            </a:lvl4pPr>
            <a:lvl5pPr>
              <a:defRPr sz="1950" b="0">
                <a:solidFill>
                  <a:srgbClr val="536E75"/>
                </a:solidFill>
              </a:defRPr>
            </a:lvl5pPr>
            <a:lvl6pPr>
              <a:defRPr sz="1950" b="0">
                <a:solidFill>
                  <a:srgbClr val="536E75"/>
                </a:solidFill>
              </a:defRPr>
            </a:lvl6pPr>
            <a:lvl7pPr>
              <a:defRPr sz="1950" b="0">
                <a:solidFill>
                  <a:srgbClr val="536E75"/>
                </a:solidFill>
              </a:defRPr>
            </a:lvl7pPr>
            <a:lvl8pPr>
              <a:defRPr sz="1950" b="0">
                <a:solidFill>
                  <a:srgbClr val="536E75"/>
                </a:solidFill>
              </a:defRPr>
            </a:lvl8pPr>
            <a:lvl9pPr>
              <a:defRPr sz="1950" b="0">
                <a:solidFill>
                  <a:srgbClr val="536E7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E75"/>
                </a:solidFill>
              </a:defRPr>
            </a:pPr>
            <a:r>
              <a:rPr sz="1950" b="0">
                <a:solidFill>
                  <a:srgbClr val="536E75"/>
                </a:solidFill>
              </a:rPr>
              <a:t>Plano e histórico persistem no navegador.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A34F2D-3670-4E93-BC9C-AADDAECB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00250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087D79"/>
                </a:solidFill>
              </a:defRPr>
            </a:defPPr>
            <a:lvl1pPr>
              <a:defRPr sz="4350" b="1">
                <a:solidFill>
                  <a:srgbClr val="087D79"/>
                </a:solidFill>
              </a:defRPr>
            </a:lvl1pPr>
            <a:lvl2pPr>
              <a:defRPr sz="4350" b="1">
                <a:solidFill>
                  <a:srgbClr val="087D79"/>
                </a:solidFill>
              </a:defRPr>
            </a:lvl2pPr>
            <a:lvl3pPr>
              <a:defRPr sz="4350" b="1">
                <a:solidFill>
                  <a:srgbClr val="087D79"/>
                </a:solidFill>
              </a:defRPr>
            </a:lvl3pPr>
            <a:lvl4pPr>
              <a:defRPr sz="4350" b="1">
                <a:solidFill>
                  <a:srgbClr val="087D79"/>
                </a:solidFill>
              </a:defRPr>
            </a:lvl4pPr>
            <a:lvl5pPr>
              <a:defRPr sz="4350" b="1">
                <a:solidFill>
                  <a:srgbClr val="087D79"/>
                </a:solidFill>
              </a:defRPr>
            </a:lvl5pPr>
            <a:lvl6pPr>
              <a:defRPr sz="4350" b="1">
                <a:solidFill>
                  <a:srgbClr val="087D79"/>
                </a:solidFill>
              </a:defRPr>
            </a:lvl6pPr>
            <a:lvl7pPr>
              <a:defRPr sz="4350" b="1">
                <a:solidFill>
                  <a:srgbClr val="087D79"/>
                </a:solidFill>
              </a:defRPr>
            </a:lvl7pPr>
            <a:lvl8pPr>
              <a:defRPr sz="4350" b="1">
                <a:solidFill>
                  <a:srgbClr val="087D79"/>
                </a:solidFill>
              </a:defRPr>
            </a:lvl8pPr>
            <a:lvl9pPr>
              <a:defRPr sz="4350" b="1">
                <a:solidFill>
                  <a:srgbClr val="087D79"/>
                </a:solidFill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087D79"/>
                </a:solidFill>
              </a:defRPr>
            </a:pPr>
            <a:r>
              <a:rPr sz="4350" b="1">
                <a:solidFill>
                  <a:srgbClr val="087D79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85156A-D639-4A28-A3B5-630D3D02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95625"/>
            <a:ext cx="2333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333D"/>
                </a:solidFill>
              </a:defRPr>
            </a:defPPr>
            <a:lvl1pPr>
              <a:defRPr sz="2100" b="1">
                <a:solidFill>
                  <a:srgbClr val="18333D"/>
                </a:solidFill>
              </a:defRPr>
            </a:lvl1pPr>
            <a:lvl2pPr>
              <a:defRPr sz="2100" b="1">
                <a:solidFill>
                  <a:srgbClr val="18333D"/>
                </a:solidFill>
              </a:defRPr>
            </a:lvl2pPr>
            <a:lvl3pPr>
              <a:defRPr sz="2100" b="1">
                <a:solidFill>
                  <a:srgbClr val="18333D"/>
                </a:solidFill>
              </a:defRPr>
            </a:lvl3pPr>
            <a:lvl4pPr>
              <a:defRPr sz="2100" b="1">
                <a:solidFill>
                  <a:srgbClr val="18333D"/>
                </a:solidFill>
              </a:defRPr>
            </a:lvl4pPr>
            <a:lvl5pPr>
              <a:defRPr sz="2100" b="1">
                <a:solidFill>
                  <a:srgbClr val="18333D"/>
                </a:solidFill>
              </a:defRPr>
            </a:lvl5pPr>
            <a:lvl6pPr>
              <a:defRPr sz="2100" b="1">
                <a:solidFill>
                  <a:srgbClr val="18333D"/>
                </a:solidFill>
              </a:defRPr>
            </a:lvl6pPr>
            <a:lvl7pPr>
              <a:defRPr sz="2100" b="1">
                <a:solidFill>
                  <a:srgbClr val="18333D"/>
                </a:solidFill>
              </a:defRPr>
            </a:lvl7pPr>
            <a:lvl8pPr>
              <a:defRPr sz="2100" b="1">
                <a:solidFill>
                  <a:srgbClr val="18333D"/>
                </a:solidFill>
              </a:defRPr>
            </a:lvl8pPr>
            <a:lvl9pPr>
              <a:defRPr sz="2100" b="1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8333D"/>
                </a:solidFill>
              </a:defRPr>
            </a:pPr>
            <a:r>
              <a:rPr sz="2100" b="1">
                <a:solidFill>
                  <a:srgbClr val="18333D"/>
                </a:solidFill>
              </a:rPr>
              <a:t>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E97AB1-1573-40F6-B433-12D4D9AE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95750"/>
            <a:ext cx="23336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36E75"/>
                </a:solidFill>
              </a:defRPr>
            </a:defPPr>
            <a:lvl1pPr>
              <a:defRPr sz="1950" b="0">
                <a:solidFill>
                  <a:srgbClr val="536E75"/>
                </a:solidFill>
              </a:defRPr>
            </a:lvl1pPr>
            <a:lvl2pPr>
              <a:defRPr sz="1950" b="0">
                <a:solidFill>
                  <a:srgbClr val="536E75"/>
                </a:solidFill>
              </a:defRPr>
            </a:lvl2pPr>
            <a:lvl3pPr>
              <a:defRPr sz="1950" b="0">
                <a:solidFill>
                  <a:srgbClr val="536E75"/>
                </a:solidFill>
              </a:defRPr>
            </a:lvl3pPr>
            <a:lvl4pPr>
              <a:defRPr sz="1950" b="0">
                <a:solidFill>
                  <a:srgbClr val="536E75"/>
                </a:solidFill>
              </a:defRPr>
            </a:lvl4pPr>
            <a:lvl5pPr>
              <a:defRPr sz="1950" b="0">
                <a:solidFill>
                  <a:srgbClr val="536E75"/>
                </a:solidFill>
              </a:defRPr>
            </a:lvl5pPr>
            <a:lvl6pPr>
              <a:defRPr sz="1950" b="0">
                <a:solidFill>
                  <a:srgbClr val="536E75"/>
                </a:solidFill>
              </a:defRPr>
            </a:lvl6pPr>
            <a:lvl7pPr>
              <a:defRPr sz="1950" b="0">
                <a:solidFill>
                  <a:srgbClr val="536E75"/>
                </a:solidFill>
              </a:defRPr>
            </a:lvl7pPr>
            <a:lvl8pPr>
              <a:defRPr sz="1950" b="0">
                <a:solidFill>
                  <a:srgbClr val="536E75"/>
                </a:solidFill>
              </a:defRPr>
            </a:lvl8pPr>
            <a:lvl9pPr>
              <a:defRPr sz="1950" b="0">
                <a:solidFill>
                  <a:srgbClr val="536E7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E75"/>
                </a:solidFill>
              </a:defRPr>
            </a:pPr>
            <a:r>
              <a:rPr sz="1950" b="0">
                <a:solidFill>
                  <a:srgbClr val="536E75"/>
                </a:solidFill>
              </a:rPr>
              <a:t>Node.js e Express recebem o salvamento do caso.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F0DD25-A557-425C-B799-9F03CAEB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00250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087D79"/>
                </a:solidFill>
              </a:defRPr>
            </a:defPPr>
            <a:lvl1pPr>
              <a:defRPr sz="4350" b="1">
                <a:solidFill>
                  <a:srgbClr val="087D79"/>
                </a:solidFill>
              </a:defRPr>
            </a:lvl1pPr>
            <a:lvl2pPr>
              <a:defRPr sz="4350" b="1">
                <a:solidFill>
                  <a:srgbClr val="087D79"/>
                </a:solidFill>
              </a:defRPr>
            </a:lvl2pPr>
            <a:lvl3pPr>
              <a:defRPr sz="4350" b="1">
                <a:solidFill>
                  <a:srgbClr val="087D79"/>
                </a:solidFill>
              </a:defRPr>
            </a:lvl3pPr>
            <a:lvl4pPr>
              <a:defRPr sz="4350" b="1">
                <a:solidFill>
                  <a:srgbClr val="087D79"/>
                </a:solidFill>
              </a:defRPr>
            </a:lvl4pPr>
            <a:lvl5pPr>
              <a:defRPr sz="4350" b="1">
                <a:solidFill>
                  <a:srgbClr val="087D79"/>
                </a:solidFill>
              </a:defRPr>
            </a:lvl5pPr>
            <a:lvl6pPr>
              <a:defRPr sz="4350" b="1">
                <a:solidFill>
                  <a:srgbClr val="087D79"/>
                </a:solidFill>
              </a:defRPr>
            </a:lvl6pPr>
            <a:lvl7pPr>
              <a:defRPr sz="4350" b="1">
                <a:solidFill>
                  <a:srgbClr val="087D79"/>
                </a:solidFill>
              </a:defRPr>
            </a:lvl7pPr>
            <a:lvl8pPr>
              <a:defRPr sz="4350" b="1">
                <a:solidFill>
                  <a:srgbClr val="087D79"/>
                </a:solidFill>
              </a:defRPr>
            </a:lvl8pPr>
            <a:lvl9pPr>
              <a:defRPr sz="4350" b="1">
                <a:solidFill>
                  <a:srgbClr val="087D79"/>
                </a:solidFill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087D79"/>
                </a:solidFill>
              </a:defRPr>
            </a:pPr>
            <a:r>
              <a:rPr sz="4350" b="1">
                <a:solidFill>
                  <a:srgbClr val="087D79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40525E-1FDA-4DD5-85DE-9127BEF9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95625"/>
            <a:ext cx="2333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333D"/>
                </a:solidFill>
              </a:defRPr>
            </a:defPPr>
            <a:lvl1pPr>
              <a:defRPr sz="2100" b="1">
                <a:solidFill>
                  <a:srgbClr val="18333D"/>
                </a:solidFill>
              </a:defRPr>
            </a:lvl1pPr>
            <a:lvl2pPr>
              <a:defRPr sz="2100" b="1">
                <a:solidFill>
                  <a:srgbClr val="18333D"/>
                </a:solidFill>
              </a:defRPr>
            </a:lvl2pPr>
            <a:lvl3pPr>
              <a:defRPr sz="2100" b="1">
                <a:solidFill>
                  <a:srgbClr val="18333D"/>
                </a:solidFill>
              </a:defRPr>
            </a:lvl3pPr>
            <a:lvl4pPr>
              <a:defRPr sz="2100" b="1">
                <a:solidFill>
                  <a:srgbClr val="18333D"/>
                </a:solidFill>
              </a:defRPr>
            </a:lvl4pPr>
            <a:lvl5pPr>
              <a:defRPr sz="2100" b="1">
                <a:solidFill>
                  <a:srgbClr val="18333D"/>
                </a:solidFill>
              </a:defRPr>
            </a:lvl5pPr>
            <a:lvl6pPr>
              <a:defRPr sz="2100" b="1">
                <a:solidFill>
                  <a:srgbClr val="18333D"/>
                </a:solidFill>
              </a:defRPr>
            </a:lvl6pPr>
            <a:lvl7pPr>
              <a:defRPr sz="2100" b="1">
                <a:solidFill>
                  <a:srgbClr val="18333D"/>
                </a:solidFill>
              </a:defRPr>
            </a:lvl7pPr>
            <a:lvl8pPr>
              <a:defRPr sz="2100" b="1">
                <a:solidFill>
                  <a:srgbClr val="18333D"/>
                </a:solidFill>
              </a:defRPr>
            </a:lvl8pPr>
            <a:lvl9pPr>
              <a:defRPr sz="2100" b="1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8333D"/>
                </a:solidFill>
              </a:defRPr>
            </a:pPr>
            <a:r>
              <a:rPr sz="2100" b="1">
                <a:solidFill>
                  <a:srgbClr val="18333D"/>
                </a:solidFill>
              </a:rPr>
              <a:t>Banco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10DF5F-5C16-4C70-8B01-BC707DFF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95750"/>
            <a:ext cx="23336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36E75"/>
                </a:solidFill>
              </a:defRPr>
            </a:defPPr>
            <a:lvl1pPr>
              <a:defRPr sz="1950" b="0">
                <a:solidFill>
                  <a:srgbClr val="536E75"/>
                </a:solidFill>
              </a:defRPr>
            </a:lvl1pPr>
            <a:lvl2pPr>
              <a:defRPr sz="1950" b="0">
                <a:solidFill>
                  <a:srgbClr val="536E75"/>
                </a:solidFill>
              </a:defRPr>
            </a:lvl2pPr>
            <a:lvl3pPr>
              <a:defRPr sz="1950" b="0">
                <a:solidFill>
                  <a:srgbClr val="536E75"/>
                </a:solidFill>
              </a:defRPr>
            </a:lvl3pPr>
            <a:lvl4pPr>
              <a:defRPr sz="1950" b="0">
                <a:solidFill>
                  <a:srgbClr val="536E75"/>
                </a:solidFill>
              </a:defRPr>
            </a:lvl4pPr>
            <a:lvl5pPr>
              <a:defRPr sz="1950" b="0">
                <a:solidFill>
                  <a:srgbClr val="536E75"/>
                </a:solidFill>
              </a:defRPr>
            </a:lvl5pPr>
            <a:lvl6pPr>
              <a:defRPr sz="1950" b="0">
                <a:solidFill>
                  <a:srgbClr val="536E75"/>
                </a:solidFill>
              </a:defRPr>
            </a:lvl6pPr>
            <a:lvl7pPr>
              <a:defRPr sz="1950" b="0">
                <a:solidFill>
                  <a:srgbClr val="536E75"/>
                </a:solidFill>
              </a:defRPr>
            </a:lvl7pPr>
            <a:lvl8pPr>
              <a:defRPr sz="1950" b="0">
                <a:solidFill>
                  <a:srgbClr val="536E75"/>
                </a:solidFill>
              </a:defRPr>
            </a:lvl8pPr>
            <a:lvl9pPr>
              <a:defRPr sz="1950" b="0">
                <a:solidFill>
                  <a:srgbClr val="536E7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E75"/>
                </a:solidFill>
              </a:defRPr>
            </a:pPr>
            <a:r>
              <a:rPr sz="1950" b="0">
                <a:solidFill>
                  <a:srgbClr val="536E75"/>
                </a:solidFill>
              </a:rPr>
              <a:t>MongoDB preserva paciente, monitorização, análise e checklist.</a:t>
            </a:r>
          </a:p>
        </p:txBody>
      </p:sp>
    </p:spTree>
    <p:extLst>
      <p:ext uri="{BB962C8B-B14F-4D97-AF65-F5344CB8AC3E}">
        <p14:creationId xmlns:p14="http://schemas.microsoft.com/office/powerpoint/2010/main" val="121426204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9A75EC-29CC-4A2A-BE35-9F1F5852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10744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33D"/>
                </a:solidFill>
              </a:defRPr>
            </a:defPPr>
            <a:lvl1pPr>
              <a:defRPr sz="3450" b="1">
                <a:solidFill>
                  <a:srgbClr val="18333D"/>
                </a:solidFill>
              </a:defRPr>
            </a:lvl1pPr>
            <a:lvl2pPr>
              <a:defRPr sz="3450" b="1">
                <a:solidFill>
                  <a:srgbClr val="18333D"/>
                </a:solidFill>
              </a:defRPr>
            </a:lvl2pPr>
            <a:lvl3pPr>
              <a:defRPr sz="3450" b="1">
                <a:solidFill>
                  <a:srgbClr val="18333D"/>
                </a:solidFill>
              </a:defRPr>
            </a:lvl3pPr>
            <a:lvl4pPr>
              <a:defRPr sz="3450" b="1">
                <a:solidFill>
                  <a:srgbClr val="18333D"/>
                </a:solidFill>
              </a:defRPr>
            </a:lvl4pPr>
            <a:lvl5pPr>
              <a:defRPr sz="3450" b="1">
                <a:solidFill>
                  <a:srgbClr val="18333D"/>
                </a:solidFill>
              </a:defRPr>
            </a:lvl5pPr>
            <a:lvl6pPr>
              <a:defRPr sz="3450" b="1">
                <a:solidFill>
                  <a:srgbClr val="18333D"/>
                </a:solidFill>
              </a:defRPr>
            </a:lvl6pPr>
            <a:lvl7pPr>
              <a:defRPr sz="3450" b="1">
                <a:solidFill>
                  <a:srgbClr val="18333D"/>
                </a:solidFill>
              </a:defRPr>
            </a:lvl7pPr>
            <a:lvl8pPr>
              <a:defRPr sz="3450" b="1">
                <a:solidFill>
                  <a:srgbClr val="18333D"/>
                </a:solidFill>
              </a:defRPr>
            </a:lvl8pPr>
            <a:lvl9pPr>
              <a:defRPr sz="3450" b="1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33D"/>
                </a:solidFill>
              </a:defRPr>
            </a:pPr>
            <a:r>
              <a:rPr sz="3450" b="1">
                <a:solidFill>
                  <a:srgbClr val="18333D"/>
                </a:solidFill>
              </a:rPr>
              <a:t>Evidência que orienta o projeto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9EC8AB-396B-40DD-A9D2-49517D7C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E75"/>
                </a:solidFill>
              </a:defRPr>
            </a:defPPr>
            <a:lvl1pPr>
              <a:defRPr sz="1275" b="0">
                <a:solidFill>
                  <a:srgbClr val="536E75"/>
                </a:solidFill>
              </a:defRPr>
            </a:lvl1pPr>
            <a:lvl2pPr>
              <a:defRPr sz="1275" b="0">
                <a:solidFill>
                  <a:srgbClr val="536E75"/>
                </a:solidFill>
              </a:defRPr>
            </a:lvl2pPr>
            <a:lvl3pPr>
              <a:defRPr sz="1275" b="0">
                <a:solidFill>
                  <a:srgbClr val="536E75"/>
                </a:solidFill>
              </a:defRPr>
            </a:lvl3pPr>
            <a:lvl4pPr>
              <a:defRPr sz="1275" b="0">
                <a:solidFill>
                  <a:srgbClr val="536E75"/>
                </a:solidFill>
              </a:defRPr>
            </a:lvl4pPr>
            <a:lvl5pPr>
              <a:defRPr sz="1275" b="0">
                <a:solidFill>
                  <a:srgbClr val="536E75"/>
                </a:solidFill>
              </a:defRPr>
            </a:lvl5pPr>
            <a:lvl6pPr>
              <a:defRPr sz="1275" b="0">
                <a:solidFill>
                  <a:srgbClr val="536E75"/>
                </a:solidFill>
              </a:defRPr>
            </a:lvl6pPr>
            <a:lvl7pPr>
              <a:defRPr sz="1275" b="0">
                <a:solidFill>
                  <a:srgbClr val="536E75"/>
                </a:solidFill>
              </a:defRPr>
            </a:lvl7pPr>
            <a:lvl8pPr>
              <a:defRPr sz="1275" b="0">
                <a:solidFill>
                  <a:srgbClr val="536E75"/>
                </a:solidFill>
              </a:defRPr>
            </a:lvl8pPr>
            <a:lvl9pPr>
              <a:defRPr sz="1275" b="0">
                <a:solidFill>
                  <a:srgbClr val="536E7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E75"/>
                </a:solidFill>
              </a:defRPr>
            </a:pPr>
            <a:r>
              <a:rPr sz="1275" b="0">
                <a:solidFill>
                  <a:srgbClr val="536E75"/>
                </a:solidFill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E1F454-CD14-427F-8036-1D9EF03E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87D79"/>
                </a:solidFill>
              </a:defRPr>
            </a:defPPr>
            <a:lvl1pPr>
              <a:defRPr sz="2325" b="1">
                <a:solidFill>
                  <a:srgbClr val="087D79"/>
                </a:solidFill>
              </a:defRPr>
            </a:lvl1pPr>
            <a:lvl2pPr>
              <a:defRPr sz="2325" b="1">
                <a:solidFill>
                  <a:srgbClr val="087D79"/>
                </a:solidFill>
              </a:defRPr>
            </a:lvl2pPr>
            <a:lvl3pPr>
              <a:defRPr sz="2325" b="1">
                <a:solidFill>
                  <a:srgbClr val="087D79"/>
                </a:solidFill>
              </a:defRPr>
            </a:lvl3pPr>
            <a:lvl4pPr>
              <a:defRPr sz="2325" b="1">
                <a:solidFill>
                  <a:srgbClr val="087D79"/>
                </a:solidFill>
              </a:defRPr>
            </a:lvl4pPr>
            <a:lvl5pPr>
              <a:defRPr sz="2325" b="1">
                <a:solidFill>
                  <a:srgbClr val="087D79"/>
                </a:solidFill>
              </a:defRPr>
            </a:lvl5pPr>
            <a:lvl6pPr>
              <a:defRPr sz="2325" b="1">
                <a:solidFill>
                  <a:srgbClr val="087D79"/>
                </a:solidFill>
              </a:defRPr>
            </a:lvl6pPr>
            <a:lvl7pPr>
              <a:defRPr sz="2325" b="1">
                <a:solidFill>
                  <a:srgbClr val="087D79"/>
                </a:solidFill>
              </a:defRPr>
            </a:lvl7pPr>
            <a:lvl8pPr>
              <a:defRPr sz="2325" b="1">
                <a:solidFill>
                  <a:srgbClr val="087D79"/>
                </a:solidFill>
              </a:defRPr>
            </a:lvl8pPr>
            <a:lvl9pPr>
              <a:defRPr sz="2325" b="1">
                <a:solidFill>
                  <a:srgbClr val="087D79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D79"/>
                </a:solidFill>
              </a:defRPr>
            </a:pPr>
            <a:r>
              <a:rPr sz="2325" b="1">
                <a:solidFill>
                  <a:srgbClr val="087D79"/>
                </a:solidFill>
              </a:rPr>
              <a:t>GDP na literatura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EA55B4-418F-4FCA-AE29-08238568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4857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33D"/>
                </a:solidFill>
              </a:defRPr>
            </a:defPPr>
            <a:lvl1pPr>
              <a:defRPr sz="2175" b="0">
                <a:solidFill>
                  <a:srgbClr val="18333D"/>
                </a:solidFill>
              </a:defRPr>
            </a:lvl1pPr>
            <a:lvl2pPr>
              <a:defRPr sz="2175" b="0">
                <a:solidFill>
                  <a:srgbClr val="18333D"/>
                </a:solidFill>
              </a:defRPr>
            </a:lvl2pPr>
            <a:lvl3pPr>
              <a:defRPr sz="2175" b="0">
                <a:solidFill>
                  <a:srgbClr val="18333D"/>
                </a:solidFill>
              </a:defRPr>
            </a:lvl3pPr>
            <a:lvl4pPr>
              <a:defRPr sz="2175" b="0">
                <a:solidFill>
                  <a:srgbClr val="18333D"/>
                </a:solidFill>
              </a:defRPr>
            </a:lvl4pPr>
            <a:lvl5pPr>
              <a:defRPr sz="2175" b="0">
                <a:solidFill>
                  <a:srgbClr val="18333D"/>
                </a:solidFill>
              </a:defRPr>
            </a:lvl5pPr>
            <a:lvl6pPr>
              <a:defRPr sz="2175" b="0">
                <a:solidFill>
                  <a:srgbClr val="18333D"/>
                </a:solidFill>
              </a:defRPr>
            </a:lvl6pPr>
            <a:lvl7pPr>
              <a:defRPr sz="2175" b="0">
                <a:solidFill>
                  <a:srgbClr val="18333D"/>
                </a:solidFill>
              </a:defRPr>
            </a:lvl7pPr>
            <a:lvl8pPr>
              <a:defRPr sz="2175" b="0">
                <a:solidFill>
                  <a:srgbClr val="18333D"/>
                </a:solidFill>
              </a:defRPr>
            </a:lvl8pPr>
            <a:lvl9pPr>
              <a:defRPr sz="2175" b="0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33D"/>
                </a:solidFill>
              </a:defRPr>
            </a:pPr>
            <a:r>
              <a:rPr sz="2175" b="0">
                <a:solidFill>
                  <a:srgbClr val="18333D"/>
                </a:solidFill>
              </a:rPr>
              <a:t>Ranucci et al. estudaram estratégia com iDO₂ ≥280 mL/min/m² e observaram redução de AKI estágio 1.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B90667-C44D-4D9F-93B3-75C6FF8D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0025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87D79"/>
                </a:solidFill>
              </a:defRPr>
            </a:defPPr>
            <a:lvl1pPr>
              <a:defRPr sz="2325" b="1">
                <a:solidFill>
                  <a:srgbClr val="087D79"/>
                </a:solidFill>
              </a:defRPr>
            </a:lvl1pPr>
            <a:lvl2pPr>
              <a:defRPr sz="2325" b="1">
                <a:solidFill>
                  <a:srgbClr val="087D79"/>
                </a:solidFill>
              </a:defRPr>
            </a:lvl2pPr>
            <a:lvl3pPr>
              <a:defRPr sz="2325" b="1">
                <a:solidFill>
                  <a:srgbClr val="087D79"/>
                </a:solidFill>
              </a:defRPr>
            </a:lvl3pPr>
            <a:lvl4pPr>
              <a:defRPr sz="2325" b="1">
                <a:solidFill>
                  <a:srgbClr val="087D79"/>
                </a:solidFill>
              </a:defRPr>
            </a:lvl4pPr>
            <a:lvl5pPr>
              <a:defRPr sz="2325" b="1">
                <a:solidFill>
                  <a:srgbClr val="087D79"/>
                </a:solidFill>
              </a:defRPr>
            </a:lvl5pPr>
            <a:lvl6pPr>
              <a:defRPr sz="2325" b="1">
                <a:solidFill>
                  <a:srgbClr val="087D79"/>
                </a:solidFill>
              </a:defRPr>
            </a:lvl6pPr>
            <a:lvl7pPr>
              <a:defRPr sz="2325" b="1">
                <a:solidFill>
                  <a:srgbClr val="087D79"/>
                </a:solidFill>
              </a:defRPr>
            </a:lvl7pPr>
            <a:lvl8pPr>
              <a:defRPr sz="2325" b="1">
                <a:solidFill>
                  <a:srgbClr val="087D79"/>
                </a:solidFill>
              </a:defRPr>
            </a:lvl8pPr>
            <a:lvl9pPr>
              <a:defRPr sz="2325" b="1">
                <a:solidFill>
                  <a:srgbClr val="087D79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D79"/>
                </a:solidFill>
              </a:defRPr>
            </a:pPr>
            <a:r>
              <a:rPr sz="2325" b="1">
                <a:solidFill>
                  <a:srgbClr val="087D79"/>
                </a:solidFill>
              </a:rPr>
              <a:t>Aplicação no desenvolvimento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C49F7D-E81A-4510-ABC6-C8880BF4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62250"/>
            <a:ext cx="4857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33D"/>
                </a:solidFill>
              </a:defRPr>
            </a:defPPr>
            <a:lvl1pPr>
              <a:defRPr sz="2175" b="0">
                <a:solidFill>
                  <a:srgbClr val="18333D"/>
                </a:solidFill>
              </a:defRPr>
            </a:lvl1pPr>
            <a:lvl2pPr>
              <a:defRPr sz="2175" b="0">
                <a:solidFill>
                  <a:srgbClr val="18333D"/>
                </a:solidFill>
              </a:defRPr>
            </a:lvl2pPr>
            <a:lvl3pPr>
              <a:defRPr sz="2175" b="0">
                <a:solidFill>
                  <a:srgbClr val="18333D"/>
                </a:solidFill>
              </a:defRPr>
            </a:lvl3pPr>
            <a:lvl4pPr>
              <a:defRPr sz="2175" b="0">
                <a:solidFill>
                  <a:srgbClr val="18333D"/>
                </a:solidFill>
              </a:defRPr>
            </a:lvl4pPr>
            <a:lvl5pPr>
              <a:defRPr sz="2175" b="0">
                <a:solidFill>
                  <a:srgbClr val="18333D"/>
                </a:solidFill>
              </a:defRPr>
            </a:lvl5pPr>
            <a:lvl6pPr>
              <a:defRPr sz="2175" b="0">
                <a:solidFill>
                  <a:srgbClr val="18333D"/>
                </a:solidFill>
              </a:defRPr>
            </a:lvl6pPr>
            <a:lvl7pPr>
              <a:defRPr sz="2175" b="0">
                <a:solidFill>
                  <a:srgbClr val="18333D"/>
                </a:solidFill>
              </a:defRPr>
            </a:lvl7pPr>
            <a:lvl8pPr>
              <a:defRPr sz="2175" b="0">
                <a:solidFill>
                  <a:srgbClr val="18333D"/>
                </a:solidFill>
              </a:defRPr>
            </a:lvl8pPr>
            <a:lvl9pPr>
              <a:defRPr sz="2175" b="0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33D"/>
                </a:solidFill>
              </a:defRPr>
            </a:pPr>
            <a:r>
              <a:rPr sz="2175" b="0">
                <a:solidFill>
                  <a:srgbClr val="18333D"/>
                </a:solidFill>
              </a:rPr>
              <a:t>A diretriz de 2024 discute limiar de 280–300 em CEC normotérmica. A validação do aplicativo é uma etapa distinta.</a:t>
            </a:r>
          </a:p>
        </p:txBody>
      </p:sp>
    </p:spTree>
    <p:extLst>
      <p:ext uri="{BB962C8B-B14F-4D97-AF65-F5344CB8AC3E}">
        <p14:creationId xmlns:p14="http://schemas.microsoft.com/office/powerpoint/2010/main" val="63092797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02B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30C213-8121-41EC-BDE7-EB737591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10744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</a:defRPr>
            </a:defPPr>
            <a:lvl1pPr>
              <a:defRPr sz="3450" b="1">
                <a:solidFill>
                  <a:srgbClr val="FFFFFF"/>
                </a:solidFill>
              </a:defRPr>
            </a:lvl1pPr>
            <a:lvl2pPr>
              <a:defRPr sz="3450" b="1">
                <a:solidFill>
                  <a:srgbClr val="FFFFFF"/>
                </a:solidFill>
              </a:defRPr>
            </a:lvl2pPr>
            <a:lvl3pPr>
              <a:defRPr sz="3450" b="1">
                <a:solidFill>
                  <a:srgbClr val="FFFFFF"/>
                </a:solidFill>
              </a:defRPr>
            </a:lvl3pPr>
            <a:lvl4pPr>
              <a:defRPr sz="3450" b="1">
                <a:solidFill>
                  <a:srgbClr val="FFFFFF"/>
                </a:solidFill>
              </a:defRPr>
            </a:lvl4pPr>
            <a:lvl5pPr>
              <a:defRPr sz="3450" b="1">
                <a:solidFill>
                  <a:srgbClr val="FFFFFF"/>
                </a:solidFill>
              </a:defRPr>
            </a:lvl5pPr>
            <a:lvl6pPr>
              <a:defRPr sz="3450" b="1">
                <a:solidFill>
                  <a:srgbClr val="FFFFFF"/>
                </a:solidFill>
              </a:defRPr>
            </a:lvl6pPr>
            <a:lvl7pPr>
              <a:defRPr sz="3450" b="1">
                <a:solidFill>
                  <a:srgbClr val="FFFFFF"/>
                </a:solidFill>
              </a:defRPr>
            </a:lvl7pPr>
            <a:lvl8pPr>
              <a:defRPr sz="3450" b="1">
                <a:solidFill>
                  <a:srgbClr val="FFFFFF"/>
                </a:solidFill>
              </a:defRPr>
            </a:lvl8pPr>
            <a:lvl9pPr>
              <a:defRPr sz="34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Caso clínico simulado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69AE1-6BF4-4ECD-9633-FF71F799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BCD0D5"/>
                </a:solidFill>
              </a:defRPr>
            </a:defPPr>
            <a:lvl1pPr>
              <a:defRPr sz="1275" b="0">
                <a:solidFill>
                  <a:srgbClr val="BCD0D5"/>
                </a:solidFill>
              </a:defRPr>
            </a:lvl1pPr>
            <a:lvl2pPr>
              <a:defRPr sz="1275" b="0">
                <a:solidFill>
                  <a:srgbClr val="BCD0D5"/>
                </a:solidFill>
              </a:defRPr>
            </a:lvl2pPr>
            <a:lvl3pPr>
              <a:defRPr sz="1275" b="0">
                <a:solidFill>
                  <a:srgbClr val="BCD0D5"/>
                </a:solidFill>
              </a:defRPr>
            </a:lvl3pPr>
            <a:lvl4pPr>
              <a:defRPr sz="1275" b="0">
                <a:solidFill>
                  <a:srgbClr val="BCD0D5"/>
                </a:solidFill>
              </a:defRPr>
            </a:lvl4pPr>
            <a:lvl5pPr>
              <a:defRPr sz="1275" b="0">
                <a:solidFill>
                  <a:srgbClr val="BCD0D5"/>
                </a:solidFill>
              </a:defRPr>
            </a:lvl5pPr>
            <a:lvl6pPr>
              <a:defRPr sz="1275" b="0">
                <a:solidFill>
                  <a:srgbClr val="BCD0D5"/>
                </a:solidFill>
              </a:defRPr>
            </a:lvl6pPr>
            <a:lvl7pPr>
              <a:defRPr sz="1275" b="0">
                <a:solidFill>
                  <a:srgbClr val="BCD0D5"/>
                </a:solidFill>
              </a:defRPr>
            </a:lvl7pPr>
            <a:lvl8pPr>
              <a:defRPr sz="1275" b="0">
                <a:solidFill>
                  <a:srgbClr val="BCD0D5"/>
                </a:solidFill>
              </a:defRPr>
            </a:lvl8pPr>
            <a:lvl9pPr>
              <a:defRPr sz="1275" b="0">
                <a:solidFill>
                  <a:srgbClr val="BCD0D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CD0D5"/>
                </a:solidFill>
              </a:defRPr>
            </a:pPr>
            <a:r>
              <a:rPr sz="1275" b="0">
                <a:solidFill>
                  <a:srgbClr val="BCD0D5"/>
                </a:solidFill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4D225D-8443-42DB-943F-80BEDA9B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42862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B6EDE0"/>
                </a:solidFill>
              </a:defRPr>
            </a:defPPr>
            <a:lvl1pPr>
              <a:defRPr sz="4800" b="1">
                <a:solidFill>
                  <a:srgbClr val="B6EDE0"/>
                </a:solidFill>
              </a:defRPr>
            </a:lvl1pPr>
            <a:lvl2pPr>
              <a:defRPr sz="4800" b="1">
                <a:solidFill>
                  <a:srgbClr val="B6EDE0"/>
                </a:solidFill>
              </a:defRPr>
            </a:lvl2pPr>
            <a:lvl3pPr>
              <a:defRPr sz="4800" b="1">
                <a:solidFill>
                  <a:srgbClr val="B6EDE0"/>
                </a:solidFill>
              </a:defRPr>
            </a:lvl3pPr>
            <a:lvl4pPr>
              <a:defRPr sz="4800" b="1">
                <a:solidFill>
                  <a:srgbClr val="B6EDE0"/>
                </a:solidFill>
              </a:defRPr>
            </a:lvl4pPr>
            <a:lvl5pPr>
              <a:defRPr sz="4800" b="1">
                <a:solidFill>
                  <a:srgbClr val="B6EDE0"/>
                </a:solidFill>
              </a:defRPr>
            </a:lvl5pPr>
            <a:lvl6pPr>
              <a:defRPr sz="4800" b="1">
                <a:solidFill>
                  <a:srgbClr val="B6EDE0"/>
                </a:solidFill>
              </a:defRPr>
            </a:lvl6pPr>
            <a:lvl7pPr>
              <a:defRPr sz="4800" b="1">
                <a:solidFill>
                  <a:srgbClr val="B6EDE0"/>
                </a:solidFill>
              </a:defRPr>
            </a:lvl7pPr>
            <a:lvl8pPr>
              <a:defRPr sz="4800" b="1">
                <a:solidFill>
                  <a:srgbClr val="B6EDE0"/>
                </a:solidFill>
              </a:defRPr>
            </a:lvl8pPr>
            <a:lvl9pPr>
              <a:defRPr sz="4800" b="1">
                <a:solidFill>
                  <a:srgbClr val="B6EDE0"/>
                </a:solidFill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B6EDE0"/>
                </a:solidFill>
              </a:defRPr>
            </a:pPr>
            <a:r>
              <a:rPr sz="4800" b="1">
                <a:solidFill>
                  <a:srgbClr val="B6EDE0"/>
                </a:solidFill>
              </a:rPr>
              <a:t>75 kg</a:t>
            </a:r>
          </a:p>
          <a:p xmlns:a="http://schemas.openxmlformats.org/drawingml/2006/main">
            <a:pPr>
              <a:defRPr sz="4800" b="1">
                <a:solidFill>
                  <a:srgbClr val="B6EDE0"/>
                </a:solidFill>
              </a:defRPr>
            </a:pPr>
            <a:r>
              <a:rPr sz="4800" b="1">
                <a:solidFill>
                  <a:srgbClr val="B6EDE0"/>
                </a:solidFill>
              </a:rPr>
              <a:t>170 cm</a:t>
            </a:r>
          </a:p>
          <a:p xmlns:a="http://schemas.openxmlformats.org/drawingml/2006/main">
            <a:pPr>
              <a:defRPr sz="4800" b="1">
                <a:solidFill>
                  <a:srgbClr val="B6EDE0"/>
                </a:solidFill>
              </a:defRPr>
            </a:pPr>
            <a:r>
              <a:rPr sz="4800" b="1">
                <a:solidFill>
                  <a:srgbClr val="B6EDE0"/>
                </a:solidFill>
              </a:rPr>
              <a:t>62 anos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8852DE-680B-44CE-BBDA-BC0CC2C0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90750"/>
            <a:ext cx="5143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FFFFF"/>
                </a:solidFill>
              </a:defRPr>
            </a:defPPr>
            <a:lvl1pPr>
              <a:defRPr sz="2400" b="0">
                <a:solidFill>
                  <a:srgbClr val="FFFFFF"/>
                </a:solidFill>
              </a:defRPr>
            </a:lvl1pPr>
            <a:lvl2pPr>
              <a:defRPr sz="2400" b="0">
                <a:solidFill>
                  <a:srgbClr val="FFFFFF"/>
                </a:solidFill>
              </a:defRPr>
            </a:lvl2pPr>
            <a:lvl3pPr>
              <a:defRPr sz="2400" b="0">
                <a:solidFill>
                  <a:srgbClr val="FFFFFF"/>
                </a:solidFill>
              </a:defRPr>
            </a:lvl3pPr>
            <a:lvl4pPr>
              <a:defRPr sz="2400" b="0">
                <a:solidFill>
                  <a:srgbClr val="FFFFFF"/>
                </a:solidFill>
              </a:defRPr>
            </a:lvl4pPr>
            <a:lvl5pPr>
              <a:defRPr sz="2400" b="0">
                <a:solidFill>
                  <a:srgbClr val="FFFFFF"/>
                </a:solidFill>
              </a:defRPr>
            </a:lvl5pPr>
            <a:lvl6pPr>
              <a:defRPr sz="2400" b="0">
                <a:solidFill>
                  <a:srgbClr val="FFFFFF"/>
                </a:solidFill>
              </a:defRPr>
            </a:lvl6pPr>
            <a:lvl7pPr>
              <a:defRPr sz="2400" b="0">
                <a:solidFill>
                  <a:srgbClr val="FFFFFF"/>
                </a:solidFill>
              </a:defRPr>
            </a:lvl7pPr>
            <a:lvl8pPr>
              <a:defRPr sz="2400" b="0">
                <a:solidFill>
                  <a:srgbClr val="FFFFFF"/>
                </a:solidFill>
              </a:defRPr>
            </a:lvl8pPr>
            <a:lvl9pPr>
              <a:defRPr sz="24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FFFFFF"/>
                </a:solidFill>
              </a:defRPr>
            </a:pPr>
            <a:r>
              <a:rPr sz="2400" b="0">
                <a:solidFill>
                  <a:srgbClr val="FFFFFF"/>
                </a:solidFill>
              </a:rPr>
              <a:t>Revascularização do miocárdio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</a:defRPr>
            </a:pPr>
            <a:r>
              <a:rPr sz="2400" b="0">
                <a:solidFill>
                  <a:srgbClr val="FFFFFF"/>
                </a:solidFill>
              </a:rPr>
              <a:t>Paciente adulto fictício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</a:defRPr>
            </a:pPr>
            <a:r>
              <a:rPr sz="2400" b="0">
                <a:solidFill>
                  <a:srgbClr val="FFFFFF"/>
                </a:solidFill>
              </a:rPr>
              <a:t>Objetivo: observar a relação entre Hb, fluxo e oferta de O₂.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CB1E19-B005-427F-8A4B-B5C3F3AF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48375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CD0D5"/>
                </a:solidFill>
              </a:defRPr>
            </a:defPPr>
            <a:lvl1pPr>
              <a:defRPr sz="1350" b="0">
                <a:solidFill>
                  <a:srgbClr val="BCD0D5"/>
                </a:solidFill>
              </a:defRPr>
            </a:lvl1pPr>
            <a:lvl2pPr>
              <a:defRPr sz="1350" b="0">
                <a:solidFill>
                  <a:srgbClr val="BCD0D5"/>
                </a:solidFill>
              </a:defRPr>
            </a:lvl2pPr>
            <a:lvl3pPr>
              <a:defRPr sz="1350" b="0">
                <a:solidFill>
                  <a:srgbClr val="BCD0D5"/>
                </a:solidFill>
              </a:defRPr>
            </a:lvl3pPr>
            <a:lvl4pPr>
              <a:defRPr sz="1350" b="0">
                <a:solidFill>
                  <a:srgbClr val="BCD0D5"/>
                </a:solidFill>
              </a:defRPr>
            </a:lvl4pPr>
            <a:lvl5pPr>
              <a:defRPr sz="1350" b="0">
                <a:solidFill>
                  <a:srgbClr val="BCD0D5"/>
                </a:solidFill>
              </a:defRPr>
            </a:lvl5pPr>
            <a:lvl6pPr>
              <a:defRPr sz="1350" b="0">
                <a:solidFill>
                  <a:srgbClr val="BCD0D5"/>
                </a:solidFill>
              </a:defRPr>
            </a:lvl6pPr>
            <a:lvl7pPr>
              <a:defRPr sz="1350" b="0">
                <a:solidFill>
                  <a:srgbClr val="BCD0D5"/>
                </a:solidFill>
              </a:defRPr>
            </a:lvl7pPr>
            <a:lvl8pPr>
              <a:defRPr sz="1350" b="0">
                <a:solidFill>
                  <a:srgbClr val="BCD0D5"/>
                </a:solidFill>
              </a:defRPr>
            </a:lvl8pPr>
            <a:lvl9pPr>
              <a:defRPr sz="1350" b="0">
                <a:solidFill>
                  <a:srgbClr val="BCD0D5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CD0D5"/>
                </a:solidFill>
              </a:defRPr>
            </a:pPr>
            <a:r>
              <a:rPr sz="1350" b="0">
                <a:solidFill>
                  <a:srgbClr val="BCD0D5"/>
                </a:solidFill>
              </a:rPr>
              <a:t>CENÁRIO FICTÍCIO PARA DEMONSTRAÇÃO</a:t>
            </a:r>
          </a:p>
        </p:txBody>
      </p:sp>
    </p:spTree>
    <p:extLst>
      <p:ext uri="{BB962C8B-B14F-4D97-AF65-F5344CB8AC3E}">
        <p14:creationId xmlns:p14="http://schemas.microsoft.com/office/powerpoint/2010/main" val="105444368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1C2697-FFEF-4887-B92B-036365A5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10744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33D"/>
                </a:solidFill>
              </a:defRPr>
            </a:defPPr>
            <a:lvl1pPr>
              <a:defRPr sz="3450" b="1">
                <a:solidFill>
                  <a:srgbClr val="18333D"/>
                </a:solidFill>
              </a:defRPr>
            </a:lvl1pPr>
            <a:lvl2pPr>
              <a:defRPr sz="3450" b="1">
                <a:solidFill>
                  <a:srgbClr val="18333D"/>
                </a:solidFill>
              </a:defRPr>
            </a:lvl2pPr>
            <a:lvl3pPr>
              <a:defRPr sz="3450" b="1">
                <a:solidFill>
                  <a:srgbClr val="18333D"/>
                </a:solidFill>
              </a:defRPr>
            </a:lvl3pPr>
            <a:lvl4pPr>
              <a:defRPr sz="3450" b="1">
                <a:solidFill>
                  <a:srgbClr val="18333D"/>
                </a:solidFill>
              </a:defRPr>
            </a:lvl4pPr>
            <a:lvl5pPr>
              <a:defRPr sz="3450" b="1">
                <a:solidFill>
                  <a:srgbClr val="18333D"/>
                </a:solidFill>
              </a:defRPr>
            </a:lvl5pPr>
            <a:lvl6pPr>
              <a:defRPr sz="3450" b="1">
                <a:solidFill>
                  <a:srgbClr val="18333D"/>
                </a:solidFill>
              </a:defRPr>
            </a:lvl6pPr>
            <a:lvl7pPr>
              <a:defRPr sz="3450" b="1">
                <a:solidFill>
                  <a:srgbClr val="18333D"/>
                </a:solidFill>
              </a:defRPr>
            </a:lvl7pPr>
            <a:lvl8pPr>
              <a:defRPr sz="3450" b="1">
                <a:solidFill>
                  <a:srgbClr val="18333D"/>
                </a:solidFill>
              </a:defRPr>
            </a:lvl8pPr>
            <a:lvl9pPr>
              <a:defRPr sz="3450" b="1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33D"/>
                </a:solidFill>
              </a:defRPr>
            </a:pPr>
            <a:r>
              <a:rPr sz="3450" b="1">
                <a:solidFill>
                  <a:srgbClr val="18333D"/>
                </a:solidFill>
              </a:rPr>
              <a:t>Planejamento do caso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C9A483-4B24-4904-A54E-934F8F54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E75"/>
                </a:solidFill>
              </a:defRPr>
            </a:defPPr>
            <a:lvl1pPr>
              <a:defRPr sz="1275" b="0">
                <a:solidFill>
                  <a:srgbClr val="536E75"/>
                </a:solidFill>
              </a:defRPr>
            </a:lvl1pPr>
            <a:lvl2pPr>
              <a:defRPr sz="1275" b="0">
                <a:solidFill>
                  <a:srgbClr val="536E75"/>
                </a:solidFill>
              </a:defRPr>
            </a:lvl2pPr>
            <a:lvl3pPr>
              <a:defRPr sz="1275" b="0">
                <a:solidFill>
                  <a:srgbClr val="536E75"/>
                </a:solidFill>
              </a:defRPr>
            </a:lvl3pPr>
            <a:lvl4pPr>
              <a:defRPr sz="1275" b="0">
                <a:solidFill>
                  <a:srgbClr val="536E75"/>
                </a:solidFill>
              </a:defRPr>
            </a:lvl4pPr>
            <a:lvl5pPr>
              <a:defRPr sz="1275" b="0">
                <a:solidFill>
                  <a:srgbClr val="536E75"/>
                </a:solidFill>
              </a:defRPr>
            </a:lvl5pPr>
            <a:lvl6pPr>
              <a:defRPr sz="1275" b="0">
                <a:solidFill>
                  <a:srgbClr val="536E75"/>
                </a:solidFill>
              </a:defRPr>
            </a:lvl6pPr>
            <a:lvl7pPr>
              <a:defRPr sz="1275" b="0">
                <a:solidFill>
                  <a:srgbClr val="536E75"/>
                </a:solidFill>
              </a:defRPr>
            </a:lvl7pPr>
            <a:lvl8pPr>
              <a:defRPr sz="1275" b="0">
                <a:solidFill>
                  <a:srgbClr val="536E75"/>
                </a:solidFill>
              </a:defRPr>
            </a:lvl8pPr>
            <a:lvl9pPr>
              <a:defRPr sz="1275" b="0">
                <a:solidFill>
                  <a:srgbClr val="536E7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E75"/>
                </a:solidFill>
              </a:defRPr>
            </a:pPr>
            <a:r>
              <a:rPr sz="1275" b="0">
                <a:solidFill>
                  <a:srgbClr val="536E75"/>
                </a:solidFill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E7A117-F9EF-42AC-93D4-372290C6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0744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087D79"/>
                </a:solidFill>
              </a:defRPr>
            </a:defPPr>
            <a:lvl1pPr>
              <a:defRPr sz="3225" b="1">
                <a:solidFill>
                  <a:srgbClr val="087D79"/>
                </a:solidFill>
              </a:defRPr>
            </a:lvl1pPr>
            <a:lvl2pPr>
              <a:defRPr sz="3225" b="1">
                <a:solidFill>
                  <a:srgbClr val="087D79"/>
                </a:solidFill>
              </a:defRPr>
            </a:lvl2pPr>
            <a:lvl3pPr>
              <a:defRPr sz="3225" b="1">
                <a:solidFill>
                  <a:srgbClr val="087D79"/>
                </a:solidFill>
              </a:defRPr>
            </a:lvl3pPr>
            <a:lvl4pPr>
              <a:defRPr sz="3225" b="1">
                <a:solidFill>
                  <a:srgbClr val="087D79"/>
                </a:solidFill>
              </a:defRPr>
            </a:lvl4pPr>
            <a:lvl5pPr>
              <a:defRPr sz="3225" b="1">
                <a:solidFill>
                  <a:srgbClr val="087D79"/>
                </a:solidFill>
              </a:defRPr>
            </a:lvl5pPr>
            <a:lvl6pPr>
              <a:defRPr sz="3225" b="1">
                <a:solidFill>
                  <a:srgbClr val="087D79"/>
                </a:solidFill>
              </a:defRPr>
            </a:lvl6pPr>
            <a:lvl7pPr>
              <a:defRPr sz="3225" b="1">
                <a:solidFill>
                  <a:srgbClr val="087D79"/>
                </a:solidFill>
              </a:defRPr>
            </a:lvl7pPr>
            <a:lvl8pPr>
              <a:defRPr sz="3225" b="1">
                <a:solidFill>
                  <a:srgbClr val="087D79"/>
                </a:solidFill>
              </a:defRPr>
            </a:lvl8pPr>
            <a:lvl9pPr>
              <a:defRPr sz="3225" b="1">
                <a:solidFill>
                  <a:srgbClr val="087D79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087D79"/>
                </a:solidFill>
              </a:defRPr>
            </a:pPr>
            <a:r>
              <a:rPr sz="3225" b="1">
                <a:solidFill>
                  <a:srgbClr val="087D79"/>
                </a:solidFill>
              </a:rPr>
              <a:t>SC = 1,882 m²</a:t>
            </a:r>
          </a:p>
          <a:p xmlns:a="http://schemas.openxmlformats.org/drawingml/2006/main">
            <a:pPr>
              <a:defRPr sz="3225" b="1">
                <a:solidFill>
                  <a:srgbClr val="087D79"/>
                </a:solidFill>
              </a:defRPr>
            </a:pPr>
            <a:r>
              <a:rPr sz="3225" b="1">
                <a:solidFill>
                  <a:srgbClr val="087D79"/>
                </a:solidFill>
              </a:rPr>
              <a:t>Q referência = 1,882 × 2,4 = 4,52 L/min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C4019-A7A5-4CC0-B180-584A2964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33D"/>
                </a:solidFill>
              </a:defRPr>
            </a:defPPr>
            <a:lvl1pPr>
              <a:defRPr sz="2175" b="0">
                <a:solidFill>
                  <a:srgbClr val="18333D"/>
                </a:solidFill>
              </a:defRPr>
            </a:lvl1pPr>
            <a:lvl2pPr>
              <a:defRPr sz="2175" b="0">
                <a:solidFill>
                  <a:srgbClr val="18333D"/>
                </a:solidFill>
              </a:defRPr>
            </a:lvl2pPr>
            <a:lvl3pPr>
              <a:defRPr sz="2175" b="0">
                <a:solidFill>
                  <a:srgbClr val="18333D"/>
                </a:solidFill>
              </a:defRPr>
            </a:lvl3pPr>
            <a:lvl4pPr>
              <a:defRPr sz="2175" b="0">
                <a:solidFill>
                  <a:srgbClr val="18333D"/>
                </a:solidFill>
              </a:defRPr>
            </a:lvl4pPr>
            <a:lvl5pPr>
              <a:defRPr sz="2175" b="0">
                <a:solidFill>
                  <a:srgbClr val="18333D"/>
                </a:solidFill>
              </a:defRPr>
            </a:lvl5pPr>
            <a:lvl6pPr>
              <a:defRPr sz="2175" b="0">
                <a:solidFill>
                  <a:srgbClr val="18333D"/>
                </a:solidFill>
              </a:defRPr>
            </a:lvl6pPr>
            <a:lvl7pPr>
              <a:defRPr sz="2175" b="0">
                <a:solidFill>
                  <a:srgbClr val="18333D"/>
                </a:solidFill>
              </a:defRPr>
            </a:lvl7pPr>
            <a:lvl8pPr>
              <a:defRPr sz="2175" b="0">
                <a:solidFill>
                  <a:srgbClr val="18333D"/>
                </a:solidFill>
              </a:defRPr>
            </a:lvl8pPr>
            <a:lvl9pPr>
              <a:defRPr sz="2175" b="0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33D"/>
                </a:solidFill>
              </a:defRPr>
            </a:pPr>
            <a:r>
              <a:rPr sz="2175" b="0">
                <a:solidFill>
                  <a:srgbClr val="18333D"/>
                </a:solidFill>
              </a:rPr>
              <a:t>Fluxo escolhido no cenário: 4,60 L/min.</a:t>
            </a:r>
          </a:p>
          <a:p xmlns:a="http://schemas.openxmlformats.org/drawingml/2006/main">
            <a:pPr>
              <a:defRPr sz="2175" b="0">
                <a:solidFill>
                  <a:srgbClr val="18333D"/>
                </a:solidFill>
              </a:defRPr>
            </a:pPr>
            <a:r>
              <a:rPr sz="2175" b="0">
                <a:solidFill>
                  <a:srgbClr val="18333D"/>
                </a:solidFill>
              </a:rPr>
              <a:t>Temperatura definida pela equipe no exemplo: 36 °C.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346A39-606B-4EF6-953F-C3EB9F02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36E75"/>
                </a:solidFill>
              </a:defRPr>
            </a:defPPr>
            <a:lvl1pPr>
              <a:defRPr sz="1950" b="0">
                <a:solidFill>
                  <a:srgbClr val="536E75"/>
                </a:solidFill>
              </a:defRPr>
            </a:lvl1pPr>
            <a:lvl2pPr>
              <a:defRPr sz="1950" b="0">
                <a:solidFill>
                  <a:srgbClr val="536E75"/>
                </a:solidFill>
              </a:defRPr>
            </a:lvl2pPr>
            <a:lvl3pPr>
              <a:defRPr sz="1950" b="0">
                <a:solidFill>
                  <a:srgbClr val="536E75"/>
                </a:solidFill>
              </a:defRPr>
            </a:lvl3pPr>
            <a:lvl4pPr>
              <a:defRPr sz="1950" b="0">
                <a:solidFill>
                  <a:srgbClr val="536E75"/>
                </a:solidFill>
              </a:defRPr>
            </a:lvl4pPr>
            <a:lvl5pPr>
              <a:defRPr sz="1950" b="0">
                <a:solidFill>
                  <a:srgbClr val="536E75"/>
                </a:solidFill>
              </a:defRPr>
            </a:lvl5pPr>
            <a:lvl6pPr>
              <a:defRPr sz="1950" b="0">
                <a:solidFill>
                  <a:srgbClr val="536E75"/>
                </a:solidFill>
              </a:defRPr>
            </a:lvl6pPr>
            <a:lvl7pPr>
              <a:defRPr sz="1950" b="0">
                <a:solidFill>
                  <a:srgbClr val="536E75"/>
                </a:solidFill>
              </a:defRPr>
            </a:lvl7pPr>
            <a:lvl8pPr>
              <a:defRPr sz="1950" b="0">
                <a:solidFill>
                  <a:srgbClr val="536E75"/>
                </a:solidFill>
              </a:defRPr>
            </a:lvl8pPr>
            <a:lvl9pPr>
              <a:defRPr sz="1950" b="0">
                <a:solidFill>
                  <a:srgbClr val="536E7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E75"/>
                </a:solidFill>
              </a:defRPr>
            </a:pPr>
            <a:r>
              <a:rPr sz="1950" b="0">
                <a:solidFill>
                  <a:srgbClr val="536E75"/>
                </a:solidFill>
              </a:rPr>
              <a:t>A primeira coleta confirma ou modifica as hipóteses.</a:t>
            </a:r>
          </a:p>
        </p:txBody>
      </p:sp>
    </p:spTree>
    <p:extLst>
      <p:ext uri="{BB962C8B-B14F-4D97-AF65-F5344CB8AC3E}">
        <p14:creationId xmlns:p14="http://schemas.microsoft.com/office/powerpoint/2010/main" val="18824630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72D159-2557-4532-97B3-A0DE4FF4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10744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33D"/>
                </a:solidFill>
              </a:defRPr>
            </a:defPPr>
            <a:lvl1pPr>
              <a:defRPr sz="3450" b="1">
                <a:solidFill>
                  <a:srgbClr val="18333D"/>
                </a:solidFill>
              </a:defRPr>
            </a:lvl1pPr>
            <a:lvl2pPr>
              <a:defRPr sz="3450" b="1">
                <a:solidFill>
                  <a:srgbClr val="18333D"/>
                </a:solidFill>
              </a:defRPr>
            </a:lvl2pPr>
            <a:lvl3pPr>
              <a:defRPr sz="3450" b="1">
                <a:solidFill>
                  <a:srgbClr val="18333D"/>
                </a:solidFill>
              </a:defRPr>
            </a:lvl3pPr>
            <a:lvl4pPr>
              <a:defRPr sz="3450" b="1">
                <a:solidFill>
                  <a:srgbClr val="18333D"/>
                </a:solidFill>
              </a:defRPr>
            </a:lvl4pPr>
            <a:lvl5pPr>
              <a:defRPr sz="3450" b="1">
                <a:solidFill>
                  <a:srgbClr val="18333D"/>
                </a:solidFill>
              </a:defRPr>
            </a:lvl5pPr>
            <a:lvl6pPr>
              <a:defRPr sz="3450" b="1">
                <a:solidFill>
                  <a:srgbClr val="18333D"/>
                </a:solidFill>
              </a:defRPr>
            </a:lvl6pPr>
            <a:lvl7pPr>
              <a:defRPr sz="3450" b="1">
                <a:solidFill>
                  <a:srgbClr val="18333D"/>
                </a:solidFill>
              </a:defRPr>
            </a:lvl7pPr>
            <a:lvl8pPr>
              <a:defRPr sz="3450" b="1">
                <a:solidFill>
                  <a:srgbClr val="18333D"/>
                </a:solidFill>
              </a:defRPr>
            </a:lvl8pPr>
            <a:lvl9pPr>
              <a:defRPr sz="3450" b="1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33D"/>
                </a:solidFill>
              </a:defRPr>
            </a:pPr>
            <a:r>
              <a:rPr sz="3450" b="1">
                <a:solidFill>
                  <a:srgbClr val="18333D"/>
                </a:solidFill>
              </a:rPr>
              <a:t>Evolução simulada dos registros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5A2B05-3F77-467E-A46F-F10AA6D0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E75"/>
                </a:solidFill>
              </a:defRPr>
            </a:defPPr>
            <a:lvl1pPr>
              <a:defRPr sz="1275" b="0">
                <a:solidFill>
                  <a:srgbClr val="536E75"/>
                </a:solidFill>
              </a:defRPr>
            </a:lvl1pPr>
            <a:lvl2pPr>
              <a:defRPr sz="1275" b="0">
                <a:solidFill>
                  <a:srgbClr val="536E75"/>
                </a:solidFill>
              </a:defRPr>
            </a:lvl2pPr>
            <a:lvl3pPr>
              <a:defRPr sz="1275" b="0">
                <a:solidFill>
                  <a:srgbClr val="536E75"/>
                </a:solidFill>
              </a:defRPr>
            </a:lvl3pPr>
            <a:lvl4pPr>
              <a:defRPr sz="1275" b="0">
                <a:solidFill>
                  <a:srgbClr val="536E75"/>
                </a:solidFill>
              </a:defRPr>
            </a:lvl4pPr>
            <a:lvl5pPr>
              <a:defRPr sz="1275" b="0">
                <a:solidFill>
                  <a:srgbClr val="536E75"/>
                </a:solidFill>
              </a:defRPr>
            </a:lvl5pPr>
            <a:lvl6pPr>
              <a:defRPr sz="1275" b="0">
                <a:solidFill>
                  <a:srgbClr val="536E75"/>
                </a:solidFill>
              </a:defRPr>
            </a:lvl6pPr>
            <a:lvl7pPr>
              <a:defRPr sz="1275" b="0">
                <a:solidFill>
                  <a:srgbClr val="536E75"/>
                </a:solidFill>
              </a:defRPr>
            </a:lvl7pPr>
            <a:lvl8pPr>
              <a:defRPr sz="1275" b="0">
                <a:solidFill>
                  <a:srgbClr val="536E75"/>
                </a:solidFill>
              </a:defRPr>
            </a:lvl8pPr>
            <a:lvl9pPr>
              <a:defRPr sz="1275" b="0">
                <a:solidFill>
                  <a:srgbClr val="536E7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E75"/>
                </a:solidFill>
              </a:defRPr>
            </a:pPr>
            <a:r>
              <a:rPr sz="1275" b="0">
                <a:solidFill>
                  <a:srgbClr val="536E75"/>
                </a:solidFill>
              </a:rPr>
              <a:t>24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B01329-C7BC-42E1-BE06-8665828F52FF}"/>
              </a:ext>
            </a:extLst>
          </p:cNvPr>
          <p:cNvGraphicFramePr/>
          <p:nvPr/>
        </p:nvGraphicFramePr>
        <p:xfrm>
          <a:off xmlns:a="http://schemas.openxmlformats.org/drawingml/2006/main" x="723900" y="2000250"/>
          <a:ext xmlns:a="http://schemas.openxmlformats.org/drawingml/2006/main" cx="107442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8840"/>
                <a:gridCol w="2148840"/>
                <a:gridCol w="2148840"/>
                <a:gridCol w="2148840"/>
                <a:gridCol w="2148840"/>
              </a:tblGrid>
              <a:tr h="6477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Tempo</a:t>
                      </a:r>
                    </a:p>
                  </a:txBody>
                  <a:tcPr marL="91440" marR="91440" marT="45720" marB="45720">
                    <a:solidFill>
                      <a:srgbClr val="102B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Q (L/min)</a:t>
                      </a:r>
                    </a:p>
                  </a:txBody>
                  <a:tcPr marL="91440" marR="91440" marT="45720" marB="45720">
                    <a:solidFill>
                      <a:srgbClr val="102B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Hb (g/dL)</a:t>
                      </a:r>
                    </a:p>
                  </a:txBody>
                  <a:tcPr marL="91440" marR="91440" marT="45720" marB="45720">
                    <a:solidFill>
                      <a:srgbClr val="102B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iDO₂¹</a:t>
                      </a:r>
                    </a:p>
                  </a:txBody>
                  <a:tcPr marL="91440" marR="91440" marT="45720" marB="45720">
                    <a:solidFill>
                      <a:srgbClr val="102B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Lactato²</a:t>
                      </a:r>
                    </a:p>
                  </a:txBody>
                  <a:tcPr marL="91440" marR="91440" marT="45720" marB="45720">
                    <a:solidFill>
                      <a:srgbClr val="102B37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33D"/>
                          </a:solidFill>
                          <a:latin typeface="Segoe UI"/>
                          <a:ea typeface="Segoe UI"/>
                          <a:cs typeface="Segoe UI"/>
                        </a:rPr>
                        <a:t>0 min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33D"/>
                          </a:solidFill>
                          <a:latin typeface="Segoe UI"/>
                          <a:ea typeface="Segoe UI"/>
                          <a:cs typeface="Segoe UI"/>
                        </a:rPr>
                        <a:t>4,60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33D"/>
                          </a:solidFill>
                          <a:latin typeface="Segoe UI"/>
                          <a:ea typeface="Segoe UI"/>
                          <a:cs typeface="Segoe UI"/>
                        </a:rPr>
                        <a:t>9,5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33D"/>
                          </a:solidFill>
                          <a:latin typeface="Segoe UI"/>
                          <a:ea typeface="Segoe UI"/>
                          <a:cs typeface="Segoe UI"/>
                        </a:rPr>
                        <a:t>320,49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33D"/>
                          </a:solidFill>
                          <a:latin typeface="Segoe UI"/>
                          <a:ea typeface="Segoe UI"/>
                          <a:cs typeface="Segoe UI"/>
                        </a:rPr>
                        <a:t>1,4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33D"/>
                          </a:solidFill>
                          <a:latin typeface="Segoe UI"/>
                          <a:ea typeface="Segoe UI"/>
                          <a:cs typeface="Segoe UI"/>
                        </a:rPr>
                        <a:t>20 min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33D"/>
                          </a:solidFill>
                          <a:latin typeface="Segoe UI"/>
                          <a:ea typeface="Segoe UI"/>
                          <a:cs typeface="Segoe UI"/>
                        </a:rPr>
                        <a:t>4,60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33D"/>
                          </a:solidFill>
                          <a:latin typeface="Segoe UI"/>
                          <a:ea typeface="Segoe UI"/>
                          <a:cs typeface="Segoe UI"/>
                        </a:rPr>
                        <a:t>7,5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33D"/>
                          </a:solidFill>
                          <a:latin typeface="Segoe UI"/>
                          <a:ea typeface="Segoe UI"/>
                          <a:cs typeface="Segoe UI"/>
                        </a:rPr>
                        <a:t>255,33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33D"/>
                          </a:solidFill>
                          <a:latin typeface="Segoe UI"/>
                          <a:ea typeface="Segoe UI"/>
                          <a:cs typeface="Segoe UI"/>
                        </a:rPr>
                        <a:t>2,0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33D"/>
                          </a:solidFill>
                          <a:latin typeface="Segoe UI"/>
                          <a:ea typeface="Segoe UI"/>
                          <a:cs typeface="Segoe UI"/>
                        </a:rPr>
                        <a:t>40 min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33D"/>
                          </a:solidFill>
                          <a:latin typeface="Segoe UI"/>
                          <a:ea typeface="Segoe UI"/>
                          <a:cs typeface="Segoe UI"/>
                        </a:rPr>
                        <a:t>5,20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33D"/>
                          </a:solidFill>
                          <a:latin typeface="Segoe UI"/>
                          <a:ea typeface="Segoe UI"/>
                          <a:cs typeface="Segoe UI"/>
                        </a:rPr>
                        <a:t>7,5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33D"/>
                          </a:solidFill>
                          <a:latin typeface="Segoe UI"/>
                          <a:ea typeface="Segoe UI"/>
                          <a:cs typeface="Segoe UI"/>
                        </a:rPr>
                        <a:t>288,64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33D"/>
                          </a:solidFill>
                          <a:latin typeface="Segoe UI"/>
                          <a:ea typeface="Segoe UI"/>
                          <a:cs typeface="Segoe UI"/>
                        </a:rPr>
                        <a:t>2,5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33D"/>
                          </a:solidFill>
                          <a:latin typeface="Segoe UI"/>
                          <a:ea typeface="Segoe UI"/>
                          <a:cs typeface="Segoe UI"/>
                        </a:rPr>
                        <a:t>60 min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33D"/>
                          </a:solidFill>
                          <a:latin typeface="Segoe UI"/>
                          <a:ea typeface="Segoe UI"/>
                          <a:cs typeface="Segoe UI"/>
                        </a:rPr>
                        <a:t>5,20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33D"/>
                          </a:solidFill>
                          <a:latin typeface="Segoe UI"/>
                          <a:ea typeface="Segoe UI"/>
                          <a:cs typeface="Segoe UI"/>
                        </a:rPr>
                        <a:t>8,0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33D"/>
                          </a:solidFill>
                          <a:latin typeface="Segoe UI"/>
                          <a:ea typeface="Segoe UI"/>
                          <a:cs typeface="Segoe UI"/>
                        </a:rPr>
                        <a:t>307,05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33D"/>
                          </a:solidFill>
                          <a:latin typeface="Segoe UI"/>
                          <a:ea typeface="Segoe UI"/>
                          <a:cs typeface="Segoe UI"/>
                        </a:rPr>
                        <a:t>2,1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C066E3-EED0-4697-8C2B-96AC9237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36E75"/>
                </a:solidFill>
              </a:defRPr>
            </a:defPPr>
            <a:lvl1pPr>
              <a:defRPr sz="1725" b="0">
                <a:solidFill>
                  <a:srgbClr val="536E75"/>
                </a:solidFill>
              </a:defRPr>
            </a:lvl1pPr>
            <a:lvl2pPr>
              <a:defRPr sz="1725" b="0">
                <a:solidFill>
                  <a:srgbClr val="536E75"/>
                </a:solidFill>
              </a:defRPr>
            </a:lvl2pPr>
            <a:lvl3pPr>
              <a:defRPr sz="1725" b="0">
                <a:solidFill>
                  <a:srgbClr val="536E75"/>
                </a:solidFill>
              </a:defRPr>
            </a:lvl3pPr>
            <a:lvl4pPr>
              <a:defRPr sz="1725" b="0">
                <a:solidFill>
                  <a:srgbClr val="536E75"/>
                </a:solidFill>
              </a:defRPr>
            </a:lvl4pPr>
            <a:lvl5pPr>
              <a:defRPr sz="1725" b="0">
                <a:solidFill>
                  <a:srgbClr val="536E75"/>
                </a:solidFill>
              </a:defRPr>
            </a:lvl5pPr>
            <a:lvl6pPr>
              <a:defRPr sz="1725" b="0">
                <a:solidFill>
                  <a:srgbClr val="536E75"/>
                </a:solidFill>
              </a:defRPr>
            </a:lvl6pPr>
            <a:lvl7pPr>
              <a:defRPr sz="1725" b="0">
                <a:solidFill>
                  <a:srgbClr val="536E75"/>
                </a:solidFill>
              </a:defRPr>
            </a:lvl7pPr>
            <a:lvl8pPr>
              <a:defRPr sz="1725" b="0">
                <a:solidFill>
                  <a:srgbClr val="536E75"/>
                </a:solidFill>
              </a:defRPr>
            </a:lvl8pPr>
            <a:lvl9pPr>
              <a:defRPr sz="1725" b="0">
                <a:solidFill>
                  <a:srgbClr val="536E75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E75"/>
                </a:solidFill>
              </a:defRPr>
            </a:pPr>
            <a:r>
              <a:rPr sz="1725" b="0">
                <a:solidFill>
                  <a:srgbClr val="536E75"/>
                </a:solidFill>
              </a:rPr>
              <a:t>¹ mL/min/m²    ² mmol/L</a:t>
            </a:r>
          </a:p>
          <a:p xmlns:a="http://schemas.openxmlformats.org/drawingml/2006/main">
            <a:pPr>
              <a:defRPr sz="1725" b="0">
                <a:solidFill>
                  <a:srgbClr val="536E75"/>
                </a:solidFill>
              </a:defRPr>
            </a:pPr>
            <a:r>
              <a:rPr sz="1725" b="0">
                <a:solidFill>
                  <a:srgbClr val="536E75"/>
                </a:solidFill>
              </a:rPr>
              <a:t>Dados simulados. SaO₂ 98%, PaO₂ 150 mmHg e temperatura 36 °C.</a:t>
            </a:r>
          </a:p>
        </p:txBody>
      </p:sp>
    </p:spTree>
    <p:extLst>
      <p:ext uri="{BB962C8B-B14F-4D97-AF65-F5344CB8AC3E}">
        <p14:creationId xmlns:p14="http://schemas.microsoft.com/office/powerpoint/2010/main" val="106127822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2B9F6A-8001-48B7-B7B1-1348A7A6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10744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33D"/>
                </a:solidFill>
              </a:defRPr>
            </a:defPPr>
            <a:lvl1pPr>
              <a:defRPr sz="3450" b="1">
                <a:solidFill>
                  <a:srgbClr val="18333D"/>
                </a:solidFill>
              </a:defRPr>
            </a:lvl1pPr>
            <a:lvl2pPr>
              <a:defRPr sz="3450" b="1">
                <a:solidFill>
                  <a:srgbClr val="18333D"/>
                </a:solidFill>
              </a:defRPr>
            </a:lvl2pPr>
            <a:lvl3pPr>
              <a:defRPr sz="3450" b="1">
                <a:solidFill>
                  <a:srgbClr val="18333D"/>
                </a:solidFill>
              </a:defRPr>
            </a:lvl3pPr>
            <a:lvl4pPr>
              <a:defRPr sz="3450" b="1">
                <a:solidFill>
                  <a:srgbClr val="18333D"/>
                </a:solidFill>
              </a:defRPr>
            </a:lvl4pPr>
            <a:lvl5pPr>
              <a:defRPr sz="3450" b="1">
                <a:solidFill>
                  <a:srgbClr val="18333D"/>
                </a:solidFill>
              </a:defRPr>
            </a:lvl5pPr>
            <a:lvl6pPr>
              <a:defRPr sz="3450" b="1">
                <a:solidFill>
                  <a:srgbClr val="18333D"/>
                </a:solidFill>
              </a:defRPr>
            </a:lvl6pPr>
            <a:lvl7pPr>
              <a:defRPr sz="3450" b="1">
                <a:solidFill>
                  <a:srgbClr val="18333D"/>
                </a:solidFill>
              </a:defRPr>
            </a:lvl7pPr>
            <a:lvl8pPr>
              <a:defRPr sz="3450" b="1">
                <a:solidFill>
                  <a:srgbClr val="18333D"/>
                </a:solidFill>
              </a:defRPr>
            </a:lvl8pPr>
            <a:lvl9pPr>
              <a:defRPr sz="3450" b="1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33D"/>
                </a:solidFill>
              </a:defRPr>
            </a:pPr>
            <a:r>
              <a:rPr sz="3450" b="1">
                <a:solidFill>
                  <a:srgbClr val="18333D"/>
                </a:solidFill>
              </a:rPr>
              <a:t>Queda da Hb com fluxo constante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1D5E9F-E309-4E88-99C6-13404685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E75"/>
                </a:solidFill>
              </a:defRPr>
            </a:defPPr>
            <a:lvl1pPr>
              <a:defRPr sz="1275" b="0">
                <a:solidFill>
                  <a:srgbClr val="536E75"/>
                </a:solidFill>
              </a:defRPr>
            </a:lvl1pPr>
            <a:lvl2pPr>
              <a:defRPr sz="1275" b="0">
                <a:solidFill>
                  <a:srgbClr val="536E75"/>
                </a:solidFill>
              </a:defRPr>
            </a:lvl2pPr>
            <a:lvl3pPr>
              <a:defRPr sz="1275" b="0">
                <a:solidFill>
                  <a:srgbClr val="536E75"/>
                </a:solidFill>
              </a:defRPr>
            </a:lvl3pPr>
            <a:lvl4pPr>
              <a:defRPr sz="1275" b="0">
                <a:solidFill>
                  <a:srgbClr val="536E75"/>
                </a:solidFill>
              </a:defRPr>
            </a:lvl4pPr>
            <a:lvl5pPr>
              <a:defRPr sz="1275" b="0">
                <a:solidFill>
                  <a:srgbClr val="536E75"/>
                </a:solidFill>
              </a:defRPr>
            </a:lvl5pPr>
            <a:lvl6pPr>
              <a:defRPr sz="1275" b="0">
                <a:solidFill>
                  <a:srgbClr val="536E75"/>
                </a:solidFill>
              </a:defRPr>
            </a:lvl6pPr>
            <a:lvl7pPr>
              <a:defRPr sz="1275" b="0">
                <a:solidFill>
                  <a:srgbClr val="536E75"/>
                </a:solidFill>
              </a:defRPr>
            </a:lvl7pPr>
            <a:lvl8pPr>
              <a:defRPr sz="1275" b="0">
                <a:solidFill>
                  <a:srgbClr val="536E75"/>
                </a:solidFill>
              </a:defRPr>
            </a:lvl8pPr>
            <a:lvl9pPr>
              <a:defRPr sz="1275" b="0">
                <a:solidFill>
                  <a:srgbClr val="536E7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E75"/>
                </a:solidFill>
              </a:defRPr>
            </a:pPr>
            <a:r>
              <a:rPr sz="1275" b="0">
                <a:solidFill>
                  <a:srgbClr val="536E75"/>
                </a:solidFill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0F08B4-3833-46FE-889A-9F5E5777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33D"/>
                </a:solidFill>
              </a:defRPr>
            </a:defPPr>
            <a:lvl1pPr>
              <a:defRPr sz="1875" b="0">
                <a:solidFill>
                  <a:srgbClr val="18333D"/>
                </a:solidFill>
              </a:defRPr>
            </a:lvl1pPr>
            <a:lvl2pPr>
              <a:defRPr sz="1875" b="0">
                <a:solidFill>
                  <a:srgbClr val="18333D"/>
                </a:solidFill>
              </a:defRPr>
            </a:lvl2pPr>
            <a:lvl3pPr>
              <a:defRPr sz="1875" b="0">
                <a:solidFill>
                  <a:srgbClr val="18333D"/>
                </a:solidFill>
              </a:defRPr>
            </a:lvl3pPr>
            <a:lvl4pPr>
              <a:defRPr sz="1875" b="0">
                <a:solidFill>
                  <a:srgbClr val="18333D"/>
                </a:solidFill>
              </a:defRPr>
            </a:lvl4pPr>
            <a:lvl5pPr>
              <a:defRPr sz="1875" b="0">
                <a:solidFill>
                  <a:srgbClr val="18333D"/>
                </a:solidFill>
              </a:defRPr>
            </a:lvl5pPr>
            <a:lvl6pPr>
              <a:defRPr sz="1875" b="0">
                <a:solidFill>
                  <a:srgbClr val="18333D"/>
                </a:solidFill>
              </a:defRPr>
            </a:lvl6pPr>
            <a:lvl7pPr>
              <a:defRPr sz="1875" b="0">
                <a:solidFill>
                  <a:srgbClr val="18333D"/>
                </a:solidFill>
              </a:defRPr>
            </a:lvl7pPr>
            <a:lvl8pPr>
              <a:defRPr sz="1875" b="0">
                <a:solidFill>
                  <a:srgbClr val="18333D"/>
                </a:solidFill>
              </a:defRPr>
            </a:lvl8pPr>
            <a:lvl9pPr>
              <a:defRPr sz="1875" b="0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33D"/>
                </a:solidFill>
              </a:defRPr>
            </a:pPr>
            <a:r>
              <a:rPr sz="1875" b="0">
                <a:solidFill>
                  <a:srgbClr val="18333D"/>
                </a:solidFill>
              </a:rPr>
              <a:t>De 0 a 20 min, a Hb cai de 9,5 para 7,5 g/dL.</a:t>
            </a:r>
          </a:p>
          <a:p xmlns:a="http://schemas.openxmlformats.org/drawingml/2006/main">
            <a:pPr>
              <a:defRPr sz="1875" b="0">
                <a:solidFill>
                  <a:srgbClr val="18333D"/>
                </a:solidFill>
              </a:defRPr>
            </a:pPr>
            <a:r>
              <a:rPr sz="1875" b="0">
                <a:solidFill>
                  <a:srgbClr val="18333D"/>
                </a:solidFill>
              </a:rPr>
              <a:t>Com Q = 4,60 L/min, o iDO₂ cai de 320,49 para 255,33.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90EAA7C5-FC1C-4546-9744-1F48CE7BF3FB}"/>
              </a:ext>
            </a:extLst>
          </p:cNvPr>
          <p:cNvGraphicFramePr/>
          <p:nvPr/>
        </p:nvGraphicFramePr>
        <p:xfrm>
          <a:off xmlns:a="http://schemas.openxmlformats.org/drawingml/2006/main" x="723900" y="1809750"/>
          <a:ext xmlns:a="http://schemas.openxmlformats.org/drawingml/2006/main" cx="107442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8179666024b46ae"/>
          </a:graphicData>
        </a:graphic>
      </p:graphicFrame>
    </p:spTree>
    <p:extLst>
      <p:ext uri="{BB962C8B-B14F-4D97-AF65-F5344CB8AC3E}">
        <p14:creationId xmlns:p14="http://schemas.microsoft.com/office/powerpoint/2010/main" val="145199456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F79D2D-9B1D-4F4C-B843-2D325CDE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10744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33D"/>
                </a:solidFill>
              </a:defRPr>
            </a:defPPr>
            <a:lvl1pPr>
              <a:defRPr sz="3450" b="1">
                <a:solidFill>
                  <a:srgbClr val="18333D"/>
                </a:solidFill>
              </a:defRPr>
            </a:lvl1pPr>
            <a:lvl2pPr>
              <a:defRPr sz="3450" b="1">
                <a:solidFill>
                  <a:srgbClr val="18333D"/>
                </a:solidFill>
              </a:defRPr>
            </a:lvl2pPr>
            <a:lvl3pPr>
              <a:defRPr sz="3450" b="1">
                <a:solidFill>
                  <a:srgbClr val="18333D"/>
                </a:solidFill>
              </a:defRPr>
            </a:lvl3pPr>
            <a:lvl4pPr>
              <a:defRPr sz="3450" b="1">
                <a:solidFill>
                  <a:srgbClr val="18333D"/>
                </a:solidFill>
              </a:defRPr>
            </a:lvl4pPr>
            <a:lvl5pPr>
              <a:defRPr sz="3450" b="1">
                <a:solidFill>
                  <a:srgbClr val="18333D"/>
                </a:solidFill>
              </a:defRPr>
            </a:lvl5pPr>
            <a:lvl6pPr>
              <a:defRPr sz="3450" b="1">
                <a:solidFill>
                  <a:srgbClr val="18333D"/>
                </a:solidFill>
              </a:defRPr>
            </a:lvl6pPr>
            <a:lvl7pPr>
              <a:defRPr sz="3450" b="1">
                <a:solidFill>
                  <a:srgbClr val="18333D"/>
                </a:solidFill>
              </a:defRPr>
            </a:lvl7pPr>
            <a:lvl8pPr>
              <a:defRPr sz="3450" b="1">
                <a:solidFill>
                  <a:srgbClr val="18333D"/>
                </a:solidFill>
              </a:defRPr>
            </a:lvl8pPr>
            <a:lvl9pPr>
              <a:defRPr sz="3450" b="1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33D"/>
                </a:solidFill>
              </a:defRPr>
            </a:pPr>
            <a:r>
              <a:rPr sz="3450" b="1">
                <a:solidFill>
                  <a:srgbClr val="18333D"/>
                </a:solidFill>
              </a:rPr>
              <a:t>Leitura integrada do caso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56CBAB-BA99-4376-80E7-DFBC89B2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E75"/>
                </a:solidFill>
              </a:defRPr>
            </a:defPPr>
            <a:lvl1pPr>
              <a:defRPr sz="1275" b="0">
                <a:solidFill>
                  <a:srgbClr val="536E75"/>
                </a:solidFill>
              </a:defRPr>
            </a:lvl1pPr>
            <a:lvl2pPr>
              <a:defRPr sz="1275" b="0">
                <a:solidFill>
                  <a:srgbClr val="536E75"/>
                </a:solidFill>
              </a:defRPr>
            </a:lvl2pPr>
            <a:lvl3pPr>
              <a:defRPr sz="1275" b="0">
                <a:solidFill>
                  <a:srgbClr val="536E75"/>
                </a:solidFill>
              </a:defRPr>
            </a:lvl3pPr>
            <a:lvl4pPr>
              <a:defRPr sz="1275" b="0">
                <a:solidFill>
                  <a:srgbClr val="536E75"/>
                </a:solidFill>
              </a:defRPr>
            </a:lvl4pPr>
            <a:lvl5pPr>
              <a:defRPr sz="1275" b="0">
                <a:solidFill>
                  <a:srgbClr val="536E75"/>
                </a:solidFill>
              </a:defRPr>
            </a:lvl5pPr>
            <a:lvl6pPr>
              <a:defRPr sz="1275" b="0">
                <a:solidFill>
                  <a:srgbClr val="536E75"/>
                </a:solidFill>
              </a:defRPr>
            </a:lvl6pPr>
            <a:lvl7pPr>
              <a:defRPr sz="1275" b="0">
                <a:solidFill>
                  <a:srgbClr val="536E75"/>
                </a:solidFill>
              </a:defRPr>
            </a:lvl7pPr>
            <a:lvl8pPr>
              <a:defRPr sz="1275" b="0">
                <a:solidFill>
                  <a:srgbClr val="536E75"/>
                </a:solidFill>
              </a:defRPr>
            </a:lvl8pPr>
            <a:lvl9pPr>
              <a:defRPr sz="1275" b="0">
                <a:solidFill>
                  <a:srgbClr val="536E7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E75"/>
                </a:solidFill>
              </a:defRPr>
            </a:pPr>
            <a:r>
              <a:rPr sz="1275" b="0">
                <a:solidFill>
                  <a:srgbClr val="536E75"/>
                </a:solidFill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F77CB1-C43F-4D1D-BAD8-60043B8B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87D79"/>
                </a:solidFill>
              </a:defRPr>
            </a:defPPr>
            <a:lvl1pPr>
              <a:defRPr sz="2325" b="1">
                <a:solidFill>
                  <a:srgbClr val="087D79"/>
                </a:solidFill>
              </a:defRPr>
            </a:lvl1pPr>
            <a:lvl2pPr>
              <a:defRPr sz="2325" b="1">
                <a:solidFill>
                  <a:srgbClr val="087D79"/>
                </a:solidFill>
              </a:defRPr>
            </a:lvl2pPr>
            <a:lvl3pPr>
              <a:defRPr sz="2325" b="1">
                <a:solidFill>
                  <a:srgbClr val="087D79"/>
                </a:solidFill>
              </a:defRPr>
            </a:lvl3pPr>
            <a:lvl4pPr>
              <a:defRPr sz="2325" b="1">
                <a:solidFill>
                  <a:srgbClr val="087D79"/>
                </a:solidFill>
              </a:defRPr>
            </a:lvl4pPr>
            <a:lvl5pPr>
              <a:defRPr sz="2325" b="1">
                <a:solidFill>
                  <a:srgbClr val="087D79"/>
                </a:solidFill>
              </a:defRPr>
            </a:lvl5pPr>
            <a:lvl6pPr>
              <a:defRPr sz="2325" b="1">
                <a:solidFill>
                  <a:srgbClr val="087D79"/>
                </a:solidFill>
              </a:defRPr>
            </a:lvl6pPr>
            <a:lvl7pPr>
              <a:defRPr sz="2325" b="1">
                <a:solidFill>
                  <a:srgbClr val="087D79"/>
                </a:solidFill>
              </a:defRPr>
            </a:lvl7pPr>
            <a:lvl8pPr>
              <a:defRPr sz="2325" b="1">
                <a:solidFill>
                  <a:srgbClr val="087D79"/>
                </a:solidFill>
              </a:defRPr>
            </a:lvl8pPr>
            <a:lvl9pPr>
              <a:defRPr sz="2325" b="1">
                <a:solidFill>
                  <a:srgbClr val="087D79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D79"/>
                </a:solidFill>
              </a:defRPr>
            </a:pPr>
            <a:r>
              <a:rPr sz="2325" b="1">
                <a:solidFill>
                  <a:srgbClr val="087D79"/>
                </a:solidFill>
              </a:rPr>
              <a:t>20 minutos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C472C8-2FC0-4B4E-83CB-9F8936AD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4857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33D"/>
                </a:solidFill>
              </a:defRPr>
            </a:defPPr>
            <a:lvl1pPr>
              <a:defRPr sz="2175" b="0">
                <a:solidFill>
                  <a:srgbClr val="18333D"/>
                </a:solidFill>
              </a:defRPr>
            </a:lvl1pPr>
            <a:lvl2pPr>
              <a:defRPr sz="2175" b="0">
                <a:solidFill>
                  <a:srgbClr val="18333D"/>
                </a:solidFill>
              </a:defRPr>
            </a:lvl2pPr>
            <a:lvl3pPr>
              <a:defRPr sz="2175" b="0">
                <a:solidFill>
                  <a:srgbClr val="18333D"/>
                </a:solidFill>
              </a:defRPr>
            </a:lvl3pPr>
            <a:lvl4pPr>
              <a:defRPr sz="2175" b="0">
                <a:solidFill>
                  <a:srgbClr val="18333D"/>
                </a:solidFill>
              </a:defRPr>
            </a:lvl4pPr>
            <a:lvl5pPr>
              <a:defRPr sz="2175" b="0">
                <a:solidFill>
                  <a:srgbClr val="18333D"/>
                </a:solidFill>
              </a:defRPr>
            </a:lvl5pPr>
            <a:lvl6pPr>
              <a:defRPr sz="2175" b="0">
                <a:solidFill>
                  <a:srgbClr val="18333D"/>
                </a:solidFill>
              </a:defRPr>
            </a:lvl6pPr>
            <a:lvl7pPr>
              <a:defRPr sz="2175" b="0">
                <a:solidFill>
                  <a:srgbClr val="18333D"/>
                </a:solidFill>
              </a:defRPr>
            </a:lvl7pPr>
            <a:lvl8pPr>
              <a:defRPr sz="2175" b="0">
                <a:solidFill>
                  <a:srgbClr val="18333D"/>
                </a:solidFill>
              </a:defRPr>
            </a:lvl8pPr>
            <a:lvl9pPr>
              <a:defRPr sz="2175" b="0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33D"/>
                </a:solidFill>
              </a:defRPr>
            </a:pPr>
            <a:r>
              <a:rPr sz="2175" b="0">
                <a:solidFill>
                  <a:srgbClr val="18333D"/>
                </a:solidFill>
              </a:rPr>
              <a:t>iDO₂ de 255,33: abaixo do alvo de 280. SaO₂ permanece em 98%.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8333D"/>
                </a:solidFill>
              </a:defRPr>
            </a:pPr>
            <a:r>
              <a:rPr sz="2175" b="0">
                <a:solidFill>
                  <a:srgbClr val="18333D"/>
                </a:solidFill>
              </a:rPr>
              <a:t>Saturação preservada não assegura oferta suficiente.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993DC7-9802-42AC-804C-BCF4072F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0025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87D79"/>
                </a:solidFill>
              </a:defRPr>
            </a:defPPr>
            <a:lvl1pPr>
              <a:defRPr sz="2325" b="1">
                <a:solidFill>
                  <a:srgbClr val="087D79"/>
                </a:solidFill>
              </a:defRPr>
            </a:lvl1pPr>
            <a:lvl2pPr>
              <a:defRPr sz="2325" b="1">
                <a:solidFill>
                  <a:srgbClr val="087D79"/>
                </a:solidFill>
              </a:defRPr>
            </a:lvl2pPr>
            <a:lvl3pPr>
              <a:defRPr sz="2325" b="1">
                <a:solidFill>
                  <a:srgbClr val="087D79"/>
                </a:solidFill>
              </a:defRPr>
            </a:lvl3pPr>
            <a:lvl4pPr>
              <a:defRPr sz="2325" b="1">
                <a:solidFill>
                  <a:srgbClr val="087D79"/>
                </a:solidFill>
              </a:defRPr>
            </a:lvl4pPr>
            <a:lvl5pPr>
              <a:defRPr sz="2325" b="1">
                <a:solidFill>
                  <a:srgbClr val="087D79"/>
                </a:solidFill>
              </a:defRPr>
            </a:lvl5pPr>
            <a:lvl6pPr>
              <a:defRPr sz="2325" b="1">
                <a:solidFill>
                  <a:srgbClr val="087D79"/>
                </a:solidFill>
              </a:defRPr>
            </a:lvl6pPr>
            <a:lvl7pPr>
              <a:defRPr sz="2325" b="1">
                <a:solidFill>
                  <a:srgbClr val="087D79"/>
                </a:solidFill>
              </a:defRPr>
            </a:lvl7pPr>
            <a:lvl8pPr>
              <a:defRPr sz="2325" b="1">
                <a:solidFill>
                  <a:srgbClr val="087D79"/>
                </a:solidFill>
              </a:defRPr>
            </a:lvl8pPr>
            <a:lvl9pPr>
              <a:defRPr sz="2325" b="1">
                <a:solidFill>
                  <a:srgbClr val="087D79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D79"/>
                </a:solidFill>
              </a:defRPr>
            </a:pPr>
            <a:r>
              <a:rPr sz="2325" b="1">
                <a:solidFill>
                  <a:srgbClr val="087D79"/>
                </a:solidFill>
              </a:rPr>
              <a:t>40 a 60 minutos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1EBC78-B8AD-4AB4-A30C-8D16F1CA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62250"/>
            <a:ext cx="4857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33D"/>
                </a:solidFill>
              </a:defRPr>
            </a:defPPr>
            <a:lvl1pPr>
              <a:defRPr sz="2175" b="0">
                <a:solidFill>
                  <a:srgbClr val="18333D"/>
                </a:solidFill>
              </a:defRPr>
            </a:lvl1pPr>
            <a:lvl2pPr>
              <a:defRPr sz="2175" b="0">
                <a:solidFill>
                  <a:srgbClr val="18333D"/>
                </a:solidFill>
              </a:defRPr>
            </a:lvl2pPr>
            <a:lvl3pPr>
              <a:defRPr sz="2175" b="0">
                <a:solidFill>
                  <a:srgbClr val="18333D"/>
                </a:solidFill>
              </a:defRPr>
            </a:lvl3pPr>
            <a:lvl4pPr>
              <a:defRPr sz="2175" b="0">
                <a:solidFill>
                  <a:srgbClr val="18333D"/>
                </a:solidFill>
              </a:defRPr>
            </a:lvl4pPr>
            <a:lvl5pPr>
              <a:defRPr sz="2175" b="0">
                <a:solidFill>
                  <a:srgbClr val="18333D"/>
                </a:solidFill>
              </a:defRPr>
            </a:lvl5pPr>
            <a:lvl6pPr>
              <a:defRPr sz="2175" b="0">
                <a:solidFill>
                  <a:srgbClr val="18333D"/>
                </a:solidFill>
              </a:defRPr>
            </a:lvl6pPr>
            <a:lvl7pPr>
              <a:defRPr sz="2175" b="0">
                <a:solidFill>
                  <a:srgbClr val="18333D"/>
                </a:solidFill>
              </a:defRPr>
            </a:lvl7pPr>
            <a:lvl8pPr>
              <a:defRPr sz="2175" b="0">
                <a:solidFill>
                  <a:srgbClr val="18333D"/>
                </a:solidFill>
              </a:defRPr>
            </a:lvl8pPr>
            <a:lvl9pPr>
              <a:defRPr sz="2175" b="0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33D"/>
                </a:solidFill>
              </a:defRPr>
            </a:pPr>
            <a:r>
              <a:rPr sz="2175" b="0">
                <a:solidFill>
                  <a:srgbClr val="18333D"/>
                </a:solidFill>
              </a:rPr>
              <a:t>O cenário eleva Q para 5,20 L/min. O iDO₂ supera 280, enquanto o lactato ainda exige acompanhamento.</a:t>
            </a:r>
          </a:p>
        </p:txBody>
      </p:sp>
    </p:spTree>
    <p:extLst>
      <p:ext uri="{BB962C8B-B14F-4D97-AF65-F5344CB8AC3E}">
        <p14:creationId xmlns:p14="http://schemas.microsoft.com/office/powerpoint/2010/main" val="189022699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102B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9D8E30-DC1D-446F-96B8-7120DEAD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10744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</a:defRPr>
            </a:defPPr>
            <a:lvl1pPr>
              <a:defRPr sz="3450" b="1">
                <a:solidFill>
                  <a:srgbClr val="FFFFFF"/>
                </a:solidFill>
              </a:defRPr>
            </a:lvl1pPr>
            <a:lvl2pPr>
              <a:defRPr sz="3450" b="1">
                <a:solidFill>
                  <a:srgbClr val="FFFFFF"/>
                </a:solidFill>
              </a:defRPr>
            </a:lvl2pPr>
            <a:lvl3pPr>
              <a:defRPr sz="3450" b="1">
                <a:solidFill>
                  <a:srgbClr val="FFFFFF"/>
                </a:solidFill>
              </a:defRPr>
            </a:lvl3pPr>
            <a:lvl4pPr>
              <a:defRPr sz="3450" b="1">
                <a:solidFill>
                  <a:srgbClr val="FFFFFF"/>
                </a:solidFill>
              </a:defRPr>
            </a:lvl4pPr>
            <a:lvl5pPr>
              <a:defRPr sz="3450" b="1">
                <a:solidFill>
                  <a:srgbClr val="FFFFFF"/>
                </a:solidFill>
              </a:defRPr>
            </a:lvl5pPr>
            <a:lvl6pPr>
              <a:defRPr sz="3450" b="1">
                <a:solidFill>
                  <a:srgbClr val="FFFFFF"/>
                </a:solidFill>
              </a:defRPr>
            </a:lvl6pPr>
            <a:lvl7pPr>
              <a:defRPr sz="3450" b="1">
                <a:solidFill>
                  <a:srgbClr val="FFFFFF"/>
                </a:solidFill>
              </a:defRPr>
            </a:lvl7pPr>
            <a:lvl8pPr>
              <a:defRPr sz="3450" b="1">
                <a:solidFill>
                  <a:srgbClr val="FFFFFF"/>
                </a:solidFill>
              </a:defRPr>
            </a:lvl8pPr>
            <a:lvl9pPr>
              <a:defRPr sz="34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Verificação técnica do projeto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18B168-C775-481F-9630-1FBF287D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BCD0D5"/>
                </a:solidFill>
              </a:defRPr>
            </a:defPPr>
            <a:lvl1pPr>
              <a:defRPr sz="1275" b="0">
                <a:solidFill>
                  <a:srgbClr val="BCD0D5"/>
                </a:solidFill>
              </a:defRPr>
            </a:lvl1pPr>
            <a:lvl2pPr>
              <a:defRPr sz="1275" b="0">
                <a:solidFill>
                  <a:srgbClr val="BCD0D5"/>
                </a:solidFill>
              </a:defRPr>
            </a:lvl2pPr>
            <a:lvl3pPr>
              <a:defRPr sz="1275" b="0">
                <a:solidFill>
                  <a:srgbClr val="BCD0D5"/>
                </a:solidFill>
              </a:defRPr>
            </a:lvl3pPr>
            <a:lvl4pPr>
              <a:defRPr sz="1275" b="0">
                <a:solidFill>
                  <a:srgbClr val="BCD0D5"/>
                </a:solidFill>
              </a:defRPr>
            </a:lvl4pPr>
            <a:lvl5pPr>
              <a:defRPr sz="1275" b="0">
                <a:solidFill>
                  <a:srgbClr val="BCD0D5"/>
                </a:solidFill>
              </a:defRPr>
            </a:lvl5pPr>
            <a:lvl6pPr>
              <a:defRPr sz="1275" b="0">
                <a:solidFill>
                  <a:srgbClr val="BCD0D5"/>
                </a:solidFill>
              </a:defRPr>
            </a:lvl6pPr>
            <a:lvl7pPr>
              <a:defRPr sz="1275" b="0">
                <a:solidFill>
                  <a:srgbClr val="BCD0D5"/>
                </a:solidFill>
              </a:defRPr>
            </a:lvl7pPr>
            <a:lvl8pPr>
              <a:defRPr sz="1275" b="0">
                <a:solidFill>
                  <a:srgbClr val="BCD0D5"/>
                </a:solidFill>
              </a:defRPr>
            </a:lvl8pPr>
            <a:lvl9pPr>
              <a:defRPr sz="1275" b="0">
                <a:solidFill>
                  <a:srgbClr val="BCD0D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CD0D5"/>
                </a:solidFill>
              </a:defRPr>
            </a:pPr>
            <a:r>
              <a:rPr sz="1275" b="0">
                <a:solidFill>
                  <a:srgbClr val="BCD0D5"/>
                </a:solidFill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612BA9-8555-4830-9D62-81B418D5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107442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B6EDE0"/>
                </a:solidFill>
              </a:defRPr>
            </a:defPPr>
            <a:lvl1pPr>
              <a:defRPr sz="4500" b="1">
                <a:solidFill>
                  <a:srgbClr val="B6EDE0"/>
                </a:solidFill>
              </a:defRPr>
            </a:lvl1pPr>
            <a:lvl2pPr>
              <a:defRPr sz="4500" b="1">
                <a:solidFill>
                  <a:srgbClr val="B6EDE0"/>
                </a:solidFill>
              </a:defRPr>
            </a:lvl2pPr>
            <a:lvl3pPr>
              <a:defRPr sz="4500" b="1">
                <a:solidFill>
                  <a:srgbClr val="B6EDE0"/>
                </a:solidFill>
              </a:defRPr>
            </a:lvl3pPr>
            <a:lvl4pPr>
              <a:defRPr sz="4500" b="1">
                <a:solidFill>
                  <a:srgbClr val="B6EDE0"/>
                </a:solidFill>
              </a:defRPr>
            </a:lvl4pPr>
            <a:lvl5pPr>
              <a:defRPr sz="4500" b="1">
                <a:solidFill>
                  <a:srgbClr val="B6EDE0"/>
                </a:solidFill>
              </a:defRPr>
            </a:lvl5pPr>
            <a:lvl6pPr>
              <a:defRPr sz="4500" b="1">
                <a:solidFill>
                  <a:srgbClr val="B6EDE0"/>
                </a:solidFill>
              </a:defRPr>
            </a:lvl6pPr>
            <a:lvl7pPr>
              <a:defRPr sz="4500" b="1">
                <a:solidFill>
                  <a:srgbClr val="B6EDE0"/>
                </a:solidFill>
              </a:defRPr>
            </a:lvl7pPr>
            <a:lvl8pPr>
              <a:defRPr sz="4500" b="1">
                <a:solidFill>
                  <a:srgbClr val="B6EDE0"/>
                </a:solidFill>
              </a:defRPr>
            </a:lvl8pPr>
            <a:lvl9pPr>
              <a:defRPr sz="4500" b="1">
                <a:solidFill>
                  <a:srgbClr val="B6EDE0"/>
                </a:solidFill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B6EDE0"/>
                </a:solidFill>
              </a:defRPr>
            </a:pPr>
            <a:r>
              <a:rPr sz="4500" b="1">
                <a:solidFill>
                  <a:srgbClr val="B6EDE0"/>
                </a:solidFill>
              </a:rPr>
              <a:t>40 arquivos de caso</a:t>
            </a:r>
          </a:p>
          <a:p xmlns:a="http://schemas.openxmlformats.org/drawingml/2006/main">
            <a:pPr>
              <a:defRPr sz="4500" b="1">
                <a:solidFill>
                  <a:srgbClr val="B6EDE0"/>
                </a:solidFill>
              </a:defRPr>
            </a:pPr>
            <a:r>
              <a:rPr sz="4500" b="1">
                <a:solidFill>
                  <a:srgbClr val="B6EDE0"/>
                </a:solidFill>
              </a:rPr>
              <a:t>na validação do software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AD821C-C4E9-46B6-84AD-E8599747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10048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FFFFF"/>
                </a:solidFill>
              </a:defRPr>
            </a:defPPr>
            <a:lvl1pPr>
              <a:defRPr sz="2250" b="0">
                <a:solidFill>
                  <a:srgbClr val="FFFFFF"/>
                </a:solidFill>
              </a:defRPr>
            </a:lvl1pPr>
            <a:lvl2pPr>
              <a:defRPr sz="2250" b="0">
                <a:solidFill>
                  <a:srgbClr val="FFFFFF"/>
                </a:solidFill>
              </a:defRPr>
            </a:lvl2pPr>
            <a:lvl3pPr>
              <a:defRPr sz="2250" b="0">
                <a:solidFill>
                  <a:srgbClr val="FFFFFF"/>
                </a:solidFill>
              </a:defRPr>
            </a:lvl3pPr>
            <a:lvl4pPr>
              <a:defRPr sz="2250" b="0">
                <a:solidFill>
                  <a:srgbClr val="FFFFFF"/>
                </a:solidFill>
              </a:defRPr>
            </a:lvl4pPr>
            <a:lvl5pPr>
              <a:defRPr sz="2250" b="0">
                <a:solidFill>
                  <a:srgbClr val="FFFFFF"/>
                </a:solidFill>
              </a:defRPr>
            </a:lvl5pPr>
            <a:lvl6pPr>
              <a:defRPr sz="2250" b="0">
                <a:solidFill>
                  <a:srgbClr val="FFFFFF"/>
                </a:solidFill>
              </a:defRPr>
            </a:lvl6pPr>
            <a:lvl7pPr>
              <a:defRPr sz="2250" b="0">
                <a:solidFill>
                  <a:srgbClr val="FFFFFF"/>
                </a:solidFill>
              </a:defRPr>
            </a:lvl7pPr>
            <a:lvl8pPr>
              <a:defRPr sz="2250" b="0">
                <a:solidFill>
                  <a:srgbClr val="FFFFFF"/>
                </a:solidFill>
              </a:defRPr>
            </a:lvl8pPr>
            <a:lvl9pPr>
              <a:defRPr sz="22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</a:defRPr>
            </a:pPr>
            <a:r>
              <a:rPr sz="2250" b="0">
                <a:solidFill>
                  <a:srgbClr val="FFFFFF"/>
                </a:solidFill>
              </a:rPr>
              <a:t>Verificações de importação e cálculo, fluxo de entrada, persistência e apresentação em computador e celular.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916750-939B-4FC0-AE2A-1C70EAEA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BCD0D5"/>
                </a:solidFill>
              </a:defRPr>
            </a:defPPr>
            <a:lvl1pPr>
              <a:defRPr sz="1650" b="0">
                <a:solidFill>
                  <a:srgbClr val="BCD0D5"/>
                </a:solidFill>
              </a:defRPr>
            </a:lvl1pPr>
            <a:lvl2pPr>
              <a:defRPr sz="1650" b="0">
                <a:solidFill>
                  <a:srgbClr val="BCD0D5"/>
                </a:solidFill>
              </a:defRPr>
            </a:lvl2pPr>
            <a:lvl3pPr>
              <a:defRPr sz="1650" b="0">
                <a:solidFill>
                  <a:srgbClr val="BCD0D5"/>
                </a:solidFill>
              </a:defRPr>
            </a:lvl3pPr>
            <a:lvl4pPr>
              <a:defRPr sz="1650" b="0">
                <a:solidFill>
                  <a:srgbClr val="BCD0D5"/>
                </a:solidFill>
              </a:defRPr>
            </a:lvl4pPr>
            <a:lvl5pPr>
              <a:defRPr sz="1650" b="0">
                <a:solidFill>
                  <a:srgbClr val="BCD0D5"/>
                </a:solidFill>
              </a:defRPr>
            </a:lvl5pPr>
            <a:lvl6pPr>
              <a:defRPr sz="1650" b="0">
                <a:solidFill>
                  <a:srgbClr val="BCD0D5"/>
                </a:solidFill>
              </a:defRPr>
            </a:lvl6pPr>
            <a:lvl7pPr>
              <a:defRPr sz="1650" b="0">
                <a:solidFill>
                  <a:srgbClr val="BCD0D5"/>
                </a:solidFill>
              </a:defRPr>
            </a:lvl7pPr>
            <a:lvl8pPr>
              <a:defRPr sz="1650" b="0">
                <a:solidFill>
                  <a:srgbClr val="BCD0D5"/>
                </a:solidFill>
              </a:defRPr>
            </a:lvl8pPr>
            <a:lvl9pPr>
              <a:defRPr sz="1650" b="0">
                <a:solidFill>
                  <a:srgbClr val="BCD0D5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CD0D5"/>
                </a:solidFill>
              </a:defRPr>
            </a:pPr>
            <a:r>
              <a:rPr sz="1650" b="0">
                <a:solidFill>
                  <a:srgbClr val="BCD0D5"/>
                </a:solidFill>
              </a:rPr>
              <a:t>Casos de teste do software. Não representam uma série clínica de pacientes.</a:t>
            </a:r>
          </a:p>
        </p:txBody>
      </p:sp>
    </p:spTree>
    <p:extLst>
      <p:ext uri="{BB962C8B-B14F-4D97-AF65-F5344CB8AC3E}">
        <p14:creationId xmlns:p14="http://schemas.microsoft.com/office/powerpoint/2010/main" val="193187575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5F2440-520D-4571-82F9-1D107F16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10744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33D"/>
                </a:solidFill>
              </a:defRPr>
            </a:defPPr>
            <a:lvl1pPr>
              <a:defRPr sz="3450" b="1">
                <a:solidFill>
                  <a:srgbClr val="18333D"/>
                </a:solidFill>
              </a:defRPr>
            </a:lvl1pPr>
            <a:lvl2pPr>
              <a:defRPr sz="3450" b="1">
                <a:solidFill>
                  <a:srgbClr val="18333D"/>
                </a:solidFill>
              </a:defRPr>
            </a:lvl2pPr>
            <a:lvl3pPr>
              <a:defRPr sz="3450" b="1">
                <a:solidFill>
                  <a:srgbClr val="18333D"/>
                </a:solidFill>
              </a:defRPr>
            </a:lvl3pPr>
            <a:lvl4pPr>
              <a:defRPr sz="3450" b="1">
                <a:solidFill>
                  <a:srgbClr val="18333D"/>
                </a:solidFill>
              </a:defRPr>
            </a:lvl4pPr>
            <a:lvl5pPr>
              <a:defRPr sz="3450" b="1">
                <a:solidFill>
                  <a:srgbClr val="18333D"/>
                </a:solidFill>
              </a:defRPr>
            </a:lvl5pPr>
            <a:lvl6pPr>
              <a:defRPr sz="3450" b="1">
                <a:solidFill>
                  <a:srgbClr val="18333D"/>
                </a:solidFill>
              </a:defRPr>
            </a:lvl6pPr>
            <a:lvl7pPr>
              <a:defRPr sz="3450" b="1">
                <a:solidFill>
                  <a:srgbClr val="18333D"/>
                </a:solidFill>
              </a:defRPr>
            </a:lvl7pPr>
            <a:lvl8pPr>
              <a:defRPr sz="3450" b="1">
                <a:solidFill>
                  <a:srgbClr val="18333D"/>
                </a:solidFill>
              </a:defRPr>
            </a:lvl8pPr>
            <a:lvl9pPr>
              <a:defRPr sz="3450" b="1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33D"/>
                </a:solidFill>
              </a:defRPr>
            </a:pPr>
            <a:r>
              <a:rPr sz="3450" b="1">
                <a:solidFill>
                  <a:srgbClr val="18333D"/>
                </a:solidFill>
              </a:rPr>
              <a:t>Limites e próximos estudos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49929D-C5AA-4530-AEF2-41A1D70F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E75"/>
                </a:solidFill>
              </a:defRPr>
            </a:defPPr>
            <a:lvl1pPr>
              <a:defRPr sz="1275" b="0">
                <a:solidFill>
                  <a:srgbClr val="536E75"/>
                </a:solidFill>
              </a:defRPr>
            </a:lvl1pPr>
            <a:lvl2pPr>
              <a:defRPr sz="1275" b="0">
                <a:solidFill>
                  <a:srgbClr val="536E75"/>
                </a:solidFill>
              </a:defRPr>
            </a:lvl2pPr>
            <a:lvl3pPr>
              <a:defRPr sz="1275" b="0">
                <a:solidFill>
                  <a:srgbClr val="536E75"/>
                </a:solidFill>
              </a:defRPr>
            </a:lvl3pPr>
            <a:lvl4pPr>
              <a:defRPr sz="1275" b="0">
                <a:solidFill>
                  <a:srgbClr val="536E75"/>
                </a:solidFill>
              </a:defRPr>
            </a:lvl4pPr>
            <a:lvl5pPr>
              <a:defRPr sz="1275" b="0">
                <a:solidFill>
                  <a:srgbClr val="536E75"/>
                </a:solidFill>
              </a:defRPr>
            </a:lvl5pPr>
            <a:lvl6pPr>
              <a:defRPr sz="1275" b="0">
                <a:solidFill>
                  <a:srgbClr val="536E75"/>
                </a:solidFill>
              </a:defRPr>
            </a:lvl6pPr>
            <a:lvl7pPr>
              <a:defRPr sz="1275" b="0">
                <a:solidFill>
                  <a:srgbClr val="536E75"/>
                </a:solidFill>
              </a:defRPr>
            </a:lvl7pPr>
            <a:lvl8pPr>
              <a:defRPr sz="1275" b="0">
                <a:solidFill>
                  <a:srgbClr val="536E75"/>
                </a:solidFill>
              </a:defRPr>
            </a:lvl8pPr>
            <a:lvl9pPr>
              <a:defRPr sz="1275" b="0">
                <a:solidFill>
                  <a:srgbClr val="536E7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E75"/>
                </a:solidFill>
              </a:defRPr>
            </a:pPr>
            <a:r>
              <a:rPr sz="1275" b="0">
                <a:solidFill>
                  <a:srgbClr val="536E75"/>
                </a:solidFill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C8BFC3-9D03-437A-A3AA-8FECD331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87D79"/>
                </a:solidFill>
              </a:defRPr>
            </a:defPPr>
            <a:lvl1pPr>
              <a:defRPr sz="2325" b="1">
                <a:solidFill>
                  <a:srgbClr val="087D79"/>
                </a:solidFill>
              </a:defRPr>
            </a:lvl1pPr>
            <a:lvl2pPr>
              <a:defRPr sz="2325" b="1">
                <a:solidFill>
                  <a:srgbClr val="087D79"/>
                </a:solidFill>
              </a:defRPr>
            </a:lvl2pPr>
            <a:lvl3pPr>
              <a:defRPr sz="2325" b="1">
                <a:solidFill>
                  <a:srgbClr val="087D79"/>
                </a:solidFill>
              </a:defRPr>
            </a:lvl3pPr>
            <a:lvl4pPr>
              <a:defRPr sz="2325" b="1">
                <a:solidFill>
                  <a:srgbClr val="087D79"/>
                </a:solidFill>
              </a:defRPr>
            </a:lvl4pPr>
            <a:lvl5pPr>
              <a:defRPr sz="2325" b="1">
                <a:solidFill>
                  <a:srgbClr val="087D79"/>
                </a:solidFill>
              </a:defRPr>
            </a:lvl5pPr>
            <a:lvl6pPr>
              <a:defRPr sz="2325" b="1">
                <a:solidFill>
                  <a:srgbClr val="087D79"/>
                </a:solidFill>
              </a:defRPr>
            </a:lvl6pPr>
            <a:lvl7pPr>
              <a:defRPr sz="2325" b="1">
                <a:solidFill>
                  <a:srgbClr val="087D79"/>
                </a:solidFill>
              </a:defRPr>
            </a:lvl7pPr>
            <a:lvl8pPr>
              <a:defRPr sz="2325" b="1">
                <a:solidFill>
                  <a:srgbClr val="087D79"/>
                </a:solidFill>
              </a:defRPr>
            </a:lvl8pPr>
            <a:lvl9pPr>
              <a:defRPr sz="2325" b="1">
                <a:solidFill>
                  <a:srgbClr val="087D79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D79"/>
                </a:solidFill>
              </a:defRPr>
            </a:pPr>
            <a:r>
              <a:rPr sz="2325" b="1">
                <a:solidFill>
                  <a:srgbClr val="087D79"/>
                </a:solidFill>
              </a:rPr>
              <a:t>Limites atuais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667C6A-8FEC-4EBE-B3A2-644696E3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4857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33D"/>
                </a:solidFill>
              </a:defRPr>
            </a:defPPr>
            <a:lvl1pPr>
              <a:defRPr sz="2175" b="0">
                <a:solidFill>
                  <a:srgbClr val="18333D"/>
                </a:solidFill>
              </a:defRPr>
            </a:lvl1pPr>
            <a:lvl2pPr>
              <a:defRPr sz="2175" b="0">
                <a:solidFill>
                  <a:srgbClr val="18333D"/>
                </a:solidFill>
              </a:defRPr>
            </a:lvl2pPr>
            <a:lvl3pPr>
              <a:defRPr sz="2175" b="0">
                <a:solidFill>
                  <a:srgbClr val="18333D"/>
                </a:solidFill>
              </a:defRPr>
            </a:lvl3pPr>
            <a:lvl4pPr>
              <a:defRPr sz="2175" b="0">
                <a:solidFill>
                  <a:srgbClr val="18333D"/>
                </a:solidFill>
              </a:defRPr>
            </a:lvl4pPr>
            <a:lvl5pPr>
              <a:defRPr sz="2175" b="0">
                <a:solidFill>
                  <a:srgbClr val="18333D"/>
                </a:solidFill>
              </a:defRPr>
            </a:lvl5pPr>
            <a:lvl6pPr>
              <a:defRPr sz="2175" b="0">
                <a:solidFill>
                  <a:srgbClr val="18333D"/>
                </a:solidFill>
              </a:defRPr>
            </a:lvl6pPr>
            <a:lvl7pPr>
              <a:defRPr sz="2175" b="0">
                <a:solidFill>
                  <a:srgbClr val="18333D"/>
                </a:solidFill>
              </a:defRPr>
            </a:lvl7pPr>
            <a:lvl8pPr>
              <a:defRPr sz="2175" b="0">
                <a:solidFill>
                  <a:srgbClr val="18333D"/>
                </a:solidFill>
              </a:defRPr>
            </a:lvl8pPr>
            <a:lvl9pPr>
              <a:defRPr sz="2175" b="0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33D"/>
                </a:solidFill>
              </a:defRPr>
            </a:pPr>
            <a:r>
              <a:rPr sz="2175" b="0">
                <a:solidFill>
                  <a:srgbClr val="18333D"/>
                </a:solidFill>
              </a:rPr>
              <a:t>Regras de risco sem validação prognóstica.</a:t>
            </a:r>
          </a:p>
          <a:p xmlns:a="http://schemas.openxmlformats.org/drawingml/2006/main">
            <a:pPr>
              <a:defRPr sz="2175" b="0">
                <a:solidFill>
                  <a:srgbClr val="18333D"/>
                </a:solidFill>
              </a:defRPr>
            </a:pPr>
            <a:r>
              <a:rPr sz="2175" b="0">
                <a:solidFill>
                  <a:srgbClr val="18333D"/>
                </a:solidFill>
              </a:rPr>
              <a:t>Tabela térmica local.</a:t>
            </a:r>
          </a:p>
          <a:p xmlns:a="http://schemas.openxmlformats.org/drawingml/2006/main">
            <a:pPr>
              <a:defRPr sz="2175" b="0">
                <a:solidFill>
                  <a:srgbClr val="18333D"/>
                </a:solidFill>
              </a:defRPr>
            </a:pPr>
            <a:r>
              <a:rPr sz="2175" b="0">
                <a:solidFill>
                  <a:srgbClr val="18333D"/>
                </a:solidFill>
              </a:rPr>
              <a:t>Dependência de dados completos e unidades coerentes.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791ACC-A5F1-432D-929E-7B337803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0025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87D79"/>
                </a:solidFill>
              </a:defRPr>
            </a:defPPr>
            <a:lvl1pPr>
              <a:defRPr sz="2325" b="1">
                <a:solidFill>
                  <a:srgbClr val="087D79"/>
                </a:solidFill>
              </a:defRPr>
            </a:lvl1pPr>
            <a:lvl2pPr>
              <a:defRPr sz="2325" b="1">
                <a:solidFill>
                  <a:srgbClr val="087D79"/>
                </a:solidFill>
              </a:defRPr>
            </a:lvl2pPr>
            <a:lvl3pPr>
              <a:defRPr sz="2325" b="1">
                <a:solidFill>
                  <a:srgbClr val="087D79"/>
                </a:solidFill>
              </a:defRPr>
            </a:lvl3pPr>
            <a:lvl4pPr>
              <a:defRPr sz="2325" b="1">
                <a:solidFill>
                  <a:srgbClr val="087D79"/>
                </a:solidFill>
              </a:defRPr>
            </a:lvl4pPr>
            <a:lvl5pPr>
              <a:defRPr sz="2325" b="1">
                <a:solidFill>
                  <a:srgbClr val="087D79"/>
                </a:solidFill>
              </a:defRPr>
            </a:lvl5pPr>
            <a:lvl6pPr>
              <a:defRPr sz="2325" b="1">
                <a:solidFill>
                  <a:srgbClr val="087D79"/>
                </a:solidFill>
              </a:defRPr>
            </a:lvl6pPr>
            <a:lvl7pPr>
              <a:defRPr sz="2325" b="1">
                <a:solidFill>
                  <a:srgbClr val="087D79"/>
                </a:solidFill>
              </a:defRPr>
            </a:lvl7pPr>
            <a:lvl8pPr>
              <a:defRPr sz="2325" b="1">
                <a:solidFill>
                  <a:srgbClr val="087D79"/>
                </a:solidFill>
              </a:defRPr>
            </a:lvl8pPr>
            <a:lvl9pPr>
              <a:defRPr sz="2325" b="1">
                <a:solidFill>
                  <a:srgbClr val="087D79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D79"/>
                </a:solidFill>
              </a:defRPr>
            </a:pPr>
            <a:r>
              <a:rPr sz="2325" b="1">
                <a:solidFill>
                  <a:srgbClr val="087D79"/>
                </a:solidFill>
              </a:rPr>
              <a:t>Próximas etapas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C50918-5A1A-435C-B5F9-2B3A3CAA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62250"/>
            <a:ext cx="4857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33D"/>
                </a:solidFill>
              </a:defRPr>
            </a:defPPr>
            <a:lvl1pPr>
              <a:defRPr sz="2175" b="0">
                <a:solidFill>
                  <a:srgbClr val="18333D"/>
                </a:solidFill>
              </a:defRPr>
            </a:lvl1pPr>
            <a:lvl2pPr>
              <a:defRPr sz="2175" b="0">
                <a:solidFill>
                  <a:srgbClr val="18333D"/>
                </a:solidFill>
              </a:defRPr>
            </a:lvl2pPr>
            <a:lvl3pPr>
              <a:defRPr sz="2175" b="0">
                <a:solidFill>
                  <a:srgbClr val="18333D"/>
                </a:solidFill>
              </a:defRPr>
            </a:lvl3pPr>
            <a:lvl4pPr>
              <a:defRPr sz="2175" b="0">
                <a:solidFill>
                  <a:srgbClr val="18333D"/>
                </a:solidFill>
              </a:defRPr>
            </a:lvl4pPr>
            <a:lvl5pPr>
              <a:defRPr sz="2175" b="0">
                <a:solidFill>
                  <a:srgbClr val="18333D"/>
                </a:solidFill>
              </a:defRPr>
            </a:lvl5pPr>
            <a:lvl6pPr>
              <a:defRPr sz="2175" b="0">
                <a:solidFill>
                  <a:srgbClr val="18333D"/>
                </a:solidFill>
              </a:defRPr>
            </a:lvl6pPr>
            <a:lvl7pPr>
              <a:defRPr sz="2175" b="0">
                <a:solidFill>
                  <a:srgbClr val="18333D"/>
                </a:solidFill>
              </a:defRPr>
            </a:lvl7pPr>
            <a:lvl8pPr>
              <a:defRPr sz="2175" b="0">
                <a:solidFill>
                  <a:srgbClr val="18333D"/>
                </a:solidFill>
              </a:defRPr>
            </a:lvl8pPr>
            <a:lvl9pPr>
              <a:defRPr sz="2175" b="0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33D"/>
                </a:solidFill>
              </a:defRPr>
            </a:pPr>
            <a:r>
              <a:rPr sz="2175" b="0">
                <a:solidFill>
                  <a:srgbClr val="18333D"/>
                </a:solidFill>
              </a:rPr>
              <a:t>Revisão clínica das regras.</a:t>
            </a:r>
          </a:p>
          <a:p xmlns:a="http://schemas.openxmlformats.org/drawingml/2006/main">
            <a:pPr>
              <a:defRPr sz="2175" b="0">
                <a:solidFill>
                  <a:srgbClr val="18333D"/>
                </a:solidFill>
              </a:defRPr>
            </a:pPr>
            <a:r>
              <a:rPr sz="2175" b="0">
                <a:solidFill>
                  <a:srgbClr val="18333D"/>
                </a:solidFill>
              </a:rPr>
              <a:t>Testes de usabilidade com perfusionistas.</a:t>
            </a:r>
          </a:p>
          <a:p xmlns:a="http://schemas.openxmlformats.org/drawingml/2006/main">
            <a:pPr>
              <a:defRPr sz="2175" b="0">
                <a:solidFill>
                  <a:srgbClr val="18333D"/>
                </a:solidFill>
              </a:defRPr>
            </a:pPr>
            <a:r>
              <a:rPr sz="2175" b="0">
                <a:solidFill>
                  <a:srgbClr val="18333D"/>
                </a:solidFill>
              </a:rPr>
              <a:t>Validação prospectiva e governança de dados.</a:t>
            </a:r>
          </a:p>
        </p:txBody>
      </p:sp>
    </p:spTree>
    <p:extLst>
      <p:ext uri="{BB962C8B-B14F-4D97-AF65-F5344CB8AC3E}">
        <p14:creationId xmlns:p14="http://schemas.microsoft.com/office/powerpoint/2010/main" val="28577514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102B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BCB0BB-4B0F-4195-B887-AF0C44BE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10744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</a:defRPr>
            </a:defPPr>
            <a:lvl1pPr>
              <a:defRPr sz="3450" b="1">
                <a:solidFill>
                  <a:srgbClr val="FFFFFF"/>
                </a:solidFill>
              </a:defRPr>
            </a:lvl1pPr>
            <a:lvl2pPr>
              <a:defRPr sz="3450" b="1">
                <a:solidFill>
                  <a:srgbClr val="FFFFFF"/>
                </a:solidFill>
              </a:defRPr>
            </a:lvl2pPr>
            <a:lvl3pPr>
              <a:defRPr sz="3450" b="1">
                <a:solidFill>
                  <a:srgbClr val="FFFFFF"/>
                </a:solidFill>
              </a:defRPr>
            </a:lvl3pPr>
            <a:lvl4pPr>
              <a:defRPr sz="3450" b="1">
                <a:solidFill>
                  <a:srgbClr val="FFFFFF"/>
                </a:solidFill>
              </a:defRPr>
            </a:lvl4pPr>
            <a:lvl5pPr>
              <a:defRPr sz="3450" b="1">
                <a:solidFill>
                  <a:srgbClr val="FFFFFF"/>
                </a:solidFill>
              </a:defRPr>
            </a:lvl5pPr>
            <a:lvl6pPr>
              <a:defRPr sz="3450" b="1">
                <a:solidFill>
                  <a:srgbClr val="FFFFFF"/>
                </a:solidFill>
              </a:defRPr>
            </a:lvl6pPr>
            <a:lvl7pPr>
              <a:defRPr sz="3450" b="1">
                <a:solidFill>
                  <a:srgbClr val="FFFFFF"/>
                </a:solidFill>
              </a:defRPr>
            </a:lvl7pPr>
            <a:lvl8pPr>
              <a:defRPr sz="3450" b="1">
                <a:solidFill>
                  <a:srgbClr val="FFFFFF"/>
                </a:solidFill>
              </a:defRPr>
            </a:lvl8pPr>
            <a:lvl9pPr>
              <a:defRPr sz="34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Contribuição do PerfuseLab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A9FE8E-D853-4AEB-9D8F-0357AAB7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BCD0D5"/>
                </a:solidFill>
              </a:defRPr>
            </a:defPPr>
            <a:lvl1pPr>
              <a:defRPr sz="1275" b="0">
                <a:solidFill>
                  <a:srgbClr val="BCD0D5"/>
                </a:solidFill>
              </a:defRPr>
            </a:lvl1pPr>
            <a:lvl2pPr>
              <a:defRPr sz="1275" b="0">
                <a:solidFill>
                  <a:srgbClr val="BCD0D5"/>
                </a:solidFill>
              </a:defRPr>
            </a:lvl2pPr>
            <a:lvl3pPr>
              <a:defRPr sz="1275" b="0">
                <a:solidFill>
                  <a:srgbClr val="BCD0D5"/>
                </a:solidFill>
              </a:defRPr>
            </a:lvl3pPr>
            <a:lvl4pPr>
              <a:defRPr sz="1275" b="0">
                <a:solidFill>
                  <a:srgbClr val="BCD0D5"/>
                </a:solidFill>
              </a:defRPr>
            </a:lvl4pPr>
            <a:lvl5pPr>
              <a:defRPr sz="1275" b="0">
                <a:solidFill>
                  <a:srgbClr val="BCD0D5"/>
                </a:solidFill>
              </a:defRPr>
            </a:lvl5pPr>
            <a:lvl6pPr>
              <a:defRPr sz="1275" b="0">
                <a:solidFill>
                  <a:srgbClr val="BCD0D5"/>
                </a:solidFill>
              </a:defRPr>
            </a:lvl6pPr>
            <a:lvl7pPr>
              <a:defRPr sz="1275" b="0">
                <a:solidFill>
                  <a:srgbClr val="BCD0D5"/>
                </a:solidFill>
              </a:defRPr>
            </a:lvl7pPr>
            <a:lvl8pPr>
              <a:defRPr sz="1275" b="0">
                <a:solidFill>
                  <a:srgbClr val="BCD0D5"/>
                </a:solidFill>
              </a:defRPr>
            </a:lvl8pPr>
            <a:lvl9pPr>
              <a:defRPr sz="1275" b="0">
                <a:solidFill>
                  <a:srgbClr val="BCD0D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CD0D5"/>
                </a:solidFill>
              </a:defRPr>
            </a:pPr>
            <a:r>
              <a:rPr sz="1275" b="0">
                <a:solidFill>
                  <a:srgbClr val="BCD0D5"/>
                </a:solidFill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971D8C-EC52-4387-90D0-1707DD98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107442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B6EDE0"/>
                </a:solidFill>
              </a:defRPr>
            </a:defPPr>
            <a:lvl1pPr>
              <a:defRPr sz="4500" b="1">
                <a:solidFill>
                  <a:srgbClr val="B6EDE0"/>
                </a:solidFill>
              </a:defRPr>
            </a:lvl1pPr>
            <a:lvl2pPr>
              <a:defRPr sz="4500" b="1">
                <a:solidFill>
                  <a:srgbClr val="B6EDE0"/>
                </a:solidFill>
              </a:defRPr>
            </a:lvl2pPr>
            <a:lvl3pPr>
              <a:defRPr sz="4500" b="1">
                <a:solidFill>
                  <a:srgbClr val="B6EDE0"/>
                </a:solidFill>
              </a:defRPr>
            </a:lvl3pPr>
            <a:lvl4pPr>
              <a:defRPr sz="4500" b="1">
                <a:solidFill>
                  <a:srgbClr val="B6EDE0"/>
                </a:solidFill>
              </a:defRPr>
            </a:lvl4pPr>
            <a:lvl5pPr>
              <a:defRPr sz="4500" b="1">
                <a:solidFill>
                  <a:srgbClr val="B6EDE0"/>
                </a:solidFill>
              </a:defRPr>
            </a:lvl5pPr>
            <a:lvl6pPr>
              <a:defRPr sz="4500" b="1">
                <a:solidFill>
                  <a:srgbClr val="B6EDE0"/>
                </a:solidFill>
              </a:defRPr>
            </a:lvl6pPr>
            <a:lvl7pPr>
              <a:defRPr sz="4500" b="1">
                <a:solidFill>
                  <a:srgbClr val="B6EDE0"/>
                </a:solidFill>
              </a:defRPr>
            </a:lvl7pPr>
            <a:lvl8pPr>
              <a:defRPr sz="4500" b="1">
                <a:solidFill>
                  <a:srgbClr val="B6EDE0"/>
                </a:solidFill>
              </a:defRPr>
            </a:lvl8pPr>
            <a:lvl9pPr>
              <a:defRPr sz="4500" b="1">
                <a:solidFill>
                  <a:srgbClr val="B6EDE0"/>
                </a:solidFill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B6EDE0"/>
                </a:solidFill>
              </a:defRPr>
            </a:pPr>
            <a:r>
              <a:rPr sz="4500" b="1">
                <a:solidFill>
                  <a:srgbClr val="B6EDE0"/>
                </a:solidFill>
              </a:rPr>
              <a:t>Um ambiente para organizar</a:t>
            </a:r>
          </a:p>
          <a:p xmlns:a="http://schemas.openxmlformats.org/drawingml/2006/main">
            <a:pPr>
              <a:defRPr sz="4500" b="1">
                <a:solidFill>
                  <a:srgbClr val="B6EDE0"/>
                </a:solidFill>
              </a:defRPr>
            </a:pPr>
            <a:r>
              <a:rPr sz="4500" b="1">
                <a:solidFill>
                  <a:srgbClr val="B6EDE0"/>
                </a:solidFill>
              </a:rPr>
              <a:t>e compreender a perfusão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C44369-4BDA-44AF-94CE-C4212BAF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10048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FFFFF"/>
                </a:solidFill>
              </a:defRPr>
            </a:defPPr>
            <a:lvl1pPr>
              <a:defRPr sz="2250" b="0">
                <a:solidFill>
                  <a:srgbClr val="FFFFFF"/>
                </a:solidFill>
              </a:defRPr>
            </a:lvl1pPr>
            <a:lvl2pPr>
              <a:defRPr sz="2250" b="0">
                <a:solidFill>
                  <a:srgbClr val="FFFFFF"/>
                </a:solidFill>
              </a:defRPr>
            </a:lvl2pPr>
            <a:lvl3pPr>
              <a:defRPr sz="2250" b="0">
                <a:solidFill>
                  <a:srgbClr val="FFFFFF"/>
                </a:solidFill>
              </a:defRPr>
            </a:lvl3pPr>
            <a:lvl4pPr>
              <a:defRPr sz="2250" b="0">
                <a:solidFill>
                  <a:srgbClr val="FFFFFF"/>
                </a:solidFill>
              </a:defRPr>
            </a:lvl4pPr>
            <a:lvl5pPr>
              <a:defRPr sz="2250" b="0">
                <a:solidFill>
                  <a:srgbClr val="FFFFFF"/>
                </a:solidFill>
              </a:defRPr>
            </a:lvl5pPr>
            <a:lvl6pPr>
              <a:defRPr sz="2250" b="0">
                <a:solidFill>
                  <a:srgbClr val="FFFFFF"/>
                </a:solidFill>
              </a:defRPr>
            </a:lvl6pPr>
            <a:lvl7pPr>
              <a:defRPr sz="2250" b="0">
                <a:solidFill>
                  <a:srgbClr val="FFFFFF"/>
                </a:solidFill>
              </a:defRPr>
            </a:lvl7pPr>
            <a:lvl8pPr>
              <a:defRPr sz="2250" b="0">
                <a:solidFill>
                  <a:srgbClr val="FFFFFF"/>
                </a:solidFill>
              </a:defRPr>
            </a:lvl8pPr>
            <a:lvl9pPr>
              <a:defRPr sz="22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</a:defRPr>
            </a:pPr>
            <a:r>
              <a:rPr sz="2250" b="0">
                <a:solidFill>
                  <a:srgbClr val="FFFFFF"/>
                </a:solidFill>
              </a:rPr>
              <a:t>O projeto conecta planejamento, registros e equações explícitas. O próximo avanço depende de avaliação clínica e uso acompanhado por profissionais.</a:t>
            </a:r>
          </a:p>
        </p:txBody>
      </p:sp>
    </p:spTree>
    <p:extLst>
      <p:ext uri="{BB962C8B-B14F-4D97-AF65-F5344CB8AC3E}">
        <p14:creationId xmlns:p14="http://schemas.microsoft.com/office/powerpoint/2010/main" val="172036455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4259B2-AFB2-462B-95F5-E09CAE00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10744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33D"/>
                </a:solidFill>
              </a:defRPr>
            </a:defPPr>
            <a:lvl1pPr>
              <a:defRPr sz="3450" b="1">
                <a:solidFill>
                  <a:srgbClr val="18333D"/>
                </a:solidFill>
              </a:defRPr>
            </a:lvl1pPr>
            <a:lvl2pPr>
              <a:defRPr sz="3450" b="1">
                <a:solidFill>
                  <a:srgbClr val="18333D"/>
                </a:solidFill>
              </a:defRPr>
            </a:lvl2pPr>
            <a:lvl3pPr>
              <a:defRPr sz="3450" b="1">
                <a:solidFill>
                  <a:srgbClr val="18333D"/>
                </a:solidFill>
              </a:defRPr>
            </a:lvl3pPr>
            <a:lvl4pPr>
              <a:defRPr sz="3450" b="1">
                <a:solidFill>
                  <a:srgbClr val="18333D"/>
                </a:solidFill>
              </a:defRPr>
            </a:lvl4pPr>
            <a:lvl5pPr>
              <a:defRPr sz="3450" b="1">
                <a:solidFill>
                  <a:srgbClr val="18333D"/>
                </a:solidFill>
              </a:defRPr>
            </a:lvl5pPr>
            <a:lvl6pPr>
              <a:defRPr sz="3450" b="1">
                <a:solidFill>
                  <a:srgbClr val="18333D"/>
                </a:solidFill>
              </a:defRPr>
            </a:lvl6pPr>
            <a:lvl7pPr>
              <a:defRPr sz="3450" b="1">
                <a:solidFill>
                  <a:srgbClr val="18333D"/>
                </a:solidFill>
              </a:defRPr>
            </a:lvl7pPr>
            <a:lvl8pPr>
              <a:defRPr sz="3450" b="1">
                <a:solidFill>
                  <a:srgbClr val="18333D"/>
                </a:solidFill>
              </a:defRPr>
            </a:lvl8pPr>
            <a:lvl9pPr>
              <a:defRPr sz="3450" b="1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33D"/>
                </a:solidFill>
              </a:defRPr>
            </a:pPr>
            <a:r>
              <a:rPr sz="3450" b="1">
                <a:solidFill>
                  <a:srgbClr val="18333D"/>
                </a:solidFill>
              </a:rPr>
              <a:t>Referências essenciais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6A4949-532E-4494-9C64-6F7093C8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E75"/>
                </a:solidFill>
              </a:defRPr>
            </a:defPPr>
            <a:lvl1pPr>
              <a:defRPr sz="1275" b="0">
                <a:solidFill>
                  <a:srgbClr val="536E75"/>
                </a:solidFill>
              </a:defRPr>
            </a:lvl1pPr>
            <a:lvl2pPr>
              <a:defRPr sz="1275" b="0">
                <a:solidFill>
                  <a:srgbClr val="536E75"/>
                </a:solidFill>
              </a:defRPr>
            </a:lvl2pPr>
            <a:lvl3pPr>
              <a:defRPr sz="1275" b="0">
                <a:solidFill>
                  <a:srgbClr val="536E75"/>
                </a:solidFill>
              </a:defRPr>
            </a:lvl3pPr>
            <a:lvl4pPr>
              <a:defRPr sz="1275" b="0">
                <a:solidFill>
                  <a:srgbClr val="536E75"/>
                </a:solidFill>
              </a:defRPr>
            </a:lvl4pPr>
            <a:lvl5pPr>
              <a:defRPr sz="1275" b="0">
                <a:solidFill>
                  <a:srgbClr val="536E75"/>
                </a:solidFill>
              </a:defRPr>
            </a:lvl5pPr>
            <a:lvl6pPr>
              <a:defRPr sz="1275" b="0">
                <a:solidFill>
                  <a:srgbClr val="536E75"/>
                </a:solidFill>
              </a:defRPr>
            </a:lvl6pPr>
            <a:lvl7pPr>
              <a:defRPr sz="1275" b="0">
                <a:solidFill>
                  <a:srgbClr val="536E75"/>
                </a:solidFill>
              </a:defRPr>
            </a:lvl7pPr>
            <a:lvl8pPr>
              <a:defRPr sz="1275" b="0">
                <a:solidFill>
                  <a:srgbClr val="536E75"/>
                </a:solidFill>
              </a:defRPr>
            </a:lvl8pPr>
            <a:lvl9pPr>
              <a:defRPr sz="1275" b="0">
                <a:solidFill>
                  <a:srgbClr val="536E7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E75"/>
                </a:solidFill>
              </a:defRPr>
            </a:pPr>
            <a:r>
              <a:rPr sz="1275" b="0">
                <a:solidFill>
                  <a:srgbClr val="536E75"/>
                </a:solidFill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02A275-AACE-4954-90ED-689B7F59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333D"/>
                </a:solidFill>
              </a:defRPr>
            </a:defPPr>
            <a:lvl1pPr>
              <a:defRPr sz="1800" b="0">
                <a:solidFill>
                  <a:srgbClr val="18333D"/>
                </a:solidFill>
              </a:defRPr>
            </a:lvl1pPr>
            <a:lvl2pPr>
              <a:defRPr sz="1800" b="0">
                <a:solidFill>
                  <a:srgbClr val="18333D"/>
                </a:solidFill>
              </a:defRPr>
            </a:lvl2pPr>
            <a:lvl3pPr>
              <a:defRPr sz="1800" b="0">
                <a:solidFill>
                  <a:srgbClr val="18333D"/>
                </a:solidFill>
              </a:defRPr>
            </a:lvl3pPr>
            <a:lvl4pPr>
              <a:defRPr sz="1800" b="0">
                <a:solidFill>
                  <a:srgbClr val="18333D"/>
                </a:solidFill>
              </a:defRPr>
            </a:lvl4pPr>
            <a:lvl5pPr>
              <a:defRPr sz="1800" b="0">
                <a:solidFill>
                  <a:srgbClr val="18333D"/>
                </a:solidFill>
              </a:defRPr>
            </a:lvl5pPr>
            <a:lvl6pPr>
              <a:defRPr sz="1800" b="0">
                <a:solidFill>
                  <a:srgbClr val="18333D"/>
                </a:solidFill>
              </a:defRPr>
            </a:lvl6pPr>
            <a:lvl7pPr>
              <a:defRPr sz="1800" b="0">
                <a:solidFill>
                  <a:srgbClr val="18333D"/>
                </a:solidFill>
              </a:defRPr>
            </a:lvl7pPr>
            <a:lvl8pPr>
              <a:defRPr sz="1800" b="0">
                <a:solidFill>
                  <a:srgbClr val="18333D"/>
                </a:solidFill>
              </a:defRPr>
            </a:lvl8pPr>
            <a:lvl9pPr>
              <a:defRPr sz="1800" b="0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33D"/>
                </a:solidFill>
              </a:defRPr>
            </a:pPr>
            <a:r>
              <a:rPr sz="1800" b="0">
                <a:solidFill>
                  <a:srgbClr val="18333D"/>
                </a:solidFill>
              </a:rPr>
              <a:t>Mosteller RD. N Engl J Med. 1987;317:1098.</a:t>
            </a:r>
          </a:p>
          <a:p xmlns:a="http://schemas.openxmlformats.org/drawingml/2006/main">
            <a:pPr>
              <a:defRPr sz="1800" b="0">
                <a:solidFill>
                  <a:srgbClr val="18333D"/>
                </a:solidFill>
              </a:defRPr>
            </a:pPr>
            <a:r>
              <a:rPr sz="1800" b="0">
                <a:solidFill>
                  <a:srgbClr val="18333D"/>
                </a:solidFill>
              </a:rPr>
              <a:t>DOI: 10.1056/NEJM198710223171717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3F5258-407A-45BF-A471-02708F81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333D"/>
                </a:solidFill>
              </a:defRPr>
            </a:defPPr>
            <a:lvl1pPr>
              <a:defRPr sz="1800" b="0">
                <a:solidFill>
                  <a:srgbClr val="18333D"/>
                </a:solidFill>
              </a:defRPr>
            </a:lvl1pPr>
            <a:lvl2pPr>
              <a:defRPr sz="1800" b="0">
                <a:solidFill>
                  <a:srgbClr val="18333D"/>
                </a:solidFill>
              </a:defRPr>
            </a:lvl2pPr>
            <a:lvl3pPr>
              <a:defRPr sz="1800" b="0">
                <a:solidFill>
                  <a:srgbClr val="18333D"/>
                </a:solidFill>
              </a:defRPr>
            </a:lvl3pPr>
            <a:lvl4pPr>
              <a:defRPr sz="1800" b="0">
                <a:solidFill>
                  <a:srgbClr val="18333D"/>
                </a:solidFill>
              </a:defRPr>
            </a:lvl4pPr>
            <a:lvl5pPr>
              <a:defRPr sz="1800" b="0">
                <a:solidFill>
                  <a:srgbClr val="18333D"/>
                </a:solidFill>
              </a:defRPr>
            </a:lvl5pPr>
            <a:lvl6pPr>
              <a:defRPr sz="1800" b="0">
                <a:solidFill>
                  <a:srgbClr val="18333D"/>
                </a:solidFill>
              </a:defRPr>
            </a:lvl6pPr>
            <a:lvl7pPr>
              <a:defRPr sz="1800" b="0">
                <a:solidFill>
                  <a:srgbClr val="18333D"/>
                </a:solidFill>
              </a:defRPr>
            </a:lvl7pPr>
            <a:lvl8pPr>
              <a:defRPr sz="1800" b="0">
                <a:solidFill>
                  <a:srgbClr val="18333D"/>
                </a:solidFill>
              </a:defRPr>
            </a:lvl8pPr>
            <a:lvl9pPr>
              <a:defRPr sz="1800" b="0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33D"/>
                </a:solidFill>
              </a:defRPr>
            </a:pPr>
            <a:r>
              <a:rPr sz="1800" b="0">
                <a:solidFill>
                  <a:srgbClr val="18333D"/>
                </a:solidFill>
              </a:rPr>
              <a:t>Ranucci M et al. J Thorac Cardiovasc Surg. 2018;156:1918–1927.e2.</a:t>
            </a:r>
          </a:p>
          <a:p xmlns:a="http://schemas.openxmlformats.org/drawingml/2006/main">
            <a:pPr>
              <a:defRPr sz="1800" b="0">
                <a:solidFill>
                  <a:srgbClr val="18333D"/>
                </a:solidFill>
              </a:defRPr>
            </a:pPr>
            <a:r>
              <a:rPr sz="1800" b="0">
                <a:solidFill>
                  <a:srgbClr val="18333D"/>
                </a:solidFill>
              </a:rPr>
              <a:t>DOI: 10.1016/j.jtcvs.2018.04.045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88797B-756F-4C17-B4B9-FEE9AA99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333D"/>
                </a:solidFill>
              </a:defRPr>
            </a:defPPr>
            <a:lvl1pPr>
              <a:defRPr sz="1800" b="0">
                <a:solidFill>
                  <a:srgbClr val="18333D"/>
                </a:solidFill>
              </a:defRPr>
            </a:lvl1pPr>
            <a:lvl2pPr>
              <a:defRPr sz="1800" b="0">
                <a:solidFill>
                  <a:srgbClr val="18333D"/>
                </a:solidFill>
              </a:defRPr>
            </a:lvl2pPr>
            <a:lvl3pPr>
              <a:defRPr sz="1800" b="0">
                <a:solidFill>
                  <a:srgbClr val="18333D"/>
                </a:solidFill>
              </a:defRPr>
            </a:lvl3pPr>
            <a:lvl4pPr>
              <a:defRPr sz="1800" b="0">
                <a:solidFill>
                  <a:srgbClr val="18333D"/>
                </a:solidFill>
              </a:defRPr>
            </a:lvl4pPr>
            <a:lvl5pPr>
              <a:defRPr sz="1800" b="0">
                <a:solidFill>
                  <a:srgbClr val="18333D"/>
                </a:solidFill>
              </a:defRPr>
            </a:lvl5pPr>
            <a:lvl6pPr>
              <a:defRPr sz="1800" b="0">
                <a:solidFill>
                  <a:srgbClr val="18333D"/>
                </a:solidFill>
              </a:defRPr>
            </a:lvl6pPr>
            <a:lvl7pPr>
              <a:defRPr sz="1800" b="0">
                <a:solidFill>
                  <a:srgbClr val="18333D"/>
                </a:solidFill>
              </a:defRPr>
            </a:lvl7pPr>
            <a:lvl8pPr>
              <a:defRPr sz="1800" b="0">
                <a:solidFill>
                  <a:srgbClr val="18333D"/>
                </a:solidFill>
              </a:defRPr>
            </a:lvl8pPr>
            <a:lvl9pPr>
              <a:defRPr sz="1800" b="0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33D"/>
                </a:solidFill>
              </a:defRPr>
            </a:pPr>
            <a:r>
              <a:rPr sz="1800" b="0">
                <a:solidFill>
                  <a:srgbClr val="18333D"/>
                </a:solidFill>
              </a:rPr>
              <a:t>Wahba A et al. Diretriz EACTS/EACTAIC/EBCP 2024. Publicada em 2025.</a:t>
            </a:r>
          </a:p>
          <a:p xmlns:a="http://schemas.openxmlformats.org/drawingml/2006/main">
            <a:pPr>
              <a:defRPr sz="1800" b="0">
                <a:solidFill>
                  <a:srgbClr val="18333D"/>
                </a:solidFill>
              </a:defRPr>
            </a:pPr>
            <a:r>
              <a:rPr sz="1800" b="0">
                <a:solidFill>
                  <a:srgbClr val="18333D"/>
                </a:solidFill>
              </a:rPr>
              <a:t>DOI: 10.1093/ejcts/ezae354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F33D12-F986-4F29-8387-CBD585E8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333D"/>
                </a:solidFill>
              </a:defRPr>
            </a:defPPr>
            <a:lvl1pPr>
              <a:defRPr sz="1800" b="0">
                <a:solidFill>
                  <a:srgbClr val="18333D"/>
                </a:solidFill>
              </a:defRPr>
            </a:lvl1pPr>
            <a:lvl2pPr>
              <a:defRPr sz="1800" b="0">
                <a:solidFill>
                  <a:srgbClr val="18333D"/>
                </a:solidFill>
              </a:defRPr>
            </a:lvl2pPr>
            <a:lvl3pPr>
              <a:defRPr sz="1800" b="0">
                <a:solidFill>
                  <a:srgbClr val="18333D"/>
                </a:solidFill>
              </a:defRPr>
            </a:lvl3pPr>
            <a:lvl4pPr>
              <a:defRPr sz="1800" b="0">
                <a:solidFill>
                  <a:srgbClr val="18333D"/>
                </a:solidFill>
              </a:defRPr>
            </a:lvl4pPr>
            <a:lvl5pPr>
              <a:defRPr sz="1800" b="0">
                <a:solidFill>
                  <a:srgbClr val="18333D"/>
                </a:solidFill>
              </a:defRPr>
            </a:lvl5pPr>
            <a:lvl6pPr>
              <a:defRPr sz="1800" b="0">
                <a:solidFill>
                  <a:srgbClr val="18333D"/>
                </a:solidFill>
              </a:defRPr>
            </a:lvl6pPr>
            <a:lvl7pPr>
              <a:defRPr sz="1800" b="0">
                <a:solidFill>
                  <a:srgbClr val="18333D"/>
                </a:solidFill>
              </a:defRPr>
            </a:lvl7pPr>
            <a:lvl8pPr>
              <a:defRPr sz="1800" b="0">
                <a:solidFill>
                  <a:srgbClr val="18333D"/>
                </a:solidFill>
              </a:defRPr>
            </a:lvl8pPr>
            <a:lvl9pPr>
              <a:defRPr sz="1800" b="0">
                <a:solidFill>
                  <a:srgbClr val="18333D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33D"/>
                </a:solidFill>
              </a:defRPr>
            </a:pPr>
            <a:r>
              <a:rPr sz="1800" b="0">
                <a:solidFill>
                  <a:srgbClr val="18333D"/>
                </a:solidFill>
              </a:rPr>
              <a:t>Engelman R et al. Ann Thorac Surg. 2015;100:748–757.</a:t>
            </a:r>
          </a:p>
          <a:p xmlns:a="http://schemas.openxmlformats.org/drawingml/2006/main">
            <a:pPr>
              <a:defRPr sz="1800" b="0">
                <a:solidFill>
                  <a:srgbClr val="18333D"/>
                </a:solidFill>
              </a:defRPr>
            </a:pPr>
            <a:r>
              <a:rPr sz="1800" b="0">
                <a:solidFill>
                  <a:srgbClr val="18333D"/>
                </a:solidFill>
              </a:rPr>
              <a:t>DOI: 10.1016/j.athoracsur.2015.03.126</a:t>
            </a:r>
          </a:p>
        </p:txBody>
      </p:sp>
    </p:spTree>
    <p:extLst>
      <p:ext uri="{BB962C8B-B14F-4D97-AF65-F5344CB8AC3E}">
        <p14:creationId xmlns:p14="http://schemas.microsoft.com/office/powerpoint/2010/main" val="1374960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2026-10-25T21:41:30.8180000Z</dcterms:created>
  <dcterms:modified xsi:type="dcterms:W3CDTF">2026-10-25T21:41:30.8180000Z</dcterms:modified>
</coreProperties>
</file>